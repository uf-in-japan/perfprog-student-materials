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35A3458-3606-4FB1-A2B6-C41061E2971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sudo pip3 install cython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7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467579-BCD9-46C1-AB23-43DF572190E3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43EB70-DBFA-413C-A003-9E46C4B231DF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F29757-C4D1-4F87-962A-164B43A037C7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A97BC5-A71A-433C-89BE-CDDB57F1AAC5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54C3FA-9AF3-44B8-85C0-2CFEBBB1650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12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2943FE-EC7D-4270-9DBD-C3BB85833385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13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27234E-8892-45D7-8FFA-377E912DAA35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14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D0A695-6C7D-4ED2-A8F5-360429E0072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280" cy="25711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4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5"/>
          </p:nvPr>
        </p:nvSpPr>
        <p:spPr>
          <a:xfrm>
            <a:off x="5180040" y="6513480"/>
            <a:ext cx="3961800" cy="342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AE52D0-1ADA-4589-9DFE-B5A7B73EF6B9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0920" cy="25707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120" cy="308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sudo pip3 install scikit-build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16"/>
          </p:nvPr>
        </p:nvSpPr>
        <p:spPr>
          <a:xfrm>
            <a:off x="5180040" y="6513480"/>
            <a:ext cx="3961440" cy="342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ACF041-9B53-477D-9056-52E17A3FA810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89B8723-1745-4B4B-BFCF-3138FD26D51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94C171-584C-4D9F-920C-EA12D0BD9450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5EC5C7-4E38-49BB-9772-36B35EA026A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40400" cy="5141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7" name="Picture 3" descr=""/>
          <p:cNvPicPr/>
          <p:nvPr/>
        </p:nvPicPr>
        <p:blipFill>
          <a:blip r:embed="rId3"/>
          <a:stretch/>
        </p:blipFill>
        <p:spPr>
          <a:xfrm>
            <a:off x="0" y="720"/>
            <a:ext cx="9140400" cy="5141160"/>
          </a:xfrm>
          <a:prstGeom prst="rect">
            <a:avLst/>
          </a:prstGeom>
          <a:ln w="0">
            <a:noFill/>
          </a:ln>
        </p:spPr>
      </p:pic>
      <p:sp>
        <p:nvSpPr>
          <p:cNvPr id="8" name="TextBox 4"/>
          <p:cNvSpPr/>
          <p:nvPr/>
        </p:nvSpPr>
        <p:spPr>
          <a:xfrm>
            <a:off x="786600" y="1042560"/>
            <a:ext cx="21697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mbria"/>
                <a:ea typeface="MS PGothic"/>
              </a:rPr>
              <a:t>DEPARTMENT OR UNIT NAME. DELETE FROM MASTER SLIDE IF N/A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66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AE41E6-5E96-4BE9-8403-6115F74E5CE6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sldNum" idx="2"/>
          </p:nvPr>
        </p:nvSpPr>
        <p:spPr>
          <a:xfrm>
            <a:off x="7049160" y="4767120"/>
            <a:ext cx="20566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D4D180-C06B-4C0E-9FE8-561F8D1AFCD1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sldNum" idx="3"/>
          </p:nvPr>
        </p:nvSpPr>
        <p:spPr>
          <a:xfrm>
            <a:off x="7049160" y="4767120"/>
            <a:ext cx="2056680" cy="27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2BDF2E8-5F96-4B31-B3FF-3225F919B3AA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280" cy="5138280"/>
          </a:xfrm>
          <a:prstGeom prst="rect">
            <a:avLst/>
          </a:prstGeom>
          <a:ln w="0">
            <a:noFill/>
          </a:ln>
        </p:spPr>
      </p:pic>
      <p:sp>
        <p:nvSpPr>
          <p:cNvPr id="20" name="Rectangle 2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1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40400" cy="5141160"/>
          </a:xfrm>
          <a:prstGeom prst="rect">
            <a:avLst/>
          </a:prstGeom>
          <a:ln w="0">
            <a:noFill/>
          </a:ln>
        </p:spPr>
      </p:pic>
      <p:pic>
        <p:nvPicPr>
          <p:cNvPr id="22" name="Picture 4" descr=""/>
          <p:cNvPicPr/>
          <p:nvPr/>
        </p:nvPicPr>
        <p:blipFill>
          <a:blip r:embed="rId4"/>
          <a:stretch/>
        </p:blipFill>
        <p:spPr>
          <a:xfrm>
            <a:off x="-2880" y="1440"/>
            <a:ext cx="9140400" cy="51411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71200" y="1603080"/>
            <a:ext cx="8272080" cy="807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chemeClr val="lt1"/>
                </a:solidFill>
                <a:latin typeface="Arial"/>
                <a:ea typeface="MS PGothic"/>
              </a:rPr>
              <a:t>Language Variants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71200" y="2366280"/>
            <a:ext cx="8070840" cy="65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Compiling Python to C/C++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/>
          </p:nvPr>
        </p:nvSpPr>
        <p:spPr>
          <a:xfrm>
            <a:off x="421560" y="1457640"/>
            <a:ext cx="8353800" cy="3205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Cython allows us to write Python-style code and compile to C/ C++.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May use static C/C++ types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Can directly call C functions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Cython functions can be make available to C/C++ code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199"/>
              </a:spcBef>
              <a:buClr>
                <a:srgbClr val="edb286"/>
              </a:buClr>
              <a:buSzPct val="75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Integrate (with some work) with existing Python tools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Cython is often used when building Python performance packages.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3320" cy="836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Cython – What is it?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A145867-FBA9-4C7C-BF5D-8A0A7E9C0DA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Arrow: Bent 18"/>
          <p:cNvSpPr/>
          <p:nvPr/>
        </p:nvSpPr>
        <p:spPr>
          <a:xfrm rot="5400000">
            <a:off x="4597560" y="402480"/>
            <a:ext cx="1910880" cy="4605840"/>
          </a:xfrm>
          <a:prstGeom prst="bentArrow">
            <a:avLst>
              <a:gd name="adj1" fmla="val 25000"/>
              <a:gd name="adj2" fmla="val 3687"/>
              <a:gd name="adj3" fmla="val 22331"/>
              <a:gd name="adj4" fmla="val 19731"/>
            </a:avLst>
          </a:prstGeom>
          <a:gradFill rotWithShape="0">
            <a:gsLst>
              <a:gs pos="0">
                <a:srgbClr val="b45106"/>
              </a:gs>
              <a:gs pos="100000">
                <a:srgbClr val="ffa986"/>
              </a:gs>
            </a:gsLst>
            <a:lin ang="10800000"/>
          </a:gradFill>
          <a:ln>
            <a:solidFill>
              <a:srgbClr val="e07b2f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ckwell"/>
              <a:ea typeface="MS PGothic"/>
            </a:endParaRPr>
          </a:p>
        </p:txBody>
      </p:sp>
      <p:sp>
        <p:nvSpPr>
          <p:cNvPr id="34" name="Arrow: Bent 17"/>
          <p:cNvSpPr/>
          <p:nvPr/>
        </p:nvSpPr>
        <p:spPr>
          <a:xfrm rot="5400000">
            <a:off x="4033440" y="1207080"/>
            <a:ext cx="491040" cy="2069640"/>
          </a:xfrm>
          <a:prstGeom prst="bentArrow">
            <a:avLst>
              <a:gd name="adj1" fmla="val 25000"/>
              <a:gd name="adj2" fmla="val 13468"/>
              <a:gd name="adj3" fmla="val 25000"/>
              <a:gd name="adj4" fmla="val 43750"/>
            </a:avLst>
          </a:prstGeom>
          <a:gradFill rotWithShape="0">
            <a:gsLst>
              <a:gs pos="0">
                <a:srgbClr val="b45106"/>
              </a:gs>
              <a:gs pos="100000">
                <a:srgbClr val="ffa986"/>
              </a:gs>
            </a:gsLst>
            <a:lin ang="10800000"/>
          </a:gradFill>
          <a:ln>
            <a:solidFill>
              <a:srgbClr val="e07b2f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Rockwell"/>
              <a:ea typeface="MS PGothic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/>
          </p:nvPr>
        </p:nvSpPr>
        <p:spPr>
          <a:xfrm>
            <a:off x="692280" y="1061280"/>
            <a:ext cx="7733520" cy="491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Since Cython is compiled, there are additional step(s) involved.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title"/>
          </p:nvPr>
        </p:nvSpPr>
        <p:spPr>
          <a:xfrm>
            <a:off x="289800" y="494280"/>
            <a:ext cx="8563320" cy="568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Cython Hello World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1058040" y="1572120"/>
            <a:ext cx="2184480" cy="85284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def main():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print("Snakes!!!")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if __name__ == "__main__":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main()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Box 5"/>
          <p:cNvSpPr/>
          <p:nvPr/>
        </p:nvSpPr>
        <p:spPr>
          <a:xfrm rot="16200000">
            <a:off x="361080" y="1740960"/>
            <a:ext cx="111240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hello.pyx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Box 6"/>
          <p:cNvSpPr/>
          <p:nvPr/>
        </p:nvSpPr>
        <p:spPr>
          <a:xfrm>
            <a:off x="792720" y="2498040"/>
            <a:ext cx="2455920" cy="2422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cython hello.pyx -3 --embed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Box 7"/>
          <p:cNvSpPr/>
          <p:nvPr/>
        </p:nvSpPr>
        <p:spPr>
          <a:xfrm>
            <a:off x="1063800" y="2954520"/>
            <a:ext cx="2184480" cy="7002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/* Generated by Cython */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…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HOT GARBAGE HERE 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…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A LOT OF IT 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Box 8"/>
          <p:cNvSpPr/>
          <p:nvPr/>
        </p:nvSpPr>
        <p:spPr>
          <a:xfrm rot="16200000">
            <a:off x="514440" y="3117600"/>
            <a:ext cx="81756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hello.c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Box 10"/>
          <p:cNvSpPr/>
          <p:nvPr/>
        </p:nvSpPr>
        <p:spPr>
          <a:xfrm>
            <a:off x="3520440" y="2498040"/>
            <a:ext cx="3243600" cy="22266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cythonize -i hello.pyx -3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python3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Python 3.8.2 (default, Mar 13 2020, 10:14:16)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[GCC 9.3.0] on linux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Type "help", "copyright", "credits"…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&gt;&gt;&gt; import hello</a:t>
            </a:r>
            <a:br>
              <a:rPr sz="1000"/>
            </a:b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hello.main()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Snakes!!!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&gt;&gt;&gt;exit()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000" spc="-1" strike="noStrike">
                <a:solidFill>
                  <a:schemeClr val="lt1"/>
                </a:solidFill>
                <a:latin typeface="Consolas"/>
                <a:ea typeface="MS PGothic"/>
              </a:rPr>
              <a:t>_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Box 11"/>
          <p:cNvSpPr/>
          <p:nvPr/>
        </p:nvSpPr>
        <p:spPr>
          <a:xfrm>
            <a:off x="781200" y="3729240"/>
            <a:ext cx="2467440" cy="10054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gcc -I /usr/include/python3.8 \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&gt; hello.c -lpython3.8 -o hello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./hello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Snakes!!!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Arrow: Down 15"/>
          <p:cNvSpPr/>
          <p:nvPr/>
        </p:nvSpPr>
        <p:spPr>
          <a:xfrm>
            <a:off x="1909440" y="2744280"/>
            <a:ext cx="276120" cy="20952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45106"/>
              </a:gs>
              <a:gs pos="100000">
                <a:srgbClr val="ffa986"/>
              </a:gs>
            </a:gsLst>
            <a:lin ang="5400000"/>
          </a:gradFill>
          <a:ln>
            <a:solidFill>
              <a:srgbClr val="e07b2f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sp>
        <p:nvSpPr>
          <p:cNvPr id="45" name="TextBox 19"/>
          <p:cNvSpPr/>
          <p:nvPr/>
        </p:nvSpPr>
        <p:spPr>
          <a:xfrm>
            <a:off x="7045920" y="3662640"/>
            <a:ext cx="1310400" cy="912600"/>
          </a:xfrm>
          <a:prstGeom prst="rect">
            <a:avLst/>
          </a:prstGeom>
          <a:solidFill>
            <a:schemeClr val="tx2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Rockwell"/>
                <a:ea typeface="MS PGothic"/>
              </a:rPr>
              <a:t>Use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Rockwell"/>
                <a:ea typeface="MS PGothic"/>
              </a:rPr>
              <a:t>setuptools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Rockwell"/>
                <a:ea typeface="MS PGothic"/>
              </a:rPr>
              <a:t>(later)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6C8C68D-3CC9-43BA-96D2-13DDF5C9E0F3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" dur="5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" dur="500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500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" dur="500"/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" dur="500"/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692280" y="1038240"/>
            <a:ext cx="7733520" cy="47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Cython gives is the flexibility of Python, but it’s much faster.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89800" y="482760"/>
            <a:ext cx="8563320" cy="701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Performance Comparison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4"/>
          <p:cNvSpPr/>
          <p:nvPr/>
        </p:nvSpPr>
        <p:spPr>
          <a:xfrm>
            <a:off x="1355400" y="1442160"/>
            <a:ext cx="6975720" cy="237924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…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lib = load_cipher_lib("./libxorcipher.so")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text = "This is a haiku; it is not too long I think; but you may disagree".encode("cp437")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key = "But there's one sound that no one knows... What does the Fox say?".encode("cp437")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buffer = ctypes.create_string_buffer(len(text) + 1)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c_time = timeit(lambda: lib.cipher(text, key, buffer, len(text), len(key)), number=200000)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cy_time = timeit(lambda: cy_xor.cy_encrypt(text, key), number=200000)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cpy_time = timeit(lambda: cy_xor.py_encrypt(text, key), number=200000)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py_time = timeit(lambda: py_xor.encrypt(text, key), number=200000)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print("Pure-C Time:\t%06.3f sec" % c_time)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print("Cython Time:\t%06.3f sec" % cy_time)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print("Cython-Py Time:\t%06.3f sec" % cpy_time)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print("Python Time:\t%06.3f sec"% py_time)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Box 5"/>
          <p:cNvSpPr/>
          <p:nvPr/>
        </p:nvSpPr>
        <p:spPr>
          <a:xfrm>
            <a:off x="2623320" y="3893040"/>
            <a:ext cx="2934360" cy="9435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Pure-C Time:    00.299 sec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Cython Time:    00.695 sec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Cython-Py Time: 01.129 sec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Python Time:    02.115 sec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Box 6"/>
          <p:cNvSpPr/>
          <p:nvPr/>
        </p:nvSpPr>
        <p:spPr>
          <a:xfrm>
            <a:off x="5628240" y="3893040"/>
            <a:ext cx="736200" cy="9435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x 1.0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x 2.3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x 3.8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x 7.1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0946CF9-80F7-461A-82E2-BA839E36A90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6" dur="indefinite" restart="never" nodeType="tmRoot">
          <p:childTnLst>
            <p:seq>
              <p:cTn id="117" dur="indefinite" nodeType="mainSeq">
                <p:childTnLst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" dur="500"/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" dur="500"/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7" dur="500"/>
                                        <p:tgtEl>
                                          <p:spTgt spid="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500"/>
                                        <p:tgtEl>
                                          <p:spTgt spid="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6" dur="500"/>
                                        <p:tgtEl>
                                          <p:spTgt spid="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2" dur="500"/>
                                        <p:tgtEl>
                                          <p:spTgt spid="4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5" dur="500"/>
                                        <p:tgtEl>
                                          <p:spTgt spid="4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8" dur="500"/>
                                        <p:tgtEl>
                                          <p:spTgt spid="4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1" dur="500"/>
                                        <p:tgtEl>
                                          <p:spTgt spid="4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/>
          </p:nvPr>
        </p:nvSpPr>
        <p:spPr>
          <a:xfrm>
            <a:off x="692280" y="1049760"/>
            <a:ext cx="7733520" cy="404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The fundamental C types (shared by C++) are available in Cython.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289800" y="448200"/>
            <a:ext cx="8563320" cy="64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Using C Types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5"/>
          <p:cNvSpPr/>
          <p:nvPr/>
        </p:nvSpPr>
        <p:spPr>
          <a:xfrm>
            <a:off x="280800" y="1751040"/>
            <a:ext cx="4222440" cy="29898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&lt;math.h&gt;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&lt;stdio.h&gt;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void sqrt_numbers(void *data, int length)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 *doubles = (double*)data;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for(int index = 0; index &lt; length / 8; index++)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doubles[index] = sqrt(doubles[index]);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int main()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 doubles[10];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(int index = 0; index &lt; 10; index++)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doubles[index] = index;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sqrt_numbers(doubles, 80);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(int index = 0; index &lt; 10; index++)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printf("Sqrt of %d: %f\n", index, doubles[index]);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6"/>
          <p:cNvSpPr/>
          <p:nvPr/>
        </p:nvSpPr>
        <p:spPr>
          <a:xfrm>
            <a:off x="4542480" y="1750320"/>
            <a:ext cx="4390560" cy="29898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 libc.math cimport sqrt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void sqrt_numbers(void* data, int length):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double* doubles = &lt;double*&gt;data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index in range(0, length // 8):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doubles[index] = sqrt(doubles[index])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def main():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double doubles[10]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index in range(0,10):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doubles[index] = index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sqrt_numbers(&lt;void*&gt;doubles, 80)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index in range(0,10):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print("Sqrt of %d: %f" %(index, doubles[index]))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if __name__ == "__main__":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main()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Box 7"/>
          <p:cNvSpPr/>
          <p:nvPr/>
        </p:nvSpPr>
        <p:spPr>
          <a:xfrm>
            <a:off x="574560" y="1474200"/>
            <a:ext cx="392868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c_sqrt.c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Box 8"/>
          <p:cNvSpPr/>
          <p:nvPr/>
        </p:nvSpPr>
        <p:spPr>
          <a:xfrm>
            <a:off x="4542480" y="1472400"/>
            <a:ext cx="402624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cy_sqrt.pyx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4114500-2BB0-4AF0-B614-A0AADDC0A08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2" dur="indefinite" restart="never" nodeType="tmRoot">
          <p:childTnLst>
            <p:seq>
              <p:cTn id="163" dur="indefinite" nodeType="mainSeq">
                <p:childTnLst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4" dur="500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7" dur="500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3" dur="500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9" dur="500"/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2" dur="500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5" dur="500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8" dur="500"/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1" dur="500"/>
                                        <p:tgtEl>
                                          <p:spTgt spid="5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4" dur="500"/>
                                        <p:tgtEl>
                                          <p:spTgt spid="5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7" dur="500"/>
                                        <p:tgtEl>
                                          <p:spTgt spid="5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0" dur="500"/>
                                        <p:tgtEl>
                                          <p:spTgt spid="5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3" dur="500"/>
                                        <p:tgtEl>
                                          <p:spTgt spid="5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6" dur="500"/>
                                        <p:tgtEl>
                                          <p:spTgt spid="5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9" dur="500"/>
                                        <p:tgtEl>
                                          <p:spTgt spid="5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7" dur="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0" dur="500"/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3" dur="500"/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6" dur="500"/>
                                        <p:tgtEl>
                                          <p:spTgt spid="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9" dur="500"/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2" dur="500"/>
                                        <p:tgtEl>
                                          <p:spTgt spid="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5" dur="500"/>
                                        <p:tgtEl>
                                          <p:spTgt spid="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8" dur="500"/>
                                        <p:tgtEl>
                                          <p:spTgt spid="5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1" dur="500"/>
                                        <p:tgtEl>
                                          <p:spTgt spid="5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4" dur="500"/>
                                        <p:tgtEl>
                                          <p:spTgt spid="5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7" dur="500"/>
                                        <p:tgtEl>
                                          <p:spTgt spid="5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0" dur="500"/>
                                        <p:tgtEl>
                                          <p:spTgt spid="5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3" dur="500"/>
                                        <p:tgtEl>
                                          <p:spTgt spid="5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5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4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/>
          </p:nvPr>
        </p:nvSpPr>
        <p:spPr>
          <a:xfrm>
            <a:off x="704880" y="1026720"/>
            <a:ext cx="7733520" cy="450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We can also use existing C functions / structures in our code, too.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289800" y="459720"/>
            <a:ext cx="8563320" cy="655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Integrating Existing C Code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574560" y="1756080"/>
            <a:ext cx="3928680" cy="14634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&lt;math.h&gt;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&lt;stdio.h&gt;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void sqrt_numbers(void *data, int length)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 *doubles = (double*)data;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for(int index = 0; index &lt; length / 8; index++)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doubles[index] = sqrt(doubles[index]);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4542480" y="1764720"/>
            <a:ext cx="4436280" cy="22266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extern from "c_sqrt.h": </a:t>
            </a:r>
            <a:r>
              <a:rPr b="0" lang="en-US" sz="1000" spc="-1" strike="noStrike">
                <a:solidFill>
                  <a:srgbClr val="ff0000"/>
                </a:solidFill>
                <a:latin typeface="Consolas"/>
                <a:ea typeface="MS PGothic"/>
              </a:rPr>
              <a:t># or .c! (direct include)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void sqrt_numbers(void *data, int length)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def main():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double doubles[10]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index in range(0,10):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doubles[index] = index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sqrt_numbers(&lt;void*&gt;doubles, 80)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index in range(0,10):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print("Sqrt of %d: %f" %(index, doubles[index]))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if __name__ == "__main__":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main()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Box 6"/>
          <p:cNvSpPr/>
          <p:nvPr/>
        </p:nvSpPr>
        <p:spPr>
          <a:xfrm>
            <a:off x="574560" y="3771360"/>
            <a:ext cx="3928680" cy="2422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void sqrt_numbers(void *data, int length);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Box 7"/>
          <p:cNvSpPr/>
          <p:nvPr/>
        </p:nvSpPr>
        <p:spPr>
          <a:xfrm>
            <a:off x="574560" y="1483560"/>
            <a:ext cx="392868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c_sqrt.c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Box 8"/>
          <p:cNvSpPr/>
          <p:nvPr/>
        </p:nvSpPr>
        <p:spPr>
          <a:xfrm>
            <a:off x="574560" y="3500280"/>
            <a:ext cx="392868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c_sqrt.h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Box 9"/>
          <p:cNvSpPr/>
          <p:nvPr/>
        </p:nvSpPr>
        <p:spPr>
          <a:xfrm>
            <a:off x="4547880" y="1487520"/>
            <a:ext cx="402084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cy_sqrt.pyx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574560" y="4431960"/>
            <a:ext cx="3928680" cy="2422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void sqrt_numbers(void *data, int length)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11"/>
          <p:cNvSpPr/>
          <p:nvPr/>
        </p:nvSpPr>
        <p:spPr>
          <a:xfrm>
            <a:off x="574560" y="4160880"/>
            <a:ext cx="392868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c_sqrt.pxd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4572000" y="4165200"/>
            <a:ext cx="4020840" cy="5014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 c_sqrt cimport sqrt_numbers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…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93FFED5-7775-44D0-B075-F0DA21B3B55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3" dur="indefinite" restart="never" nodeType="tmRoot">
          <p:childTnLst>
            <p:seq>
              <p:cTn id="284" dur="indefinite" nodeType="mainSeq">
                <p:childTnLst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2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5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8" dur="500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4" dur="500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7" dur="500"/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0" dur="500"/>
                                        <p:tgtEl>
                                          <p:spTgt spid="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3" dur="500"/>
                                        <p:tgtEl>
                                          <p:spTgt spid="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4" dur="50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7" dur="50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0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3" dur="50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6" dur="50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9" dur="500"/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2" dur="500"/>
                                        <p:tgtEl>
                                          <p:spTgt spid="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5" dur="500"/>
                                        <p:tgtEl>
                                          <p:spTgt spid="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8" dur="500"/>
                                        <p:tgtEl>
                                          <p:spTgt spid="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1" dur="500"/>
                                        <p:tgtEl>
                                          <p:spTgt spid="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5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1" dur="500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9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indefinite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0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/>
          </p:nvPr>
        </p:nvSpPr>
        <p:spPr>
          <a:xfrm>
            <a:off x="692280" y="951840"/>
            <a:ext cx="7733520" cy="439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It’s also fairly straightforward to import C++ classes.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title"/>
          </p:nvPr>
        </p:nvSpPr>
        <p:spPr>
          <a:xfrm>
            <a:off x="289800" y="384840"/>
            <a:ext cx="8563320" cy="635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Using C++ Types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76320" y="1653120"/>
            <a:ext cx="4333680" cy="29898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&lt;cmath&gt;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&lt;iostream&gt;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&lt;vector&gt;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void sqrt_numbers(std::vector&lt;double&gt;&amp; doubles)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for(int index = 0; index &lt; doubles.size(); index++)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doubles[index] = sqrt(doubles[index]);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int main()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std::vector&lt;double&gt; doubles;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(int index = 0; index &lt; 10; index++)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doubles.push_back(index);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sqrt_numbers(doubles);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(int index = 0; index &lt; 10; index++)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printf("Sqrt of %d: %f\n", index, doubles[index]);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4507920" y="1652400"/>
            <a:ext cx="4111920" cy="28371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 libc.math cimport sqrt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 libcpp.vector cimport vector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void sqrt_numbers(vector[double]&amp; doubles):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index in range(0, doubles.size()):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doubles[index] = sqrt(doubles[index])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def main():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vector[double] doubles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index in range(0, 10):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doubles.push_back(index)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sqrt_numbers(doubles)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index in range(0, 10):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print("Sqrt of %d: %f" % (index, doubles[index]))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if __name__ == "__main__":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main()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540000" y="1376280"/>
            <a:ext cx="387000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cpp_sqrt.cpp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4507920" y="1374480"/>
            <a:ext cx="411192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cy_sqrt.pyx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4507920" y="4422960"/>
            <a:ext cx="4111920" cy="2422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cython cy_cpp_sqrt.pyx -3 --embed --cplus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85E578D-2154-4123-A0EB-80A77D3F7D28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1" dur="indefinite" restart="never" nodeType="tmRoot">
          <p:childTnLst>
            <p:seq>
              <p:cTn id="412" dur="indefinite" nodeType="mainSeq">
                <p:childTnLst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0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3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6" dur="500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9" dur="500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2" dur="500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5" dur="500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8" dur="500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1" dur="500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4" dur="500"/>
                                        <p:tgtEl>
                                          <p:spTgt spid="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500"/>
                                        <p:tgtEl>
                                          <p:spTgt spid="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0" dur="500"/>
                                        <p:tgtEl>
                                          <p:spTgt spid="7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3" dur="500"/>
                                        <p:tgtEl>
                                          <p:spTgt spid="7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6" dur="500"/>
                                        <p:tgtEl>
                                          <p:spTgt spid="7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9" dur="500"/>
                                        <p:tgtEl>
                                          <p:spTgt spid="7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2" dur="500"/>
                                        <p:tgtEl>
                                          <p:spTgt spid="7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5" dur="500"/>
                                        <p:tgtEl>
                                          <p:spTgt spid="7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8" dur="500"/>
                                        <p:tgtEl>
                                          <p:spTgt spid="7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6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9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2" dur="500"/>
                                        <p:tgtEl>
                                          <p:spTgt spid="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5" dur="500"/>
                                        <p:tgtEl>
                                          <p:spTgt spid="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8" dur="500"/>
                                        <p:tgtEl>
                                          <p:spTgt spid="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1" dur="500"/>
                                        <p:tgtEl>
                                          <p:spTgt spid="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4" dur="500"/>
                                        <p:tgtEl>
                                          <p:spTgt spid="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7" dur="500"/>
                                        <p:tgtEl>
                                          <p:spTgt spid="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0" dur="500"/>
                                        <p:tgtEl>
                                          <p:spTgt spid="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3" dur="500"/>
                                        <p:tgtEl>
                                          <p:spTgt spid="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6" dur="500"/>
                                        <p:tgtEl>
                                          <p:spTgt spid="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9" dur="500"/>
                                        <p:tgtEl>
                                          <p:spTgt spid="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2" dur="500"/>
                                        <p:tgtEl>
                                          <p:spTgt spid="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5" dur="500"/>
                                        <p:tgtEl>
                                          <p:spTgt spid="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6" fill="hold">
                      <p:stCondLst>
                        <p:cond delay="indefinite"/>
                      </p:stCondLst>
                      <p:childTnLst>
                        <p:par>
                          <p:cTn id="517" fill="hold">
                            <p:stCondLst>
                              <p:cond delay="0"/>
                            </p:stCondLst>
                            <p:childTnLst>
                              <p:par>
                                <p:cTn id="5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3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1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indefinite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9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692280" y="940320"/>
            <a:ext cx="7733520" cy="427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…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and we can integrate existing code in a similar way.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289800" y="402120"/>
            <a:ext cx="8563320" cy="606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Integrating Existing C++ Code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533160" y="1605240"/>
            <a:ext cx="3928680" cy="17686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&lt;string&gt;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class Character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int strength;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std::string name;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public: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Character(std::string&amp; _name, int _strength);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std::string&amp; getName();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void setName(std::string&amp; _name);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4537440" y="1609920"/>
            <a:ext cx="4082040" cy="17686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 Character cimport Character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def main():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Character* dancer = new Character(b"Dennis", 42)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dancer.setName(b"Captain D")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print("New name: %s" % dancer.getName().decode())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if __name__ == "__main__":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main()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533160" y="1332720"/>
            <a:ext cx="392868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Character.h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533160" y="3476520"/>
            <a:ext cx="392868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Character.pxd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4537440" y="1332720"/>
            <a:ext cx="408204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Game.pyx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11"/>
          <p:cNvSpPr/>
          <p:nvPr/>
        </p:nvSpPr>
        <p:spPr>
          <a:xfrm>
            <a:off x="533160" y="3732480"/>
            <a:ext cx="3928680" cy="11581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 libcpp.string import string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extern from "Character.h":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cppclass Character: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Character(string&amp;, int) except +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string&amp; getName()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void setName(string&amp;)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12"/>
          <p:cNvSpPr/>
          <p:nvPr/>
        </p:nvSpPr>
        <p:spPr>
          <a:xfrm>
            <a:off x="4537440" y="3424680"/>
            <a:ext cx="4082040" cy="14634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 libcpp.string import string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extern from "Character.h":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cppclass Character: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Character(int, string&amp;) except +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string&amp; getName()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void setName(string&amp;)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def main(): ...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4537440" y="3145680"/>
            <a:ext cx="408204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Game_alt.pyx (Alternative, no pxd)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FAFA104-FDBA-4178-B628-BE7439ABC6CE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0" dur="indefinite" restart="never" nodeType="tmRoot">
          <p:childTnLst>
            <p:seq>
              <p:cTn id="541" dur="indefinite" nodeType="mainSeq">
                <p:childTnLst>
                  <p:par>
                    <p:cTn id="542" fill="hold">
                      <p:stCondLst>
                        <p:cond delay="indefinite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9" dur="5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2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5" dur="500"/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8" dur="500"/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1" dur="500"/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4" dur="500"/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7" dur="500"/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0" dur="500"/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3" dur="500"/>
                                        <p:tgtEl>
                                          <p:spTgt spid="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6" dur="500"/>
                                        <p:tgtEl>
                                          <p:spTgt spid="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7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0" dur="5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3" dur="5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6" dur="500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9" dur="500"/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2" dur="500"/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indefinite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0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1" fill="hold">
                      <p:stCondLst>
                        <p:cond delay="indefinite"/>
                      </p:stCondLst>
                      <p:childTnLst>
                        <p:par>
                          <p:cTn id="612" fill="hold">
                            <p:stCondLst>
                              <p:cond delay="0"/>
                            </p:stCondLst>
                            <p:childTnLst>
                              <p:par>
                                <p:cTn id="6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8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9" fill="hold">
                      <p:stCondLst>
                        <p:cond delay="indefinite"/>
                      </p:stCondLst>
                      <p:childTnLst>
                        <p:par>
                          <p:cTn id="620" fill="hold">
                            <p:stCondLst>
                              <p:cond delay="0"/>
                            </p:stCondLst>
                            <p:childTnLst>
                              <p:par>
                                <p:cTn id="6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6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7" fill="hold">
                      <p:stCondLst>
                        <p:cond delay="indefinite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4" dur="500"/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7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0" dur="500"/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3" dur="500"/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6" dur="500"/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9" dur="500"/>
                                        <p:tgtEl>
                                          <p:spTgt spid="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0" fill="hold">
                      <p:stCondLst>
                        <p:cond delay="indefinite"/>
                      </p:stCondLst>
                      <p:childTnLst>
                        <p:par>
                          <p:cTn id="651" fill="hold">
                            <p:stCondLst>
                              <p:cond delay="0"/>
                            </p:stCondLst>
                            <p:childTnLst>
                              <p:par>
                                <p:cTn id="6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7" dur="500"/>
                                        <p:tgtEl>
                                          <p:spTgt spid="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8" fill="hold">
                      <p:stCondLst>
                        <p:cond delay="indefinite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5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692280" y="1038240"/>
            <a:ext cx="7733520" cy="425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Finally, we can call Cython code from C/C++, too.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289800" y="425160"/>
            <a:ext cx="8563320" cy="689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Using Cython In C/C++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372960" y="1855080"/>
            <a:ext cx="3967560" cy="11581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 libc.math cimport sqrt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 libcpp.vector cimport vector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cdef </a:t>
            </a:r>
            <a:r>
              <a:rPr b="1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public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void sqrt_numbers(vector[double]&amp; doubles):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index in range(0, doubles.size()):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doubles[index] = sqrt(doubles[index])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372960" y="1577160"/>
            <a:ext cx="396756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cy_sqrt_ext.pyx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372960" y="2934720"/>
            <a:ext cx="3967560" cy="24228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cython cy_sqrt_ext.pyx -3 --cplus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Arrow: Down 7"/>
          <p:cNvSpPr/>
          <p:nvPr/>
        </p:nvSpPr>
        <p:spPr>
          <a:xfrm>
            <a:off x="2218320" y="3175200"/>
            <a:ext cx="276120" cy="836640"/>
          </a:xfrm>
          <a:prstGeom prst="down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b45106"/>
              </a:gs>
              <a:gs pos="100000">
                <a:srgbClr val="ffa986"/>
              </a:gs>
            </a:gsLst>
            <a:lin ang="5400000"/>
          </a:gradFill>
          <a:ln>
            <a:solidFill>
              <a:srgbClr val="e07b2f"/>
            </a:solidFill>
            <a:round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372960" y="4012560"/>
            <a:ext cx="396756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cy_sqrt_ext.cpp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9"/>
          <p:cNvSpPr/>
          <p:nvPr/>
        </p:nvSpPr>
        <p:spPr>
          <a:xfrm>
            <a:off x="372960" y="4286160"/>
            <a:ext cx="396756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cy_sqrt_ext.h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4395960" y="1855080"/>
            <a:ext cx="4364280" cy="28371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&lt;Python.h&gt;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&lt;vector&gt;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&lt;cstdio&gt;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#include "cy_sqrt_ext.h"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int main()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1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Py_Initialize();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1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PyImport_AppendInittab("cy_sqrt_ext", PyInit_ct_sqrt_ext);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std::vector&lt;double&gt; doubles;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(int index = 0; index &lt; 10; index++)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doubles.push_back(index);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sqrt_numbers(doubles);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for (int index = 0; index &lt; 10; index++)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printf("Sqrt of %d: %f\n", index, doubles[index]);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1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Py_Finalize();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Box 11"/>
          <p:cNvSpPr/>
          <p:nvPr/>
        </p:nvSpPr>
        <p:spPr>
          <a:xfrm>
            <a:off x="4395960" y="1577160"/>
            <a:ext cx="4364280" cy="27252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main.cpp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9D5C46D-CB7C-4EE3-A257-1C3685A5B4BB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66" dur="indefinite" restart="never" nodeType="tmRoot">
          <p:childTnLst>
            <p:seq>
              <p:cTn id="667" dur="indefinite" nodeType="mainSeq">
                <p:childTnLst>
                  <p:par>
                    <p:cTn id="668" fill="hold">
                      <p:stCondLst>
                        <p:cond delay="indefinite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5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8" dur="500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1" dur="500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4" dur="500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7" dur="500"/>
                                        <p:tgtEl>
                                          <p:spTgt spid="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8" fill="hold">
                      <p:stCondLst>
                        <p:cond delay="indefinite"/>
                      </p:stCondLst>
                      <p:childTnLst>
                        <p:par>
                          <p:cTn id="689" fill="hold">
                            <p:stCondLst>
                              <p:cond delay="0"/>
                            </p:stCondLst>
                            <p:childTnLst>
                              <p:par>
                                <p:cTn id="69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5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6" fill="hold">
                      <p:stCondLst>
                        <p:cond delay="indefinite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3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4" fill="hold">
                      <p:stCondLst>
                        <p:cond delay="indefinite"/>
                      </p:stCondLst>
                      <p:childTnLst>
                        <p:par>
                          <p:cTn id="705" fill="hold">
                            <p:stCondLst>
                              <p:cond delay="0"/>
                            </p:stCondLst>
                            <p:childTnLst>
                              <p:par>
                                <p:cTn id="7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1" dur="5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2" fill="hold">
                      <p:stCondLst>
                        <p:cond delay="indefinite"/>
                      </p:stCondLst>
                      <p:childTnLst>
                        <p:par>
                          <p:cTn id="713" fill="hold">
                            <p:stCondLst>
                              <p:cond delay="0"/>
                            </p:stCondLst>
                            <p:childTnLst>
                              <p:par>
                                <p:cTn id="7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9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fill="hold">
                      <p:stCondLst>
                        <p:cond delay="indefinite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7" dur="500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0" dur="500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3" dur="500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6" dur="500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9" dur="500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2" dur="500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5" dur="500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8" dur="500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1" dur="500"/>
                                        <p:tgtEl>
                                          <p:spTgt spid="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4" dur="500"/>
                                        <p:tgtEl>
                                          <p:spTgt spid="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7" dur="500"/>
                                        <p:tgtEl>
                                          <p:spTgt spid="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0" dur="500"/>
                                        <p:tgtEl>
                                          <p:spTgt spid="9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3" dur="500"/>
                                        <p:tgtEl>
                                          <p:spTgt spid="9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6" dur="500"/>
                                        <p:tgtEl>
                                          <p:spTgt spid="9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9" dur="500"/>
                                        <p:tgtEl>
                                          <p:spTgt spid="9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2" dur="500"/>
                                        <p:tgtEl>
                                          <p:spTgt spid="9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3" fill="hold">
                      <p:stCondLst>
                        <p:cond delay="indefinite"/>
                      </p:stCondLst>
                      <p:childTnLst>
                        <p:par>
                          <p:cTn id="774" fill="hold">
                            <p:stCondLst>
                              <p:cond delay="0"/>
                            </p:stCondLst>
                            <p:childTnLst>
                              <p:par>
                                <p:cTn id="7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0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100080" y="970560"/>
            <a:ext cx="8936280" cy="375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Building a package that “just builds” is trickier with Cython but doable.</a:t>
            </a:r>
            <a:endParaRPr b="0" lang="en-US" sz="2000" spc="-1" strike="noStrike">
              <a:solidFill>
                <a:srgbClr val="000000"/>
              </a:solidFill>
              <a:latin typeface="Cambria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/>
          </p:nvPr>
        </p:nvSpPr>
        <p:spPr>
          <a:xfrm>
            <a:off x="289800" y="413640"/>
            <a:ext cx="8562960" cy="664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Building a Package (Cython)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271080" y="1456200"/>
            <a:ext cx="5614200" cy="34477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import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os.path, setuptools.command.install, setuptools.command.sdist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from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setuptools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import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setup, Extension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from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Cython.Build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import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cythonize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extensions = [(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"cy_example.hello"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[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"cy_example/hello.pyx"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]),]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# When packaging source, modules can be built directly.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class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SourceDistro(setuptools.command.sdist.sdist):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def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run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(self):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ext_modules = [Extension(*ext)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for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ext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extensions]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self.distribution.ext_modules = </a:t>
            </a:r>
            <a:r>
              <a:rPr b="1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cythonize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(ext_modules)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sdist.sdist.</a:t>
            </a:r>
            <a:r>
              <a:rPr b="1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run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(self)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# When building / installing, modules should use ".c" files.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class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Installer(setuptools.command.install.install):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def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run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(self):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for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index, (mod_name, paths)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enumerate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(extensions):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files = [os.path.splitext(path)[0] + 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".c"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for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path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paths]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extensions[index] = (mod_name, files)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ext_modules = [Extension(*ext)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for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ext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extensions]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self.distribution.ext_modules = </a:t>
            </a:r>
            <a:r>
              <a:rPr b="1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cythonize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(ext_modules)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install.install.</a:t>
            </a:r>
            <a:r>
              <a:rPr b="1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run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(self)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Box 13"/>
          <p:cNvSpPr/>
          <p:nvPr/>
        </p:nvSpPr>
        <p:spPr>
          <a:xfrm>
            <a:off x="5526360" y="1384200"/>
            <a:ext cx="3340440" cy="26845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729fcf"/>
                </a:solidFill>
                <a:latin typeface="Consolas"/>
                <a:ea typeface="MS PGothic"/>
              </a:rPr>
              <a:t>setup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name=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'cy_example'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version=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'0.0.0.1'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packages=[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'cy_example'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,],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description=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'Sample Cython Project'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license=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'GPL 3'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author=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'Jeremiah Blanchard'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author_email=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'jjb@eng.ufl.edu'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url=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'http://repotown.org/cy_ex.git'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entry_points =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 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'console_scripts'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[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'hello = cy_example.hello:main'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cmdclass={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'install'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 Installer,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   </a:t>
            </a:r>
            <a:r>
              <a:rPr b="1" lang="en-US" sz="1000" spc="-1" strike="noStrike">
                <a:solidFill>
                  <a:srgbClr val="9bf69b"/>
                </a:solidFill>
                <a:latin typeface="Consolas"/>
                <a:ea typeface="MS PGothic"/>
              </a:rPr>
              <a:t>'sdist'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 SourceDistro},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4D574BD-529B-4D5E-80B9-56F10A91D41E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1" dur="indefinite" restart="never" nodeType="tmRoot">
          <p:childTnLst>
            <p:seq>
              <p:cTn id="782" dur="indefinite" nodeType="mainSeq">
                <p:childTnLst>
                  <p:par>
                    <p:cTn id="783" fill="hold">
                      <p:stCondLst>
                        <p:cond delay="indefinite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0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3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6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9" dur="5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2" dur="500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5" dur="500"/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8" dur="500"/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1" dur="500"/>
                                        <p:tgtEl>
                                          <p:spTgt spid="9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4" dur="500"/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7" dur="500"/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0" dur="500"/>
                                        <p:tgtEl>
                                          <p:spTgt spid="9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3" dur="500"/>
                                        <p:tgtEl>
                                          <p:spTgt spid="9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6" dur="500"/>
                                        <p:tgtEl>
                                          <p:spTgt spid="9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9" dur="500"/>
                                        <p:tgtEl>
                                          <p:spTgt spid="9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2" dur="500"/>
                                        <p:tgtEl>
                                          <p:spTgt spid="9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5" dur="500"/>
                                        <p:tgtEl>
                                          <p:spTgt spid="9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8" dur="500"/>
                                        <p:tgtEl>
                                          <p:spTgt spid="9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1" dur="500"/>
                                        <p:tgtEl>
                                          <p:spTgt spid="9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4" dur="500"/>
                                        <p:tgtEl>
                                          <p:spTgt spid="9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5" fill="hold">
                      <p:stCondLst>
                        <p:cond delay="indefinite"/>
                      </p:stCondLst>
                      <p:childTnLst>
                        <p:par>
                          <p:cTn id="846" fill="hold">
                            <p:stCondLst>
                              <p:cond delay="0"/>
                            </p:stCondLst>
                            <p:childTnLst>
                              <p:par>
                                <p:cTn id="8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2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5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8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1" dur="500"/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4" dur="500"/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7" dur="500"/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0" dur="500"/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3" dur="500"/>
                                        <p:tgtEl>
                                          <p:spTgt spid="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6" dur="500"/>
                                        <p:tgtEl>
                                          <p:spTgt spid="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9" dur="500"/>
                                        <p:tgtEl>
                                          <p:spTgt spid="9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2" dur="500"/>
                                        <p:tgtEl>
                                          <p:spTgt spid="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5" dur="500"/>
                                        <p:tgtEl>
                                          <p:spTgt spid="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8" dur="500"/>
                                        <p:tgtEl>
                                          <p:spTgt spid="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1" dur="500"/>
                                        <p:tgtEl>
                                          <p:spTgt spid="9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4" dur="500"/>
                                        <p:tgtEl>
                                          <p:spTgt spid="9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7" dur="500"/>
                                        <p:tgtEl>
                                          <p:spTgt spid="9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64136</TotalTime>
  <Application>LibreOffice/24.2.7.2$Linux_X86_64 LibreOffice_project/420$Build-2</Application>
  <AppVersion>15.0000</AppVersion>
  <Words>2220</Words>
  <Paragraphs>328</Paragraphs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en-US</dc:language>
  <cp:lastModifiedBy/>
  <cp:lastPrinted>2014-01-31T19:29:42Z</cp:lastPrinted>
  <dcterms:modified xsi:type="dcterms:W3CDTF">2026-06-22T00:10:15Z</dcterms:modified>
  <cp:revision>1472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
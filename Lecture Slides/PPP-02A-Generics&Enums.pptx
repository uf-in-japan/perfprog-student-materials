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_rels/presentation.xml.rels" ContentType="application/vnd.openxmlformats-package.relationships+xml"/>
  <Override PartName="/ppt/media/image1.jpeg" ContentType="image/jpeg"/>
  <Override PartName="/ppt/media/image2.jpeg" ContentType="image/jpeg"/>
  <Override PartName="/ppt/media/image3.png" ContentType="image/png"/>
  <Override PartName="/ppt/media/image4.svg" ContentType="image/sv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9144000" cy="5143500"/>
  <p:notesSz cx="9144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4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dt" idx="3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ftr" idx="4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6"/>
          <p:cNvSpPr>
            <a:spLocks noGrp="1"/>
          </p:cNvSpPr>
          <p:nvPr>
            <p:ph type="sldNum" idx="5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AD6FDFA8-540B-4B18-B094-C85F05700731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sldImg"/>
          </p:nvPr>
        </p:nvSpPr>
        <p:spPr>
          <a:xfrm>
            <a:off x="2286000" y="514440"/>
            <a:ext cx="4569120" cy="2568960"/>
          </a:xfrm>
          <a:prstGeom prst="rect">
            <a:avLst/>
          </a:prstGeom>
          <a:ln w="0">
            <a:noFill/>
          </a:ln>
        </p:spPr>
      </p:sp>
      <p:sp>
        <p:nvSpPr>
          <p:cNvPr id="82" name="PlaceHolder 2"/>
          <p:cNvSpPr>
            <a:spLocks noGrp="1"/>
          </p:cNvSpPr>
          <p:nvPr>
            <p:ph type="body"/>
          </p:nvPr>
        </p:nvSpPr>
        <p:spPr>
          <a:xfrm>
            <a:off x="914400" y="3257640"/>
            <a:ext cx="7312320" cy="308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0.5 min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3"/>
          <p:cNvSpPr>
            <a:spLocks noGrp="1"/>
          </p:cNvSpPr>
          <p:nvPr>
            <p:ph type="sldNum" idx="6"/>
          </p:nvPr>
        </p:nvSpPr>
        <p:spPr>
          <a:xfrm>
            <a:off x="5180040" y="6513480"/>
            <a:ext cx="3959640" cy="3402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E4F3227-34E6-4001-9F05-C7F6475316A4}" type="slidenum">
              <a:rPr b="0" lang="en-US" sz="1200" spc="-1" strike="noStrike">
                <a:solidFill>
                  <a:srgbClr val="000000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sldImg"/>
          </p:nvPr>
        </p:nvSpPr>
        <p:spPr>
          <a:xfrm>
            <a:off x="2286000" y="514440"/>
            <a:ext cx="4569840" cy="2569680"/>
          </a:xfrm>
          <a:prstGeom prst="rect">
            <a:avLst/>
          </a:prstGeom>
          <a:ln w="0">
            <a:noFill/>
          </a:ln>
        </p:spPr>
      </p:sp>
      <p:sp>
        <p:nvSpPr>
          <p:cNvPr id="85" name="PlaceHolder 2"/>
          <p:cNvSpPr>
            <a:spLocks noGrp="1"/>
          </p:cNvSpPr>
          <p:nvPr>
            <p:ph type="body"/>
          </p:nvPr>
        </p:nvSpPr>
        <p:spPr>
          <a:xfrm>
            <a:off x="914400" y="3257640"/>
            <a:ext cx="7313040" cy="308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 defTabSz="45720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12.5 min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 defTabSz="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sldNum" idx="7"/>
          </p:nvPr>
        </p:nvSpPr>
        <p:spPr>
          <a:xfrm>
            <a:off x="5180040" y="6513480"/>
            <a:ext cx="3960360" cy="340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27ED505-5154-4445-97E7-22BA41635796}" type="slidenum">
              <a:rPr b="0" lang="en-US" sz="1200" spc="-1" strike="noStrike">
                <a:solidFill>
                  <a:srgbClr val="000000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sldImg"/>
          </p:nvPr>
        </p:nvSpPr>
        <p:spPr>
          <a:xfrm>
            <a:off x="2286000" y="514440"/>
            <a:ext cx="4569840" cy="2569680"/>
          </a:xfrm>
          <a:prstGeom prst="rect">
            <a:avLst/>
          </a:prstGeom>
          <a:ln w="0">
            <a:noFill/>
          </a:ln>
        </p:spPr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914400" y="3257640"/>
            <a:ext cx="7313040" cy="308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 defTabSz="45720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12.5 min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 defTabSz="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 type="sldNum" idx="8"/>
          </p:nvPr>
        </p:nvSpPr>
        <p:spPr>
          <a:xfrm>
            <a:off x="5180040" y="6513480"/>
            <a:ext cx="3960360" cy="340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424D4D9-B0B3-4682-ADF8-BE6E6A2F1BC2}" type="slidenum">
              <a:rPr b="0" lang="en-US" sz="1200" spc="-1" strike="noStrike">
                <a:solidFill>
                  <a:srgbClr val="000000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sldImg"/>
          </p:nvPr>
        </p:nvSpPr>
        <p:spPr>
          <a:xfrm>
            <a:off x="2286000" y="514440"/>
            <a:ext cx="4565520" cy="2565360"/>
          </a:xfrm>
          <a:prstGeom prst="rect">
            <a:avLst/>
          </a:prstGeom>
          <a:ln w="0">
            <a:noFill/>
          </a:ln>
        </p:spPr>
      </p:sp>
      <p:sp>
        <p:nvSpPr>
          <p:cNvPr id="91" name="PlaceHolder 2"/>
          <p:cNvSpPr>
            <a:spLocks noGrp="1"/>
          </p:cNvSpPr>
          <p:nvPr>
            <p:ph type="body"/>
          </p:nvPr>
        </p:nvSpPr>
        <p:spPr>
          <a:xfrm>
            <a:off x="914400" y="3257640"/>
            <a:ext cx="7308720" cy="3079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5 min?</a:t>
            </a:r>
            <a:br>
              <a:rPr sz="2000"/>
            </a:br>
            <a:br>
              <a:rPr sz="2000"/>
            </a:b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Total: 40 min?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----Add “if let”</a:t>
            </a:r>
            <a:br>
              <a:rPr sz="2000"/>
            </a:b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----Add “let else”</a:t>
            </a:r>
            <a:br>
              <a:rPr sz="2000"/>
            </a:b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----Add “while let”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 type="sldNum" idx="9"/>
          </p:nvPr>
        </p:nvSpPr>
        <p:spPr>
          <a:xfrm>
            <a:off x="5180040" y="6513480"/>
            <a:ext cx="3956040" cy="3366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3F2F0BF-9647-4A0B-BA40-523303D333A8}" type="slidenum">
              <a:rPr b="0" lang="en-US" sz="1200" spc="-1" strike="noStrike">
                <a:solidFill>
                  <a:srgbClr val="000000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sldImg"/>
          </p:nvPr>
        </p:nvSpPr>
        <p:spPr>
          <a:xfrm>
            <a:off x="2286000" y="514440"/>
            <a:ext cx="4565520" cy="2565360"/>
          </a:xfrm>
          <a:prstGeom prst="rect">
            <a:avLst/>
          </a:prstGeom>
          <a:ln w="0">
            <a:noFill/>
          </a:ln>
        </p:spPr>
      </p:sp>
      <p:sp>
        <p:nvSpPr>
          <p:cNvPr id="94" name="PlaceHolder 2"/>
          <p:cNvSpPr>
            <a:spLocks noGrp="1"/>
          </p:cNvSpPr>
          <p:nvPr>
            <p:ph type="body"/>
          </p:nvPr>
        </p:nvSpPr>
        <p:spPr>
          <a:xfrm>
            <a:off x="914400" y="3257640"/>
            <a:ext cx="7308720" cy="3079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5 min?</a:t>
            </a:r>
            <a:br>
              <a:rPr sz="2000"/>
            </a:br>
            <a:br>
              <a:rPr sz="2000"/>
            </a:b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Total: 40 min?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----Add “if let”</a:t>
            </a:r>
            <a:br>
              <a:rPr sz="2000"/>
            </a:b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----Add “let else”</a:t>
            </a:r>
            <a:br>
              <a:rPr sz="2000"/>
            </a:b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----Add “while let”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 type="sldNum" idx="10"/>
          </p:nvPr>
        </p:nvSpPr>
        <p:spPr>
          <a:xfrm>
            <a:off x="5180040" y="6513480"/>
            <a:ext cx="3956040" cy="3366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7D53447-D942-4EE4-A385-D5F7C7852E68}" type="slidenum">
              <a:rPr b="0" lang="en-US" sz="1200" spc="-1" strike="noStrike">
                <a:solidFill>
                  <a:srgbClr val="000000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sldImg"/>
          </p:nvPr>
        </p:nvSpPr>
        <p:spPr>
          <a:xfrm>
            <a:off x="2286000" y="514440"/>
            <a:ext cx="4565520" cy="2565360"/>
          </a:xfrm>
          <a:prstGeom prst="rect">
            <a:avLst/>
          </a:prstGeom>
          <a:ln w="0">
            <a:noFill/>
          </a:ln>
        </p:spPr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914400" y="3257640"/>
            <a:ext cx="7308720" cy="3079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5 min?</a:t>
            </a:r>
            <a:br>
              <a:rPr sz="2000"/>
            </a:br>
            <a:br>
              <a:rPr sz="2000"/>
            </a:b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Total: 40 min?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----Add “if let”</a:t>
            </a:r>
            <a:br>
              <a:rPr sz="2000"/>
            </a:b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----Add “let else”</a:t>
            </a:r>
            <a:br>
              <a:rPr sz="2000"/>
            </a:b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----Add “while let”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sldNum" idx="11"/>
          </p:nvPr>
        </p:nvSpPr>
        <p:spPr>
          <a:xfrm>
            <a:off x="5180040" y="6513480"/>
            <a:ext cx="3956040" cy="3366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CC05019-3068-4ACE-A12D-A7297522ABD9}" type="slidenum">
              <a:rPr b="0" lang="en-US" sz="1200" spc="-1" strike="noStrike">
                <a:solidFill>
                  <a:srgbClr val="000000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sldImg"/>
          </p:nvPr>
        </p:nvSpPr>
        <p:spPr>
          <a:xfrm>
            <a:off x="2286000" y="514440"/>
            <a:ext cx="4565520" cy="2565360"/>
          </a:xfrm>
          <a:prstGeom prst="rect">
            <a:avLst/>
          </a:prstGeom>
          <a:ln w="0">
            <a:noFill/>
          </a:ln>
        </p:spPr>
      </p:sp>
      <p:sp>
        <p:nvSpPr>
          <p:cNvPr id="100" name="PlaceHolder 2"/>
          <p:cNvSpPr>
            <a:spLocks noGrp="1"/>
          </p:cNvSpPr>
          <p:nvPr>
            <p:ph type="body"/>
          </p:nvPr>
        </p:nvSpPr>
        <p:spPr>
          <a:xfrm>
            <a:off x="914400" y="3257640"/>
            <a:ext cx="7308720" cy="3079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5 min?</a:t>
            </a:r>
            <a:br>
              <a:rPr sz="2000"/>
            </a:br>
            <a:br>
              <a:rPr sz="2000"/>
            </a:b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Total: 40 min?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----Add “if let”</a:t>
            </a:r>
            <a:br>
              <a:rPr sz="2000"/>
            </a:b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----Add “let else”</a:t>
            </a:r>
            <a:br>
              <a:rPr sz="2000"/>
            </a:b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----Add “while let”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sldNum" idx="12"/>
          </p:nvPr>
        </p:nvSpPr>
        <p:spPr>
          <a:xfrm>
            <a:off x="5180040" y="6513480"/>
            <a:ext cx="3956040" cy="3366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6E22C3C-9671-4E14-952D-A1E84B3A9CC7}" type="slidenum">
              <a:rPr b="0" lang="en-US" sz="1200" spc="-1" strike="noStrike">
                <a:solidFill>
                  <a:srgbClr val="000000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Content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6CB14299-7DE7-4DA5-B9E5-933EB52FB0F8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E8E5F86-E422-4AFB-9A0E-DE819542A32C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Picture 3" descr=""/>
          <p:cNvPicPr/>
          <p:nvPr/>
        </p:nvPicPr>
        <p:blipFill>
          <a:blip r:embed="rId2"/>
          <a:srcRect l="0" t="-4" r="0" b="84"/>
          <a:stretch/>
        </p:blipFill>
        <p:spPr>
          <a:xfrm>
            <a:off x="0" y="0"/>
            <a:ext cx="9141120" cy="5136120"/>
          </a:xfrm>
          <a:prstGeom prst="rect">
            <a:avLst/>
          </a:prstGeom>
          <a:ln w="0">
            <a:noFill/>
          </a:ln>
        </p:spPr>
      </p:pic>
      <p:sp>
        <p:nvSpPr>
          <p:cNvPr id="1" name="Rectangle 2"/>
          <p:cNvSpPr/>
          <p:nvPr/>
        </p:nvSpPr>
        <p:spPr>
          <a:xfrm>
            <a:off x="0" y="0"/>
            <a:ext cx="9141120" cy="5140800"/>
          </a:xfrm>
          <a:prstGeom prst="rect">
            <a:avLst/>
          </a:prstGeom>
          <a:solidFill>
            <a:schemeClr val="accent1"/>
          </a:solidFill>
          <a:ln w="12600">
            <a:noFill/>
          </a:ln>
          <a:effectLst>
            <a:outerShdw blurRad="63360" dir="5400000" dist="25560" rotWithShape="0">
              <a:srgbClr val="808080">
                <a:alpha val="7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Rockwell"/>
              <a:ea typeface="MS PGothic"/>
            </a:endParaRPr>
          </a:p>
        </p:txBody>
      </p:sp>
      <p:pic>
        <p:nvPicPr>
          <p:cNvPr id="2" name="Picture 1" descr=""/>
          <p:cNvPicPr/>
          <p:nvPr/>
        </p:nvPicPr>
        <p:blipFill>
          <a:blip r:embed="rId3"/>
          <a:stretch/>
        </p:blipFill>
        <p:spPr>
          <a:xfrm>
            <a:off x="0" y="720"/>
            <a:ext cx="9138240" cy="513900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" descr=""/>
          <p:cNvPicPr/>
          <p:nvPr/>
        </p:nvPicPr>
        <p:blipFill>
          <a:blip r:embed="rId2"/>
          <a:srcRect l="0" t="-4" r="0" b="84"/>
          <a:stretch/>
        </p:blipFill>
        <p:spPr>
          <a:xfrm>
            <a:off x="0" y="0"/>
            <a:ext cx="9139320" cy="5134320"/>
          </a:xfrm>
          <a:prstGeom prst="rect">
            <a:avLst/>
          </a:prstGeom>
          <a:ln w="0">
            <a:noFill/>
          </a:ln>
        </p:spPr>
      </p:pic>
      <p:sp>
        <p:nvSpPr>
          <p:cNvPr id="8" name="PlaceHolder 1"/>
          <p:cNvSpPr>
            <a:spLocks noGrp="1"/>
          </p:cNvSpPr>
          <p:nvPr>
            <p:ph type="sldNum" idx="1"/>
          </p:nvPr>
        </p:nvSpPr>
        <p:spPr>
          <a:xfrm>
            <a:off x="7049160" y="4767120"/>
            <a:ext cx="2052720" cy="27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lt1">
                    <a:tint val="75000"/>
                  </a:schemeClr>
                </a:solidFill>
                <a:latin typeface="Rockwell"/>
                <a:ea typeface="MS P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2D479B8-BD76-4B96-80A0-A07B632A5FA8}" type="slidenum">
              <a:rPr b="0" lang="en-US" sz="1200" spc="-1" strike="noStrike">
                <a:solidFill>
                  <a:schemeClr val="lt1">
                    <a:tint val="75000"/>
                  </a:schemeClr>
                </a:solidFill>
                <a:latin typeface="Rockwell"/>
                <a:ea typeface="MS PGothic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3" descr=""/>
          <p:cNvPicPr/>
          <p:nvPr/>
        </p:nvPicPr>
        <p:blipFill>
          <a:blip r:embed="rId2"/>
          <a:srcRect l="0" t="-4" r="0" b="84"/>
          <a:stretch/>
        </p:blipFill>
        <p:spPr>
          <a:xfrm>
            <a:off x="0" y="0"/>
            <a:ext cx="9137520" cy="5132520"/>
          </a:xfrm>
          <a:prstGeom prst="rect">
            <a:avLst/>
          </a:prstGeom>
          <a:ln w="0">
            <a:noFill/>
          </a:ln>
        </p:spPr>
      </p:pic>
      <p:sp>
        <p:nvSpPr>
          <p:cNvPr id="12" name="PlaceHolder 1"/>
          <p:cNvSpPr>
            <a:spLocks noGrp="1"/>
          </p:cNvSpPr>
          <p:nvPr>
            <p:ph type="sldNum" idx="2"/>
          </p:nvPr>
        </p:nvSpPr>
        <p:spPr>
          <a:xfrm>
            <a:off x="7049160" y="4767120"/>
            <a:ext cx="2050920" cy="26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lt1">
                    <a:tint val="75000"/>
                  </a:schemeClr>
                </a:solidFill>
                <a:latin typeface="Rockwell"/>
                <a:ea typeface="MS P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BA710BB4-94C0-4F88-8378-AA909A19B2A7}" type="slidenum">
              <a:rPr b="0" lang="en-US" sz="1200" spc="-1" strike="noStrike">
                <a:solidFill>
                  <a:schemeClr val="lt1">
                    <a:tint val="75000"/>
                  </a:schemeClr>
                </a:solidFill>
                <a:latin typeface="Rockwell"/>
                <a:ea typeface="MS PGothic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871200" y="1603080"/>
            <a:ext cx="8269920" cy="805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4800" spc="-1" strike="noStrike">
                <a:solidFill>
                  <a:schemeClr val="lt1"/>
                </a:solidFill>
                <a:latin typeface="Arial"/>
                <a:ea typeface="MS PGothic"/>
              </a:rPr>
              <a:t>Generics &amp; Enumerations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871200" y="2310120"/>
            <a:ext cx="8106480" cy="6541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lt1"/>
                </a:solidFill>
                <a:latin typeface="Arial"/>
              </a:rPr>
              <a:t>Nuance &amp; Reusbility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" name="Graphic 2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3285360" y="2410920"/>
            <a:ext cx="3009960" cy="1804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/>
          </p:nvPr>
        </p:nvSpPr>
        <p:spPr>
          <a:xfrm>
            <a:off x="692280" y="1003320"/>
            <a:ext cx="7732080" cy="4251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algn="ctr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chemeClr val="lt1"/>
                </a:solidFill>
                <a:latin typeface="Cambria"/>
                <a:ea typeface="MS PGothic"/>
              </a:rPr>
              <a:t>Generics in Rust are similar to most modern languages.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title"/>
          </p:nvPr>
        </p:nvSpPr>
        <p:spPr>
          <a:xfrm>
            <a:off x="289800" y="388440"/>
            <a:ext cx="8561880" cy="834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Generic Types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TextBox 2"/>
          <p:cNvSpPr/>
          <p:nvPr/>
        </p:nvSpPr>
        <p:spPr>
          <a:xfrm>
            <a:off x="1792800" y="1438560"/>
            <a:ext cx="5411880" cy="3016440"/>
          </a:xfrm>
          <a:prstGeom prst="rect">
            <a:avLst/>
          </a:prstGeom>
          <a:solidFill>
            <a:srgbClr val="000000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00"/>
                </a:solidFill>
                <a:latin typeface="Consolas"/>
                <a:ea typeface="MS PGothic"/>
              </a:rPr>
              <a:t>struct </a:t>
            </a:r>
            <a:r>
              <a:rPr b="0" lang="en-US" sz="1200" spc="-1" strike="noStrike">
                <a:solidFill>
                  <a:srgbClr val="ff00ff"/>
                </a:solidFill>
                <a:latin typeface="Consolas"/>
                <a:ea typeface="MS PGothic"/>
              </a:rPr>
              <a:t>Point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&lt;</a:t>
            </a:r>
            <a:r>
              <a:rPr b="1" lang="en-US" sz="1200" spc="-1" strike="noStrike">
                <a:solidFill>
                  <a:srgbClr val="60e0e0"/>
                </a:solidFill>
                <a:latin typeface="Consolas"/>
                <a:ea typeface="MS PGothic"/>
              </a:rPr>
              <a:t>T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&gt; { x: </a:t>
            </a:r>
            <a:r>
              <a:rPr b="1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T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, y: </a:t>
            </a:r>
            <a:r>
              <a:rPr b="1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T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, }</a:t>
            </a:r>
            <a:endParaRPr b="0" lang="en-US" sz="1200" spc="-1" strike="noStrike">
              <a:solidFill>
                <a:srgbClr val="ffffff"/>
              </a:solidFill>
              <a:latin typeface="Consolas"/>
            </a:endParaRPr>
          </a:p>
          <a:p>
            <a:pPr defTabSz="457200"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Consolas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00"/>
                </a:solidFill>
                <a:latin typeface="Consolas"/>
                <a:ea typeface="Courier New"/>
              </a:rPr>
              <a:t>impl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Courier New"/>
              </a:rPr>
              <a:t>&lt;</a:t>
            </a:r>
            <a:r>
              <a:rPr b="1" lang="en-US" sz="1200" spc="-1" strike="noStrike">
                <a:solidFill>
                  <a:srgbClr val="60e0e0"/>
                </a:solidFill>
                <a:latin typeface="Consolas"/>
                <a:ea typeface="Courier New"/>
              </a:rPr>
              <a:t>T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Courier New"/>
              </a:rPr>
              <a:t>&gt;</a:t>
            </a:r>
            <a:r>
              <a:rPr b="0" lang="en-US" sz="1200" spc="-1" strike="noStrike">
                <a:solidFill>
                  <a:srgbClr val="ffff00"/>
                </a:solidFill>
                <a:latin typeface="Consolas"/>
                <a:ea typeface="Courier New"/>
              </a:rPr>
              <a:t> </a:t>
            </a:r>
            <a:r>
              <a:rPr b="0" lang="en-US" sz="1200" spc="-1" strike="noStrike">
                <a:solidFill>
                  <a:srgbClr val="ff00ff"/>
                </a:solidFill>
                <a:latin typeface="Consolas"/>
                <a:ea typeface="Courier New"/>
              </a:rPr>
              <a:t>Point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Courier New"/>
              </a:rPr>
              <a:t>&lt;</a:t>
            </a:r>
            <a:r>
              <a:rPr b="1" lang="en-US" sz="1200" spc="-1" strike="noStrike">
                <a:solidFill>
                  <a:srgbClr val="60e0e0"/>
                </a:solidFill>
                <a:latin typeface="Consolas"/>
                <a:ea typeface="Courier New"/>
              </a:rPr>
              <a:t>T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Courier New"/>
              </a:rPr>
              <a:t>&gt;</a:t>
            </a:r>
            <a:endParaRPr b="0" lang="en-US" sz="1200" spc="-1" strike="noStrike">
              <a:solidFill>
                <a:srgbClr val="ffffff"/>
              </a:solidFill>
              <a:latin typeface="Consolas"/>
              <a:ea typeface="Courier New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Courier New"/>
              </a:rPr>
              <a:t>{</a:t>
            </a:r>
            <a:endParaRPr b="0" lang="en-US" sz="1200" spc="-1" strike="noStrike">
              <a:solidFill>
                <a:srgbClr val="ffffff"/>
              </a:solidFill>
              <a:latin typeface="Consolas"/>
              <a:ea typeface="Courier New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Courier New"/>
              </a:rPr>
              <a:t>  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Courier New"/>
              </a:rPr>
              <a:t>pub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Courier New"/>
              </a:rPr>
              <a:t> 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Courier New"/>
              </a:rPr>
              <a:t>fn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Courier New"/>
              </a:rPr>
              <a:t> </a:t>
            </a:r>
            <a:r>
              <a:rPr b="1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Courier New"/>
              </a:rPr>
              <a:t>x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Courier New"/>
              </a:rPr>
              <a:t>(&amp;</a:t>
            </a:r>
            <a:r>
              <a:rPr b="1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Courier New"/>
              </a:rPr>
              <a:t>self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Courier New"/>
              </a:rPr>
              <a:t>) -&gt; &amp;</a:t>
            </a:r>
            <a:r>
              <a:rPr b="1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Courier New"/>
              </a:rPr>
              <a:t>T 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Courier New"/>
              </a:rPr>
              <a:t>{ &amp;</a:t>
            </a:r>
            <a:r>
              <a:rPr b="1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self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Courier New"/>
              </a:rPr>
              <a:t>.x }</a:t>
            </a:r>
            <a:endParaRPr b="0" lang="en-US" sz="1200" spc="-1" strike="noStrike">
              <a:solidFill>
                <a:srgbClr val="ffffff"/>
              </a:solidFill>
              <a:latin typeface="Consolas"/>
              <a:ea typeface="Courier New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Courier New"/>
              </a:rPr>
              <a:t>  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Courier New"/>
              </a:rPr>
              <a:t>pub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Courier New"/>
              </a:rPr>
              <a:t> 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Courier New"/>
              </a:rPr>
              <a:t>fn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Courier New"/>
              </a:rPr>
              <a:t> </a:t>
            </a:r>
            <a:r>
              <a:rPr b="1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Courier New"/>
              </a:rPr>
              <a:t>y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Courier New"/>
              </a:rPr>
              <a:t>(&amp;</a:t>
            </a:r>
            <a:r>
              <a:rPr b="1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Courier New"/>
              </a:rPr>
              <a:t>self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Courier New"/>
              </a:rPr>
              <a:t>) -&gt; &amp;</a:t>
            </a:r>
            <a:r>
              <a:rPr b="1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Courier New"/>
              </a:rPr>
              <a:t>T 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Courier New"/>
              </a:rPr>
              <a:t>{ &amp;</a:t>
            </a:r>
            <a:r>
              <a:rPr b="1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self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Courier New"/>
              </a:rPr>
              <a:t>.y }</a:t>
            </a:r>
            <a:endParaRPr b="0" lang="en-US" sz="1200" spc="-1" strike="noStrike">
              <a:solidFill>
                <a:srgbClr val="ffffff"/>
              </a:solidFill>
              <a:latin typeface="Consolas"/>
              <a:ea typeface="Courier New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Courier New"/>
              </a:rPr>
              <a:t>}</a:t>
            </a:r>
            <a:endParaRPr b="0" lang="en-US" sz="1200" spc="-1" strike="noStrike">
              <a:solidFill>
                <a:srgbClr val="ffffff"/>
              </a:solidFill>
              <a:latin typeface="Consolas"/>
              <a:ea typeface="Courier New"/>
            </a:endParaRPr>
          </a:p>
          <a:p>
            <a:pPr defTabSz="457200"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Consolas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00"/>
                </a:solidFill>
                <a:latin typeface="Consolas"/>
                <a:ea typeface="MS PGothic"/>
              </a:rPr>
              <a:t>fn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</a:t>
            </a:r>
            <a:r>
              <a:rPr b="1" lang="en-US" sz="1200" spc="-1" strike="noStrike">
                <a:solidFill>
                  <a:srgbClr val="729fcf"/>
                </a:solidFill>
                <a:latin typeface="Consolas"/>
                <a:ea typeface="MS PGothic"/>
              </a:rPr>
              <a:t>main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()</a:t>
            </a:r>
            <a:endParaRPr b="0" lang="en-US" sz="1200" spc="-1" strike="noStrike">
              <a:solidFill>
                <a:srgbClr val="ffffff"/>
              </a:solidFill>
              <a:latin typeface="Consolas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{</a:t>
            </a:r>
            <a:endParaRPr b="0" lang="en-US" sz="1200" spc="-1" strike="noStrike">
              <a:solidFill>
                <a:srgbClr val="ffffff"/>
              </a:solidFill>
              <a:latin typeface="Consolas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</a:t>
            </a:r>
            <a:r>
              <a:rPr b="0" lang="en-US" sz="1200" spc="-1" strike="noStrike">
                <a:solidFill>
                  <a:srgbClr val="ffff00"/>
                </a:solidFill>
                <a:latin typeface="Consolas"/>
                <a:ea typeface="MS PGothic"/>
              </a:rPr>
              <a:t>let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int_point: Point&lt;</a:t>
            </a:r>
            <a:r>
              <a:rPr b="1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i64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&gt; = Point { x: 42, y: 9001 };</a:t>
            </a:r>
            <a:endParaRPr b="0" lang="en-US" sz="1200" spc="-1" strike="noStrike">
              <a:solidFill>
                <a:srgbClr val="ffffff"/>
              </a:solidFill>
              <a:latin typeface="Consolas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</a:t>
            </a:r>
            <a:r>
              <a:rPr b="0" lang="en-US" sz="1200" spc="-1" strike="noStrike">
                <a:solidFill>
                  <a:srgbClr val="ffff00"/>
                </a:solidFill>
                <a:latin typeface="Consolas"/>
                <a:ea typeface="MS PGothic"/>
              </a:rPr>
              <a:t>let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float_point = Point { x: 3.14159, y: 2.0 };</a:t>
            </a:r>
            <a:endParaRPr b="0" lang="en-US" sz="1200" spc="-1" strike="noStrike">
              <a:solidFill>
                <a:srgbClr val="ffffff"/>
              </a:solidFill>
              <a:latin typeface="Consolas"/>
            </a:endParaRPr>
          </a:p>
          <a:p>
            <a:pPr defTabSz="457200"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Consolas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accent5">
                    <a:lumMod val="60000"/>
                    <a:lumOff val="40000"/>
                  </a:schemeClr>
                </a:solidFill>
                <a:latin typeface="Consolas"/>
                <a:ea typeface="MS PGothic"/>
              </a:rPr>
              <a:t>  </a:t>
            </a:r>
            <a:r>
              <a:rPr b="0" lang="en-US" sz="1200" spc="-1" strike="noStrike">
                <a:solidFill>
                  <a:schemeClr val="accent5">
                    <a:lumMod val="60000"/>
                    <a:lumOff val="40000"/>
                  </a:schemeClr>
                </a:solidFill>
                <a:latin typeface="Consolas"/>
                <a:ea typeface="MS PGothic"/>
              </a:rPr>
              <a:t>println!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(</a:t>
            </a:r>
            <a:r>
              <a:rPr b="0" lang="en-US" sz="1200" spc="-1" strike="noStrike">
                <a:solidFill>
                  <a:srgbClr val="00ff00"/>
                </a:solidFill>
                <a:latin typeface="Consolas"/>
                <a:ea typeface="MS PGothic"/>
              </a:rPr>
              <a:t>"x: {}; y: {}"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, int_point.x, int_point.y);</a:t>
            </a:r>
            <a:endParaRPr b="0" lang="en-US" sz="1200" spc="-1" strike="noStrike">
              <a:solidFill>
                <a:srgbClr val="ffffff"/>
              </a:solidFill>
              <a:latin typeface="Consolas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accent5">
                    <a:lumMod val="60000"/>
                    <a:lumOff val="40000"/>
                  </a:schemeClr>
                </a:solidFill>
                <a:latin typeface="Consolas"/>
                <a:ea typeface="MS PGothic"/>
              </a:rPr>
              <a:t>  </a:t>
            </a:r>
            <a:r>
              <a:rPr b="0" lang="en-US" sz="1200" spc="-1" strike="noStrike">
                <a:solidFill>
                  <a:schemeClr val="accent5">
                    <a:lumMod val="60000"/>
                    <a:lumOff val="40000"/>
                  </a:schemeClr>
                </a:solidFill>
                <a:latin typeface="Consolas"/>
                <a:ea typeface="MS PGothic"/>
              </a:rPr>
              <a:t>println!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(</a:t>
            </a:r>
            <a:r>
              <a:rPr b="0" lang="en-US" sz="1200" spc="-1" strike="noStrike">
                <a:solidFill>
                  <a:srgbClr val="00ff00"/>
                </a:solidFill>
                <a:latin typeface="Consolas"/>
                <a:ea typeface="MS PGothic"/>
              </a:rPr>
              <a:t>"x: {}; y: {}"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, float_point.x, float_point.y);</a:t>
            </a:r>
            <a:endParaRPr b="0" lang="en-US" sz="1200" spc="-1" strike="noStrike">
              <a:solidFill>
                <a:srgbClr val="ffffff"/>
              </a:solidFill>
              <a:latin typeface="Consolas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}</a:t>
            </a:r>
            <a:endParaRPr b="0" lang="en-US" sz="1200" spc="-1" strike="noStrike">
              <a:solidFill>
                <a:srgbClr val="ffffff"/>
              </a:solidFill>
              <a:latin typeface="Consolas"/>
            </a:endParaRPr>
          </a:p>
        </p:txBody>
      </p:sp>
      <p:sp>
        <p:nvSpPr>
          <p:cNvPr id="27" name="PlaceHolder 34"/>
          <p:cNvSpPr/>
          <p:nvPr/>
        </p:nvSpPr>
        <p:spPr>
          <a:xfrm>
            <a:off x="393480" y="4389480"/>
            <a:ext cx="8343360" cy="46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algn="ctr">
              <a:lnSpc>
                <a:spcPct val="100000"/>
              </a:lnSpc>
              <a:spcBef>
                <a:spcPts val="2001"/>
              </a:spcBef>
              <a:tabLst>
                <a:tab algn="l" pos="0"/>
              </a:tabLst>
            </a:pPr>
            <a:r>
              <a:rPr b="0" lang="en-US" sz="2200" spc="-1" strike="noStrike">
                <a:solidFill>
                  <a:schemeClr val="lt1"/>
                </a:solidFill>
                <a:latin typeface="Cambria"/>
                <a:ea typeface="MS PGothic"/>
              </a:rPr>
              <a:t>If operations are type-limited, we can constrain type via trait.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8" name=""/>
          <p:cNvCxnSpPr>
            <a:endCxn id="29" idx="1"/>
          </p:cNvCxnSpPr>
          <p:nvPr/>
        </p:nvCxnSpPr>
        <p:spPr>
          <a:xfrm flipH="1" flipV="1" rot="5400000">
            <a:off x="4624920" y="2262600"/>
            <a:ext cx="202320" cy="1900800"/>
          </a:xfrm>
          <a:prstGeom prst="bentConnector3">
            <a:avLst>
              <a:gd name="adj1" fmla="val 0"/>
            </a:avLst>
          </a:prstGeom>
          <a:ln w="12600">
            <a:solidFill>
              <a:srgbClr val="ffff00"/>
            </a:solidFill>
            <a:round/>
          </a:ln>
        </p:spPr>
      </p:cxnSp>
      <p:sp>
        <p:nvSpPr>
          <p:cNvPr id="30" name=""/>
          <p:cNvSpPr/>
          <p:nvPr/>
        </p:nvSpPr>
        <p:spPr>
          <a:xfrm>
            <a:off x="4739400" y="1590840"/>
            <a:ext cx="1280160" cy="360"/>
          </a:xfrm>
          <a:prstGeom prst="line">
            <a:avLst/>
          </a:prstGeom>
          <a:ln w="1260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-51120" bIns="-5112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Consolas"/>
              <a:ea typeface="DejaVu Sans"/>
            </a:endParaRPr>
          </a:p>
        </p:txBody>
      </p:sp>
      <p:sp>
        <p:nvSpPr>
          <p:cNvPr id="31" name="TextBox 1"/>
          <p:cNvSpPr/>
          <p:nvPr/>
        </p:nvSpPr>
        <p:spPr>
          <a:xfrm rot="2400">
            <a:off x="5727960" y="1490400"/>
            <a:ext cx="1378440" cy="333360"/>
          </a:xfrm>
          <a:prstGeom prst="rect">
            <a:avLst/>
          </a:prstGeom>
          <a:solidFill>
            <a:srgbClr val="1a3552"/>
          </a:solidFill>
          <a:ln w="0">
            <a:solidFill>
              <a:srgbClr val="ffffff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00ffff"/>
                </a:solidFill>
                <a:latin typeface="Times New Roman"/>
                <a:ea typeface="MS PGothic"/>
              </a:rPr>
              <a:t>generic type </a:t>
            </a:r>
            <a:r>
              <a:rPr b="0" lang="en-US" sz="1400" spc="-1" strike="noStrike">
                <a:solidFill>
                  <a:srgbClr val="00ffff"/>
                </a:solidFill>
                <a:latin typeface="Consolas"/>
                <a:ea typeface="MS PGothic"/>
              </a:rPr>
              <a:t>T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9" name="TextBox 4"/>
          <p:cNvSpPr/>
          <p:nvPr/>
        </p:nvSpPr>
        <p:spPr>
          <a:xfrm rot="2400">
            <a:off x="5676120" y="2945520"/>
            <a:ext cx="1477080" cy="333360"/>
          </a:xfrm>
          <a:prstGeom prst="rect">
            <a:avLst/>
          </a:prstGeom>
          <a:solidFill>
            <a:srgbClr val="1a3552"/>
          </a:solidFill>
          <a:ln w="0">
            <a:solidFill>
              <a:srgbClr val="ffffff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00ffff"/>
                </a:solidFill>
                <a:latin typeface="Times New Roman"/>
                <a:ea typeface="MS PGothic"/>
              </a:rPr>
              <a:t>explicitly typed</a:t>
            </a:r>
            <a:endParaRPr b="0" lang="en-US" sz="1600" spc="-1" strike="noStrike">
              <a:solidFill>
                <a:srgbClr val="ffffff"/>
              </a:solidFill>
              <a:latin typeface="Times New Roman"/>
            </a:endParaRPr>
          </a:p>
        </p:txBody>
      </p:sp>
      <p:cxnSp>
        <p:nvCxnSpPr>
          <p:cNvPr id="32" name=""/>
          <p:cNvCxnSpPr/>
          <p:nvPr/>
        </p:nvCxnSpPr>
        <p:spPr>
          <a:xfrm flipH="1" rot="16200000">
            <a:off x="5266800" y="2381760"/>
            <a:ext cx="92520" cy="2720880"/>
          </a:xfrm>
          <a:prstGeom prst="bentConnector3">
            <a:avLst>
              <a:gd name="adj1" fmla="val 0"/>
            </a:avLst>
          </a:prstGeom>
          <a:ln w="12600">
            <a:solidFill>
              <a:srgbClr val="ffff00"/>
            </a:solidFill>
            <a:round/>
          </a:ln>
        </p:spPr>
      </p:cxnSp>
      <p:sp>
        <p:nvSpPr>
          <p:cNvPr id="33" name="TextBox 5"/>
          <p:cNvSpPr/>
          <p:nvPr/>
        </p:nvSpPr>
        <p:spPr>
          <a:xfrm rot="2400">
            <a:off x="6335640" y="3560040"/>
            <a:ext cx="812520" cy="334080"/>
          </a:xfrm>
          <a:prstGeom prst="rect">
            <a:avLst/>
          </a:prstGeom>
          <a:solidFill>
            <a:srgbClr val="1a3552"/>
          </a:solidFill>
          <a:ln w="0">
            <a:solidFill>
              <a:srgbClr val="ffffff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00ffff"/>
                </a:solidFill>
                <a:latin typeface="Times New Roman"/>
                <a:ea typeface="MS PGothic"/>
              </a:rPr>
              <a:t>implicit</a:t>
            </a:r>
            <a:endParaRPr b="0" lang="en-US" sz="16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9D6C8910-A168-45B8-9329-D4D5BF129136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5" dur="500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8" dur="500"/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1" dur="500"/>
                                        <p:tgtEl>
                                          <p:spTgt spid="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6" dur="500"/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9" dur="500"/>
                                        <p:tgtEl>
                                          <p:spTgt spid="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4" dur="500"/>
                                        <p:tgtEl>
                                          <p:spTgt spid="2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7" dur="500"/>
                                        <p:tgtEl>
                                          <p:spTgt spid="2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0" dur="500"/>
                                        <p:tgtEl>
                                          <p:spTgt spid="2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5" dur="500"/>
                                        <p:tgtEl>
                                          <p:spTgt spid="2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8" dur="500"/>
                                        <p:tgtEl>
                                          <p:spTgt spid="2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9" dur="500"/>
                                        <p:tgtEl>
                                          <p:spTgt spid="2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2" dur="500"/>
                                        <p:tgtEl>
                                          <p:spTgt spid="2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/>
          </p:nvPr>
        </p:nvSpPr>
        <p:spPr>
          <a:xfrm>
            <a:off x="692280" y="1327320"/>
            <a:ext cx="7732080" cy="4251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algn="ctr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chemeClr val="lt1"/>
                </a:solidFill>
                <a:latin typeface="Cambria"/>
                <a:ea typeface="MS PGothic"/>
              </a:rPr>
              <a:t>Generics in Rust are similar to most modern languages.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title"/>
          </p:nvPr>
        </p:nvSpPr>
        <p:spPr>
          <a:xfrm>
            <a:off x="289800" y="604440"/>
            <a:ext cx="8561880" cy="834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Generic Types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TextBox 21"/>
          <p:cNvSpPr/>
          <p:nvPr/>
        </p:nvSpPr>
        <p:spPr>
          <a:xfrm>
            <a:off x="1612800" y="1870560"/>
            <a:ext cx="6336360" cy="2224440"/>
          </a:xfrm>
          <a:prstGeom prst="rect">
            <a:avLst/>
          </a:prstGeom>
          <a:solidFill>
            <a:srgbClr val="000000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ffff00"/>
                </a:solidFill>
                <a:latin typeface="Consolas"/>
                <a:ea typeface="MS PGothic"/>
              </a:rPr>
              <a:t>struct </a:t>
            </a:r>
            <a:r>
              <a:rPr b="0" lang="en-US" sz="1400" spc="-1" strike="noStrike">
                <a:solidFill>
                  <a:srgbClr val="ff00ff"/>
                </a:solidFill>
                <a:latin typeface="Consolas"/>
                <a:ea typeface="MS PGothic"/>
              </a:rPr>
              <a:t>Point</a:t>
            </a:r>
            <a:r>
              <a:rPr b="0" lang="en-US" sz="14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&lt;</a:t>
            </a:r>
            <a:r>
              <a:rPr b="1" lang="en-US" sz="1400" spc="-1" strike="noStrike">
                <a:solidFill>
                  <a:srgbClr val="60e0e0"/>
                </a:solidFill>
                <a:latin typeface="Consolas"/>
                <a:ea typeface="MS PGothic"/>
              </a:rPr>
              <a:t>T</a:t>
            </a:r>
            <a:r>
              <a:rPr b="0" lang="en-US" sz="14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&gt; { x: </a:t>
            </a:r>
            <a:r>
              <a:rPr b="1" lang="en-US" sz="14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T</a:t>
            </a:r>
            <a:r>
              <a:rPr b="0" lang="en-US" sz="14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, y: </a:t>
            </a:r>
            <a:r>
              <a:rPr b="1" lang="en-US" sz="14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T</a:t>
            </a:r>
            <a:r>
              <a:rPr b="0" lang="en-US" sz="14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, }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ffff00"/>
                </a:solidFill>
                <a:latin typeface="Consolas"/>
                <a:ea typeface="MS PGothic"/>
              </a:rPr>
              <a:t>fn</a:t>
            </a:r>
            <a:r>
              <a:rPr b="0" lang="en-US" sz="14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</a:t>
            </a:r>
            <a:r>
              <a:rPr b="1" lang="en-US" sz="1400" spc="-1" strike="noStrike">
                <a:solidFill>
                  <a:srgbClr val="729fcf"/>
                </a:solidFill>
                <a:latin typeface="Consolas"/>
                <a:ea typeface="MS PGothic"/>
              </a:rPr>
              <a:t>main</a:t>
            </a:r>
            <a:r>
              <a:rPr b="0" lang="en-US" sz="14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()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{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</a:t>
            </a:r>
            <a:r>
              <a:rPr b="0" lang="en-US" sz="1400" spc="-1" strike="noStrike">
                <a:solidFill>
                  <a:srgbClr val="ffff00"/>
                </a:solidFill>
                <a:latin typeface="Consolas"/>
                <a:ea typeface="MS PGothic"/>
              </a:rPr>
              <a:t>let</a:t>
            </a:r>
            <a:r>
              <a:rPr b="0" lang="en-US" sz="14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int_point: Point&lt;</a:t>
            </a:r>
            <a:r>
              <a:rPr b="1" lang="en-US" sz="14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i64</a:t>
            </a:r>
            <a:r>
              <a:rPr b="0" lang="en-US" sz="14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&gt; = Point { x: 42, y: 9001 };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</a:t>
            </a:r>
            <a:r>
              <a:rPr b="0" lang="en-US" sz="1400" spc="-1" strike="noStrike">
                <a:solidFill>
                  <a:srgbClr val="ffff00"/>
                </a:solidFill>
                <a:latin typeface="Consolas"/>
                <a:ea typeface="MS PGothic"/>
              </a:rPr>
              <a:t>let</a:t>
            </a:r>
            <a:r>
              <a:rPr b="0" lang="en-US" sz="14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float_point = Point { x: 3.14159, y: 2.0 };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chemeClr val="accent5">
                    <a:lumMod val="60000"/>
                    <a:lumOff val="40000"/>
                  </a:schemeClr>
                </a:solidFill>
                <a:latin typeface="Consolas"/>
                <a:ea typeface="MS PGothic"/>
              </a:rPr>
              <a:t>  </a:t>
            </a:r>
            <a:r>
              <a:rPr b="0" lang="en-US" sz="1400" spc="-1" strike="noStrike">
                <a:solidFill>
                  <a:schemeClr val="accent5">
                    <a:lumMod val="60000"/>
                    <a:lumOff val="40000"/>
                  </a:schemeClr>
                </a:solidFill>
                <a:latin typeface="Consolas"/>
                <a:ea typeface="MS PGothic"/>
              </a:rPr>
              <a:t>println!</a:t>
            </a:r>
            <a:r>
              <a:rPr b="0" lang="en-US" sz="14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(</a:t>
            </a:r>
            <a:r>
              <a:rPr b="0" lang="en-US" sz="1400" spc="-1" strike="noStrike">
                <a:solidFill>
                  <a:srgbClr val="00ff00"/>
                </a:solidFill>
                <a:latin typeface="Consolas"/>
                <a:ea typeface="MS PGothic"/>
              </a:rPr>
              <a:t>"x: {}; y: {}"</a:t>
            </a:r>
            <a:r>
              <a:rPr b="0" lang="en-US" sz="14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, int_point.x, int_point.y);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chemeClr val="accent5">
                    <a:lumMod val="60000"/>
                    <a:lumOff val="40000"/>
                  </a:schemeClr>
                </a:solidFill>
                <a:latin typeface="Consolas"/>
                <a:ea typeface="MS PGothic"/>
              </a:rPr>
              <a:t>  </a:t>
            </a:r>
            <a:r>
              <a:rPr b="0" lang="en-US" sz="1400" spc="-1" strike="noStrike">
                <a:solidFill>
                  <a:schemeClr val="accent5">
                    <a:lumMod val="60000"/>
                    <a:lumOff val="40000"/>
                  </a:schemeClr>
                </a:solidFill>
                <a:latin typeface="Consolas"/>
                <a:ea typeface="MS PGothic"/>
              </a:rPr>
              <a:t>println!</a:t>
            </a:r>
            <a:r>
              <a:rPr b="0" lang="en-US" sz="14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(</a:t>
            </a:r>
            <a:r>
              <a:rPr b="0" lang="en-US" sz="1400" spc="-1" strike="noStrike">
                <a:solidFill>
                  <a:srgbClr val="00ff00"/>
                </a:solidFill>
                <a:latin typeface="Consolas"/>
                <a:ea typeface="MS PGothic"/>
              </a:rPr>
              <a:t>"x: {}; y: {}"</a:t>
            </a:r>
            <a:r>
              <a:rPr b="0" lang="en-US" sz="14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, float_point.x, float_point.y);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}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PlaceHolder 9"/>
          <p:cNvSpPr/>
          <p:nvPr/>
        </p:nvSpPr>
        <p:spPr>
          <a:xfrm>
            <a:off x="393480" y="4173480"/>
            <a:ext cx="8343360" cy="46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algn="ctr">
              <a:lnSpc>
                <a:spcPct val="100000"/>
              </a:lnSpc>
              <a:spcBef>
                <a:spcPts val="2001"/>
              </a:spcBef>
              <a:tabLst>
                <a:tab algn="l" pos="0"/>
              </a:tabLst>
            </a:pPr>
            <a:r>
              <a:rPr b="0" lang="en-US" sz="2200" spc="-1" strike="noStrike">
                <a:solidFill>
                  <a:schemeClr val="lt1"/>
                </a:solidFill>
                <a:latin typeface="Cambria"/>
                <a:ea typeface="MS PGothic"/>
              </a:rPr>
              <a:t>If operations are type-limited, we can constrain type via trait.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38" name=""/>
          <p:cNvCxnSpPr>
            <a:endCxn id="39" idx="1"/>
          </p:cNvCxnSpPr>
          <p:nvPr/>
        </p:nvCxnSpPr>
        <p:spPr>
          <a:xfrm flipH="1" flipV="1" rot="5400000">
            <a:off x="4883400" y="1593000"/>
            <a:ext cx="217440" cy="2216880"/>
          </a:xfrm>
          <a:prstGeom prst="bentConnector3">
            <a:avLst>
              <a:gd name="adj1" fmla="val 0"/>
            </a:avLst>
          </a:prstGeom>
          <a:ln w="12600">
            <a:solidFill>
              <a:srgbClr val="ffff00"/>
            </a:solidFill>
            <a:round/>
          </a:ln>
        </p:spPr>
      </p:cxnSp>
      <p:sp>
        <p:nvSpPr>
          <p:cNvPr id="40" name=""/>
          <p:cNvSpPr/>
          <p:nvPr/>
        </p:nvSpPr>
        <p:spPr>
          <a:xfrm>
            <a:off x="5059440" y="2039040"/>
            <a:ext cx="1280160" cy="360"/>
          </a:xfrm>
          <a:prstGeom prst="line">
            <a:avLst/>
          </a:prstGeom>
          <a:ln w="1260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-51120" bIns="-5112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Consolas"/>
              <a:ea typeface="DejaVu Sans"/>
            </a:endParaRPr>
          </a:p>
        </p:txBody>
      </p:sp>
      <p:sp>
        <p:nvSpPr>
          <p:cNvPr id="41" name="TextBox 22"/>
          <p:cNvSpPr/>
          <p:nvPr/>
        </p:nvSpPr>
        <p:spPr>
          <a:xfrm rot="2400">
            <a:off x="6309360" y="1938240"/>
            <a:ext cx="1693080" cy="303120"/>
          </a:xfrm>
          <a:prstGeom prst="rect">
            <a:avLst/>
          </a:prstGeom>
          <a:solidFill>
            <a:srgbClr val="1a3552"/>
          </a:solidFill>
          <a:ln w="0">
            <a:solidFill>
              <a:srgbClr val="ffffff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00ffff"/>
                </a:solidFill>
                <a:latin typeface="Consolas"/>
                <a:ea typeface="MS PGothic"/>
              </a:rPr>
              <a:t>generic type T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TextBox 23"/>
          <p:cNvSpPr/>
          <p:nvPr/>
        </p:nvSpPr>
        <p:spPr>
          <a:xfrm rot="2400">
            <a:off x="6100200" y="2441520"/>
            <a:ext cx="1903320" cy="303120"/>
          </a:xfrm>
          <a:prstGeom prst="rect">
            <a:avLst/>
          </a:prstGeom>
          <a:solidFill>
            <a:srgbClr val="1a3552"/>
          </a:solidFill>
          <a:ln w="0">
            <a:solidFill>
              <a:srgbClr val="ffffff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00ffff"/>
                </a:solidFill>
                <a:latin typeface="Consolas"/>
                <a:ea typeface="MS PGothic"/>
              </a:rPr>
              <a:t>explicitly typed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42" name=""/>
          <p:cNvCxnSpPr/>
          <p:nvPr/>
        </p:nvCxnSpPr>
        <p:spPr>
          <a:xfrm>
            <a:off x="4074120" y="3192120"/>
            <a:ext cx="3652920" cy="92520"/>
          </a:xfrm>
          <a:prstGeom prst="bentConnector3">
            <a:avLst>
              <a:gd name="adj1" fmla="val 19"/>
            </a:avLst>
          </a:prstGeom>
          <a:ln w="12600">
            <a:solidFill>
              <a:srgbClr val="ffff00"/>
            </a:solidFill>
            <a:round/>
          </a:ln>
        </p:spPr>
      </p:cxnSp>
      <p:sp>
        <p:nvSpPr>
          <p:cNvPr id="43" name="TextBox 24"/>
          <p:cNvSpPr/>
          <p:nvPr/>
        </p:nvSpPr>
        <p:spPr>
          <a:xfrm rot="2400">
            <a:off x="6956640" y="3056400"/>
            <a:ext cx="1046880" cy="303120"/>
          </a:xfrm>
          <a:prstGeom prst="rect">
            <a:avLst/>
          </a:prstGeom>
          <a:solidFill>
            <a:srgbClr val="1a3552"/>
          </a:solidFill>
          <a:ln w="0">
            <a:solidFill>
              <a:srgbClr val="ffffff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00ffff"/>
                </a:solidFill>
                <a:latin typeface="Consolas"/>
                <a:ea typeface="MS PGothic"/>
              </a:rPr>
              <a:t>implicit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F2879573-F563-447D-9563-5392DAB4AA8A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88" dur="indefinite" restart="never" nodeType="tmRoot">
          <p:childTnLst>
            <p:seq>
              <p:cTn id="89" dur="indefinite" nodeType="mainSeq">
                <p:childTnLst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9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2" dur="500"/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5" dur="500"/>
                                        <p:tgtEl>
                                          <p:spTgt spid="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8" dur="500"/>
                                        <p:tgtEl>
                                          <p:spTgt spid="3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3" dur="500"/>
                                        <p:tgtEl>
                                          <p:spTgt spid="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6" dur="500"/>
                                        <p:tgtEl>
                                          <p:spTgt spid="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4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4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49" dur="500"/>
                                        <p:tgtEl>
                                          <p:spTgt spid="3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52" dur="500"/>
                                        <p:tgtEl>
                                          <p:spTgt spid="3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5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289800" y="548640"/>
            <a:ext cx="8557560" cy="8305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Rust Enums: The Basics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5"/>
          <p:cNvSpPr/>
          <p:nvPr/>
        </p:nvSpPr>
        <p:spPr>
          <a:xfrm>
            <a:off x="1440" y="1249560"/>
            <a:ext cx="913932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algn="ctr">
              <a:lnSpc>
                <a:spcPct val="100000"/>
              </a:lnSpc>
              <a:spcBef>
                <a:spcPts val="2001"/>
              </a:spcBef>
              <a:tabLst>
                <a:tab algn="l" pos="0"/>
              </a:tabLst>
            </a:pPr>
            <a:r>
              <a:rPr b="0" lang="en-US" sz="2000" spc="-1" strike="noStrike">
                <a:solidFill>
                  <a:schemeClr val="lt1"/>
                </a:solidFill>
                <a:latin typeface="Cambria"/>
                <a:ea typeface="MS PGothic"/>
              </a:rPr>
              <a:t>Of course, enumeration values hold an enumeration state...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TextBox 3"/>
          <p:cNvSpPr/>
          <p:nvPr/>
        </p:nvSpPr>
        <p:spPr>
          <a:xfrm>
            <a:off x="2040480" y="1698840"/>
            <a:ext cx="4958280" cy="569160"/>
          </a:xfrm>
          <a:prstGeom prst="rect">
            <a:avLst/>
          </a:prstGeom>
          <a:solidFill>
            <a:srgbClr val="000000"/>
          </a:solidFill>
          <a:ln w="0">
            <a:solidFill>
              <a:srgbClr val="ffffff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ffff00"/>
                </a:solidFill>
                <a:latin typeface="Consolas"/>
                <a:ea typeface="Courier New"/>
              </a:rPr>
              <a:t>enum</a:t>
            </a:r>
            <a:r>
              <a:rPr b="0" lang="en-US" sz="105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Courier New"/>
              </a:rPr>
              <a:t> </a:t>
            </a:r>
            <a:r>
              <a:rPr b="0" lang="en-US" sz="1050" spc="-1" strike="noStrike">
                <a:solidFill>
                  <a:srgbClr val="ff00ff"/>
                </a:solidFill>
                <a:latin typeface="Consolas"/>
                <a:ea typeface="Courier New"/>
              </a:rPr>
              <a:t>CoolishType</a:t>
            </a:r>
            <a:r>
              <a:rPr b="0" lang="en-US" sz="105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Courier New"/>
              </a:rPr>
              <a:t> { Vanilla, Chocolate, Peach, }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Courier New"/>
              </a:rPr>
              <a:t>let my_snack_type = CoolishType::Vanilla;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TextBox 6"/>
          <p:cNvSpPr/>
          <p:nvPr/>
        </p:nvSpPr>
        <p:spPr>
          <a:xfrm>
            <a:off x="2040480" y="2844720"/>
            <a:ext cx="4958280" cy="1847880"/>
          </a:xfrm>
          <a:prstGeom prst="rect">
            <a:avLst/>
          </a:prstGeom>
          <a:solidFill>
            <a:srgbClr val="000000"/>
          </a:solidFill>
          <a:ln w="0">
            <a:solidFill>
              <a:srgbClr val="ffffff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ffff00"/>
                </a:solidFill>
                <a:latin typeface="Consolas"/>
                <a:ea typeface="Courier New"/>
              </a:rPr>
              <a:t>enum</a:t>
            </a:r>
            <a:r>
              <a:rPr b="0" lang="en-US" sz="105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Courier New"/>
              </a:rPr>
              <a:t> </a:t>
            </a:r>
            <a:r>
              <a:rPr b="0" lang="en-US" sz="1050" spc="-1" strike="noStrike">
                <a:solidFill>
                  <a:srgbClr val="ff00ff"/>
                </a:solidFill>
                <a:latin typeface="Consolas"/>
                <a:ea typeface="Courier New"/>
              </a:rPr>
              <a:t>Passport</a:t>
            </a:r>
            <a:r>
              <a:rPr b="0" lang="en-US" sz="105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Courier New"/>
              </a:rPr>
              <a:t> { USA(</a:t>
            </a:r>
            <a:r>
              <a:rPr b="0" lang="en-US" sz="105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String</a:t>
            </a:r>
            <a:r>
              <a:rPr b="0" lang="en-US" sz="105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Courier New"/>
              </a:rPr>
              <a:t>), Japan(</a:t>
            </a:r>
            <a:r>
              <a:rPr b="0" lang="en-US" sz="105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String</a:t>
            </a:r>
            <a:r>
              <a:rPr b="0" lang="en-US" sz="105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Courier New"/>
              </a:rPr>
              <a:t>), }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ffff00"/>
                </a:solidFill>
                <a:latin typeface="Consolas"/>
                <a:ea typeface="Courier New"/>
              </a:rPr>
              <a:t>let</a:t>
            </a:r>
            <a:r>
              <a:rPr b="0" lang="en-US" sz="105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Courier New"/>
              </a:rPr>
              <a:t> </a:t>
            </a:r>
            <a:r>
              <a:rPr b="0" lang="en-US" sz="1050" spc="-1" strike="noStrike">
                <a:solidFill>
                  <a:srgbClr val="d9d9d9"/>
                </a:solidFill>
                <a:latin typeface="Consolas"/>
                <a:ea typeface="Courier New"/>
              </a:rPr>
              <a:t>salaryman</a:t>
            </a:r>
            <a:r>
              <a:rPr b="0" lang="en-US" sz="105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Courier New"/>
              </a:rPr>
              <a:t> = </a:t>
            </a:r>
            <a:r>
              <a:rPr b="0" lang="en-US" sz="1050" spc="-1" strike="noStrike">
                <a:solidFill>
                  <a:srgbClr val="ff00ff"/>
                </a:solidFill>
                <a:latin typeface="Consolas"/>
                <a:ea typeface="Courier New"/>
              </a:rPr>
              <a:t>Passport</a:t>
            </a:r>
            <a:r>
              <a:rPr b="0" lang="en-US" sz="105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Courier New"/>
              </a:rPr>
              <a:t>::Japan(</a:t>
            </a:r>
            <a:r>
              <a:rPr b="0" lang="en-US" sz="1050" spc="-1" strike="noStrike">
                <a:solidFill>
                  <a:srgbClr val="00ff00"/>
                </a:solidFill>
                <a:latin typeface="Consolas"/>
                <a:ea typeface="MS PGothic"/>
              </a:rPr>
              <a:t>"Hiro Inoue"</a:t>
            </a:r>
            <a:r>
              <a:rPr b="0" lang="en-US" sz="105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Courier New"/>
              </a:rPr>
              <a:t>.to_string());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ffff00"/>
                </a:solidFill>
                <a:latin typeface="Consolas"/>
                <a:ea typeface="Courier New"/>
              </a:rPr>
              <a:t>let</a:t>
            </a:r>
            <a:r>
              <a:rPr b="0" lang="en-US" sz="105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Courier New"/>
              </a:rPr>
              <a:t> tourist = </a:t>
            </a:r>
            <a:r>
              <a:rPr b="0" lang="en-US" sz="1050" spc="-1" strike="noStrike">
                <a:solidFill>
                  <a:srgbClr val="ff00ff"/>
                </a:solidFill>
                <a:latin typeface="Consolas"/>
                <a:ea typeface="Courier New"/>
              </a:rPr>
              <a:t>Passport</a:t>
            </a:r>
            <a:r>
              <a:rPr b="0" lang="en-US" sz="105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Courier New"/>
              </a:rPr>
              <a:t>::USA(</a:t>
            </a:r>
            <a:r>
              <a:rPr b="0" lang="en-US" sz="1050" spc="-1" strike="noStrike">
                <a:solidFill>
                  <a:srgbClr val="00ff00"/>
                </a:solidFill>
                <a:latin typeface="Consolas"/>
                <a:ea typeface="MS PGothic"/>
              </a:rPr>
              <a:t>"Jimmy Dean"</a:t>
            </a:r>
            <a:r>
              <a:rPr b="0" lang="en-US" sz="105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Courier New"/>
              </a:rPr>
              <a:t>.to_string());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ffff00"/>
                </a:solidFill>
                <a:latin typeface="Consolas"/>
                <a:ea typeface="Courier New"/>
              </a:rPr>
              <a:t>let</a:t>
            </a:r>
            <a:r>
              <a:rPr b="0" lang="en-US" sz="1050" spc="-1" strike="noStrike">
                <a:solidFill>
                  <a:srgbClr val="ffffff"/>
                </a:solidFill>
                <a:latin typeface="Consolas"/>
                <a:ea typeface="Courier New"/>
              </a:rPr>
              <a:t> </a:t>
            </a:r>
            <a:r>
              <a:rPr b="0" lang="en-US" sz="1050" spc="-1" strike="noStrike">
                <a:solidFill>
                  <a:srgbClr val="d9d9d9"/>
                </a:solidFill>
                <a:latin typeface="Consolas"/>
                <a:ea typeface="Courier New"/>
              </a:rPr>
              <a:t>salutation = </a:t>
            </a:r>
            <a:r>
              <a:rPr b="0" lang="en-US" sz="1050" spc="-1" strike="noStrike">
                <a:solidFill>
                  <a:srgbClr val="ffff00"/>
                </a:solidFill>
                <a:latin typeface="Consolas"/>
                <a:ea typeface="Courier New"/>
              </a:rPr>
              <a:t>match</a:t>
            </a:r>
            <a:r>
              <a:rPr b="0" lang="en-US" sz="1050" spc="-1" strike="noStrike">
                <a:solidFill>
                  <a:srgbClr val="d9d9d9"/>
                </a:solidFill>
                <a:latin typeface="Consolas"/>
                <a:ea typeface="Courier New"/>
              </a:rPr>
              <a:t> tourist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9d9d9"/>
                </a:solidFill>
                <a:latin typeface="Consolas"/>
                <a:ea typeface="Courier New"/>
              </a:rPr>
              <a:t>{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ffffff"/>
                </a:solidFill>
                <a:latin typeface="Consolas"/>
                <a:ea typeface="Courier New"/>
              </a:rPr>
              <a:t>  </a:t>
            </a:r>
            <a:r>
              <a:rPr b="0" lang="en-US" sz="1050" spc="-1" strike="noStrike">
                <a:solidFill>
                  <a:srgbClr val="ff00ff"/>
                </a:solidFill>
                <a:latin typeface="Consolas"/>
                <a:ea typeface="Courier New"/>
              </a:rPr>
              <a:t>Passport</a:t>
            </a:r>
            <a:r>
              <a:rPr b="0" lang="en-US" sz="1050" spc="-1" strike="noStrike">
                <a:solidFill>
                  <a:srgbClr val="d9d9d9"/>
                </a:solidFill>
                <a:latin typeface="Consolas"/>
                <a:ea typeface="Courier New"/>
              </a:rPr>
              <a:t>::USA(name) =&gt; </a:t>
            </a:r>
            <a:r>
              <a:rPr b="0" lang="en-US" sz="1050" spc="-1" strike="noStrike">
                <a:solidFill>
                  <a:srgbClr val="ff9080"/>
                </a:solidFill>
                <a:latin typeface="Consolas"/>
                <a:ea typeface="Courier New"/>
              </a:rPr>
              <a:t>format!</a:t>
            </a:r>
            <a:r>
              <a:rPr b="0" lang="en-US" sz="1050" spc="-1" strike="noStrike">
                <a:solidFill>
                  <a:srgbClr val="d9d9d9"/>
                </a:solidFill>
                <a:latin typeface="Consolas"/>
                <a:ea typeface="Courier New"/>
              </a:rPr>
              <a:t>(</a:t>
            </a:r>
            <a:r>
              <a:rPr b="0" lang="en-US" sz="1050" spc="-1" strike="noStrike">
                <a:solidFill>
                  <a:srgbClr val="00ff00"/>
                </a:solidFill>
                <a:latin typeface="Consolas"/>
                <a:ea typeface="Courier New"/>
              </a:rPr>
              <a:t>"Hello, Dr. {name}!"</a:t>
            </a:r>
            <a:r>
              <a:rPr b="0" lang="en-US" sz="1050" spc="-1" strike="noStrike">
                <a:solidFill>
                  <a:srgbClr val="d9d9d9"/>
                </a:solidFill>
                <a:latin typeface="Consolas"/>
                <a:ea typeface="Courier New"/>
              </a:rPr>
              <a:t>),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9d9d9"/>
                </a:solidFill>
                <a:latin typeface="Consolas"/>
                <a:ea typeface="Courier New"/>
              </a:rPr>
              <a:t>  </a:t>
            </a:r>
            <a:r>
              <a:rPr b="0" lang="en-US" sz="1050" spc="-1" strike="noStrike">
                <a:solidFill>
                  <a:srgbClr val="ff00ff"/>
                </a:solidFill>
                <a:latin typeface="Consolas"/>
                <a:ea typeface="Courier New"/>
              </a:rPr>
              <a:t>Passport</a:t>
            </a:r>
            <a:r>
              <a:rPr b="0" lang="en-US" sz="1050" spc="-1" strike="noStrike">
                <a:solidFill>
                  <a:srgbClr val="d9d9d9"/>
                </a:solidFill>
                <a:latin typeface="Consolas"/>
                <a:ea typeface="Courier New"/>
              </a:rPr>
              <a:t>::Japan(name) =&gt; </a:t>
            </a:r>
            <a:r>
              <a:rPr b="0" lang="en-US" sz="1050" spc="-1" strike="noStrike">
                <a:solidFill>
                  <a:srgbClr val="ff9080"/>
                </a:solidFill>
                <a:latin typeface="Consolas"/>
                <a:ea typeface="Courier New"/>
              </a:rPr>
              <a:t>format!</a:t>
            </a:r>
            <a:r>
              <a:rPr b="0" lang="en-US" sz="1050" spc="-1" strike="noStrike">
                <a:solidFill>
                  <a:srgbClr val="d9d9d9"/>
                </a:solidFill>
                <a:latin typeface="Consolas"/>
                <a:ea typeface="Courier New"/>
              </a:rPr>
              <a:t>(</a:t>
            </a:r>
            <a:r>
              <a:rPr b="0" lang="en-US" sz="1050" spc="-1" strike="noStrike">
                <a:solidFill>
                  <a:srgbClr val="00ff00"/>
                </a:solidFill>
                <a:latin typeface="Consolas"/>
                <a:ea typeface="Courier New"/>
              </a:rPr>
              <a:t>"Hi, {name}-san!"</a:t>
            </a:r>
            <a:r>
              <a:rPr b="0" lang="en-US" sz="1050" spc="-1" strike="noStrike">
                <a:solidFill>
                  <a:srgbClr val="d9d9d9"/>
                </a:solidFill>
                <a:latin typeface="Consolas"/>
                <a:ea typeface="Courier New"/>
              </a:rPr>
              <a:t>),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9d9d9"/>
                </a:solidFill>
                <a:latin typeface="Consolas"/>
                <a:ea typeface="Courier New"/>
              </a:rPr>
              <a:t>  </a:t>
            </a:r>
            <a:r>
              <a:rPr b="0" lang="en-US" sz="1050" spc="-1" strike="noStrike">
                <a:solidFill>
                  <a:srgbClr val="d9d9d9"/>
                </a:solidFill>
                <a:latin typeface="Consolas"/>
                <a:ea typeface="Courier New"/>
              </a:rPr>
              <a:t>_ =&gt; </a:t>
            </a:r>
            <a:r>
              <a:rPr b="0" lang="en-US" sz="1050" spc="-1" strike="noStrike">
                <a:solidFill>
                  <a:srgbClr val="00ff00"/>
                </a:solidFill>
                <a:latin typeface="Consolas"/>
                <a:ea typeface="Courier New"/>
              </a:rPr>
              <a:t>"Hello... you."</a:t>
            </a:r>
            <a:r>
              <a:rPr b="0" lang="en-US" sz="105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Courier New"/>
              </a:rPr>
              <a:t>.to_string()</a:t>
            </a:r>
            <a:r>
              <a:rPr b="0" lang="en-US" sz="1050" spc="-1" strike="noStrike">
                <a:solidFill>
                  <a:srgbClr val="d9d9d9"/>
                </a:solidFill>
                <a:latin typeface="Consolas"/>
                <a:ea typeface="Courier New"/>
              </a:rPr>
              <a:t> </a:t>
            </a:r>
            <a:r>
              <a:rPr b="0" lang="en-US" sz="105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Courier New"/>
              </a:rPr>
              <a:t>// Unreachable warning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9d9d9"/>
                </a:solidFill>
                <a:latin typeface="Consolas"/>
                <a:ea typeface="Courier New"/>
              </a:rPr>
              <a:t>};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PlaceHolder 6"/>
          <p:cNvSpPr/>
          <p:nvPr/>
        </p:nvSpPr>
        <p:spPr>
          <a:xfrm>
            <a:off x="702000" y="2398320"/>
            <a:ext cx="773604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algn="ctr">
              <a:lnSpc>
                <a:spcPct val="100000"/>
              </a:lnSpc>
              <a:spcBef>
                <a:spcPts val="2001"/>
              </a:spcBef>
              <a:tabLst>
                <a:tab algn="l" pos="0"/>
              </a:tabLst>
            </a:pPr>
            <a:r>
              <a:rPr b="0" lang="en-US" sz="2000" spc="-1" strike="noStrike">
                <a:solidFill>
                  <a:schemeClr val="lt1"/>
                </a:solidFill>
                <a:latin typeface="Cambria"/>
                <a:ea typeface="MS PGothic"/>
              </a:rPr>
              <a:t>...but they can also contain other types of data: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1350352-4F6D-4092-AD44-03D51EE95C34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58" dur="indefinite" restart="never" nodeType="tmRoot">
          <p:childTnLst>
            <p:seq>
              <p:cTn id="159" dur="indefinite" nodeType="mainSeq">
                <p:childTnLst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6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67" dur="5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72" dur="500"/>
                                        <p:tgtEl>
                                          <p:spTgt spid="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7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8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87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92" dur="500"/>
                                        <p:tgtEl>
                                          <p:spTgt spid="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95" dur="500"/>
                                        <p:tgtEl>
                                          <p:spTgt spid="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00" dur="500"/>
                                        <p:tgtEl>
                                          <p:spTgt spid="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03" dur="500"/>
                                        <p:tgtEl>
                                          <p:spTgt spid="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06" dur="500"/>
                                        <p:tgtEl>
                                          <p:spTgt spid="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11" dur="500"/>
                                        <p:tgtEl>
                                          <p:spTgt spid="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16" dur="500"/>
                                        <p:tgtEl>
                                          <p:spTgt spid="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19" dur="500"/>
                                        <p:tgtEl>
                                          <p:spTgt spid="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289800" y="620640"/>
            <a:ext cx="8557560" cy="8305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Rust Enums: Enumerations on Steroids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11"/>
          <p:cNvSpPr/>
          <p:nvPr/>
        </p:nvSpPr>
        <p:spPr>
          <a:xfrm>
            <a:off x="0" y="1340640"/>
            <a:ext cx="913932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algn="ctr">
              <a:lnSpc>
                <a:spcPct val="100000"/>
              </a:lnSpc>
              <a:spcBef>
                <a:spcPts val="2001"/>
              </a:spcBef>
              <a:tabLst>
                <a:tab algn="l" pos="0"/>
              </a:tabLst>
            </a:pPr>
            <a:r>
              <a:rPr b="0" lang="en-US" sz="2000" spc="-1" strike="noStrike">
                <a:solidFill>
                  <a:schemeClr val="lt1"/>
                </a:solidFill>
                <a:latin typeface="Cambria"/>
                <a:ea typeface="MS PGothic"/>
              </a:rPr>
              <a:t>Along with an enumeration state, instances can contain other values: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TextBox 9"/>
          <p:cNvSpPr/>
          <p:nvPr/>
        </p:nvSpPr>
        <p:spPr>
          <a:xfrm>
            <a:off x="262440" y="1851840"/>
            <a:ext cx="4958280" cy="2487240"/>
          </a:xfrm>
          <a:prstGeom prst="rect">
            <a:avLst/>
          </a:prstGeom>
          <a:solidFill>
            <a:srgbClr val="000000"/>
          </a:solidFill>
          <a:ln w="0">
            <a:solidFill>
              <a:srgbClr val="ffffff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Courier New"/>
              </a:rPr>
              <a:t>// Enumeration practice :)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ffff00"/>
                </a:solidFill>
                <a:latin typeface="Consolas"/>
                <a:ea typeface="Courier New"/>
              </a:rPr>
              <a:t>enum</a:t>
            </a:r>
            <a:r>
              <a:rPr b="0" lang="en-US" sz="105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Courier New"/>
              </a:rPr>
              <a:t> </a:t>
            </a:r>
            <a:r>
              <a:rPr b="0" lang="en-US" sz="1050" spc="-1" strike="noStrike">
                <a:solidFill>
                  <a:srgbClr val="ff00ff"/>
                </a:solidFill>
                <a:latin typeface="Consolas"/>
                <a:ea typeface="Courier New"/>
              </a:rPr>
              <a:t>CoolishType</a:t>
            </a:r>
            <a:r>
              <a:rPr b="0" lang="en-US" sz="105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Courier New"/>
              </a:rPr>
              <a:t> { Vanilla, Chocolate, Peach, }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ffff00"/>
                </a:solidFill>
                <a:latin typeface="Consolas"/>
                <a:ea typeface="Courier New"/>
              </a:rPr>
              <a:t>enum</a:t>
            </a:r>
            <a:r>
              <a:rPr b="0" lang="en-US" sz="105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Courier New"/>
              </a:rPr>
              <a:t> </a:t>
            </a:r>
            <a:r>
              <a:rPr b="0" lang="en-US" sz="1050" spc="-1" strike="noStrike">
                <a:solidFill>
                  <a:srgbClr val="ff00ff"/>
                </a:solidFill>
                <a:latin typeface="Consolas"/>
                <a:ea typeface="Courier New"/>
              </a:rPr>
              <a:t>JpnNoms</a:t>
            </a:r>
            <a:r>
              <a:rPr b="0" lang="en-US" sz="105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Courier New"/>
              </a:rPr>
              <a:t> { Coolish(</a:t>
            </a:r>
            <a:r>
              <a:rPr b="0" lang="en-US" sz="1050" spc="-1" strike="noStrike">
                <a:solidFill>
                  <a:srgbClr val="ff00ff"/>
                </a:solidFill>
                <a:latin typeface="Consolas"/>
                <a:ea typeface="Courier New"/>
              </a:rPr>
              <a:t>CoolishType</a:t>
            </a:r>
            <a:r>
              <a:rPr b="0" lang="en-US" sz="105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Courier New"/>
              </a:rPr>
              <a:t>), Pocky(</a:t>
            </a:r>
            <a:r>
              <a:rPr b="0" lang="en-US" sz="105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String</a:t>
            </a:r>
            <a:r>
              <a:rPr b="0" lang="en-US" sz="105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Courier New"/>
              </a:rPr>
              <a:t>), None, }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ffff00"/>
                </a:solidFill>
                <a:latin typeface="Consolas"/>
                <a:ea typeface="Courier New"/>
              </a:rPr>
              <a:t>let</a:t>
            </a:r>
            <a:r>
              <a:rPr b="0" lang="en-US" sz="1050" spc="-1" strike="noStrike">
                <a:solidFill>
                  <a:srgbClr val="d9d9d9"/>
                </a:solidFill>
                <a:latin typeface="Consolas"/>
                <a:ea typeface="Courier New"/>
              </a:rPr>
              <a:t> cool_n_tasty = </a:t>
            </a:r>
            <a:r>
              <a:rPr b="0" lang="en-US" sz="1050" spc="-1" strike="noStrike">
                <a:solidFill>
                  <a:srgbClr val="ff00ff"/>
                </a:solidFill>
                <a:latin typeface="Consolas"/>
                <a:ea typeface="Courier New"/>
              </a:rPr>
              <a:t>JpnNoms</a:t>
            </a:r>
            <a:r>
              <a:rPr b="0" lang="en-US" sz="1050" spc="-1" strike="noStrike">
                <a:solidFill>
                  <a:srgbClr val="d9d9d9"/>
                </a:solidFill>
                <a:latin typeface="Consolas"/>
                <a:ea typeface="Courier New"/>
              </a:rPr>
              <a:t>::Coolish(</a:t>
            </a:r>
            <a:r>
              <a:rPr b="0" lang="en-US" sz="1050" spc="-1" strike="noStrike">
                <a:solidFill>
                  <a:srgbClr val="ff00ff"/>
                </a:solidFill>
                <a:latin typeface="Consolas"/>
                <a:ea typeface="Courier New"/>
              </a:rPr>
              <a:t>CoolishType</a:t>
            </a:r>
            <a:r>
              <a:rPr b="0" lang="en-US" sz="1050" spc="-1" strike="noStrike">
                <a:solidFill>
                  <a:srgbClr val="d9d9d9"/>
                </a:solidFill>
                <a:latin typeface="Consolas"/>
                <a:ea typeface="Courier New"/>
              </a:rPr>
              <a:t>::Vanilla);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ffff00"/>
                </a:solidFill>
                <a:latin typeface="Consolas"/>
                <a:ea typeface="Courier New"/>
              </a:rPr>
              <a:t>let</a:t>
            </a:r>
            <a:r>
              <a:rPr b="0" lang="en-US" sz="1050" spc="-1" strike="noStrike">
                <a:solidFill>
                  <a:srgbClr val="d9d9d9"/>
                </a:solidFill>
                <a:latin typeface="Consolas"/>
                <a:ea typeface="Courier New"/>
              </a:rPr>
              <a:t> sweet_n_snappy = </a:t>
            </a:r>
            <a:r>
              <a:rPr b="0" lang="en-US" sz="1050" spc="-1" strike="noStrike">
                <a:solidFill>
                  <a:srgbClr val="ff00ff"/>
                </a:solidFill>
                <a:latin typeface="Consolas"/>
                <a:ea typeface="Courier New"/>
              </a:rPr>
              <a:t>JpnNoms</a:t>
            </a:r>
            <a:r>
              <a:rPr b="0" lang="en-US" sz="1050" spc="-1" strike="noStrike">
                <a:solidFill>
                  <a:srgbClr val="d9d9d9"/>
                </a:solidFill>
                <a:latin typeface="Consolas"/>
                <a:ea typeface="Courier New"/>
              </a:rPr>
              <a:t>::Pocky(</a:t>
            </a:r>
            <a:r>
              <a:rPr b="0" lang="en-US" sz="1050" spc="-1" strike="noStrike">
                <a:solidFill>
                  <a:srgbClr val="00ff00"/>
                </a:solidFill>
                <a:latin typeface="Consolas"/>
                <a:ea typeface="MS PGothic"/>
              </a:rPr>
              <a:t>"Dark"</a:t>
            </a:r>
            <a:r>
              <a:rPr b="0" lang="en-US" sz="1050" spc="-1" strike="noStrike">
                <a:solidFill>
                  <a:srgbClr val="d9d9d9"/>
                </a:solidFill>
                <a:latin typeface="Consolas"/>
                <a:ea typeface="Courier New"/>
              </a:rPr>
              <a:t>.to_string());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ffff00"/>
                </a:solidFill>
                <a:latin typeface="Consolas"/>
                <a:ea typeface="Courier New"/>
              </a:rPr>
              <a:t>let</a:t>
            </a:r>
            <a:r>
              <a:rPr b="0" lang="en-US" sz="1050" spc="-1" strike="noStrike">
                <a:solidFill>
                  <a:srgbClr val="d9d9d9"/>
                </a:solidFill>
                <a:latin typeface="Consolas"/>
                <a:ea typeface="Courier New"/>
              </a:rPr>
              <a:t> boring_n_sad = </a:t>
            </a:r>
            <a:r>
              <a:rPr b="0" lang="en-US" sz="1050" spc="-1" strike="noStrike">
                <a:solidFill>
                  <a:srgbClr val="ff00ff"/>
                </a:solidFill>
                <a:latin typeface="Consolas"/>
                <a:ea typeface="Courier New"/>
              </a:rPr>
              <a:t>JpnNoms</a:t>
            </a:r>
            <a:r>
              <a:rPr b="0" lang="en-US" sz="1050" spc="-1" strike="noStrike">
                <a:solidFill>
                  <a:srgbClr val="d9d9d9"/>
                </a:solidFill>
                <a:latin typeface="Consolas"/>
                <a:ea typeface="Courier New"/>
              </a:rPr>
              <a:t>::None;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ffff00"/>
                </a:solidFill>
                <a:latin typeface="Consolas"/>
                <a:ea typeface="Courier New"/>
              </a:rPr>
              <a:t>let</a:t>
            </a:r>
            <a:r>
              <a:rPr b="0" lang="en-US" sz="1050" spc="-1" strike="noStrike">
                <a:solidFill>
                  <a:srgbClr val="d9d9d9"/>
                </a:solidFill>
                <a:latin typeface="Consolas"/>
                <a:ea typeface="Courier New"/>
              </a:rPr>
              <a:t> noms = cool_n_tasty;</a:t>
            </a:r>
            <a:r>
              <a:rPr b="0" lang="en-US" sz="105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Courier New"/>
              </a:rPr>
              <a:t> </a:t>
            </a:r>
            <a:r>
              <a:rPr b="0" lang="en-US" sz="1050" spc="-1" strike="noStrike">
                <a:solidFill>
                  <a:srgbClr val="729fcf"/>
                </a:solidFill>
                <a:latin typeface="Consolas"/>
                <a:ea typeface="Courier New"/>
              </a:rPr>
              <a:t>// Moving value!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ffff00"/>
                </a:solidFill>
                <a:latin typeface="Consolas"/>
                <a:ea typeface="Courier New"/>
              </a:rPr>
              <a:t>if let</a:t>
            </a:r>
            <a:r>
              <a:rPr b="0" lang="en-US" sz="1050" spc="-1" strike="noStrike">
                <a:solidFill>
                  <a:srgbClr val="ffffff"/>
                </a:solidFill>
                <a:latin typeface="Consolas"/>
                <a:ea typeface="Courier New"/>
              </a:rPr>
              <a:t> </a:t>
            </a:r>
            <a:r>
              <a:rPr b="0" lang="en-US" sz="1050" spc="-1" strike="noStrike">
                <a:solidFill>
                  <a:srgbClr val="ff00ff"/>
                </a:solidFill>
                <a:latin typeface="Consolas"/>
                <a:ea typeface="Courier New"/>
              </a:rPr>
              <a:t>JpnNoms</a:t>
            </a:r>
            <a:r>
              <a:rPr b="0" lang="en-US" sz="105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Courier New"/>
              </a:rPr>
              <a:t>::Pocky(flavor) = noms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Courier New"/>
              </a:rPr>
              <a:t>{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ffffff"/>
                </a:solidFill>
                <a:latin typeface="Consolas"/>
                <a:ea typeface="Courier New"/>
              </a:rPr>
              <a:t>  </a:t>
            </a:r>
            <a:r>
              <a:rPr b="0" lang="en-US" sz="1050" spc="-1" strike="noStrike">
                <a:solidFill>
                  <a:srgbClr val="ff9080"/>
                </a:solidFill>
                <a:latin typeface="Consolas"/>
                <a:ea typeface="Courier New"/>
              </a:rPr>
              <a:t>println</a:t>
            </a:r>
            <a:r>
              <a:rPr b="0" lang="en-US" sz="1050" spc="-1" strike="noStrike">
                <a:solidFill>
                  <a:schemeClr val="accent5">
                    <a:lumMod val="60000"/>
                    <a:lumOff val="40000"/>
                  </a:schemeClr>
                </a:solidFill>
                <a:latin typeface="Consolas"/>
                <a:ea typeface="Courier New"/>
              </a:rPr>
              <a:t>!</a:t>
            </a:r>
            <a:r>
              <a:rPr b="0" lang="en-US" sz="105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Courier New"/>
              </a:rPr>
              <a:t>(</a:t>
            </a:r>
            <a:r>
              <a:rPr b="0" lang="en-US" sz="1050" spc="-1" strike="noStrike">
                <a:solidFill>
                  <a:srgbClr val="00ff00"/>
                </a:solidFill>
                <a:latin typeface="Consolas"/>
                <a:ea typeface="Courier New"/>
              </a:rPr>
              <a:t>"This flavor is {}"</a:t>
            </a:r>
            <a:r>
              <a:rPr b="0" lang="en-US" sz="105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Courier New"/>
              </a:rPr>
              <a:t>, flavor);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Courier New"/>
              </a:rPr>
              <a:t>}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TextBox 10"/>
          <p:cNvSpPr/>
          <p:nvPr/>
        </p:nvSpPr>
        <p:spPr>
          <a:xfrm>
            <a:off x="5277960" y="1851840"/>
            <a:ext cx="3618000" cy="2487240"/>
          </a:xfrm>
          <a:prstGeom prst="rect">
            <a:avLst/>
          </a:prstGeom>
          <a:solidFill>
            <a:srgbClr val="000000"/>
          </a:solidFill>
          <a:ln w="0">
            <a:solidFill>
              <a:srgbClr val="ffffff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ffff00"/>
                </a:solidFill>
                <a:latin typeface="Consolas"/>
                <a:ea typeface="Courier New"/>
              </a:rPr>
              <a:t>else if let</a:t>
            </a:r>
            <a:r>
              <a:rPr b="0" lang="en-US" sz="105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Courier New"/>
              </a:rPr>
              <a:t> </a:t>
            </a:r>
            <a:r>
              <a:rPr b="0" lang="en-US" sz="1050" spc="-1" strike="noStrike">
                <a:solidFill>
                  <a:srgbClr val="ff00ff"/>
                </a:solidFill>
                <a:latin typeface="Consolas"/>
                <a:ea typeface="Courier New"/>
              </a:rPr>
              <a:t>JpnNoms</a:t>
            </a:r>
            <a:r>
              <a:rPr b="0" lang="en-US" sz="105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Courier New"/>
              </a:rPr>
              <a:t>::Coolish(which) = noms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Courier New"/>
              </a:rPr>
              <a:t>{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Courier New"/>
              </a:rPr>
              <a:t>  </a:t>
            </a:r>
            <a:r>
              <a:rPr b="0" lang="en-US" sz="1050" spc="-1" strike="noStrike">
                <a:solidFill>
                  <a:srgbClr val="ffff00"/>
                </a:solidFill>
                <a:latin typeface="Consolas"/>
                <a:ea typeface="Courier New"/>
              </a:rPr>
              <a:t>let</a:t>
            </a:r>
            <a:r>
              <a:rPr b="0" lang="en-US" sz="105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Courier New"/>
              </a:rPr>
              <a:t> </a:t>
            </a:r>
            <a:r>
              <a:rPr b="0" lang="en-US" sz="105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desc = </a:t>
            </a:r>
            <a:r>
              <a:rPr b="0" lang="en-US" sz="1050" spc="-1" strike="noStrike">
                <a:solidFill>
                  <a:srgbClr val="ffff00"/>
                </a:solidFill>
                <a:latin typeface="Consolas"/>
                <a:ea typeface="MS PGothic"/>
              </a:rPr>
              <a:t>match</a:t>
            </a:r>
            <a:r>
              <a:rPr b="0" lang="en-US" sz="105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which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</a:t>
            </a:r>
            <a:r>
              <a:rPr b="0" lang="en-US" sz="105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{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Courier New"/>
              </a:rPr>
              <a:t>    </a:t>
            </a:r>
            <a:r>
              <a:rPr b="0" lang="en-US" sz="1050" spc="-1" strike="noStrike">
                <a:solidFill>
                  <a:srgbClr val="ff00ff"/>
                </a:solidFill>
                <a:latin typeface="Consolas"/>
                <a:ea typeface="Courier New"/>
              </a:rPr>
              <a:t>CoolishType</a:t>
            </a:r>
            <a:r>
              <a:rPr b="0" lang="en-US" sz="105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Courier New"/>
              </a:rPr>
              <a:t>::Vanilla =&gt; </a:t>
            </a:r>
            <a:r>
              <a:rPr b="0" lang="en-US" sz="1050" spc="-1" strike="noStrike">
                <a:solidFill>
                  <a:srgbClr val="00ff00"/>
                </a:solidFill>
                <a:latin typeface="Consolas"/>
                <a:ea typeface="Courier New"/>
              </a:rPr>
              <a:t>"classic"</a:t>
            </a:r>
            <a:r>
              <a:rPr b="0" lang="en-US" sz="105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Courier New"/>
              </a:rPr>
              <a:t>,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Courier New"/>
              </a:rPr>
              <a:t>    </a:t>
            </a:r>
            <a:r>
              <a:rPr b="0" lang="en-US" sz="1050" spc="-1" strike="noStrike">
                <a:solidFill>
                  <a:srgbClr val="ff00ff"/>
                </a:solidFill>
                <a:latin typeface="Consolas"/>
                <a:ea typeface="Courier New"/>
              </a:rPr>
              <a:t>CoolishType</a:t>
            </a:r>
            <a:r>
              <a:rPr b="0" lang="en-US" sz="105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Courier New"/>
              </a:rPr>
              <a:t>::Chocolate =&gt; </a:t>
            </a:r>
            <a:r>
              <a:rPr b="0" lang="en-US" sz="1050" spc="-1" strike="noStrike">
                <a:solidFill>
                  <a:srgbClr val="00ff00"/>
                </a:solidFill>
                <a:latin typeface="Consolas"/>
                <a:ea typeface="Courier New"/>
              </a:rPr>
              <a:t>"delightful"</a:t>
            </a:r>
            <a:r>
              <a:rPr b="0" lang="en-US" sz="105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Courier New"/>
              </a:rPr>
              <a:t>,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Courier New"/>
              </a:rPr>
              <a:t>    </a:t>
            </a:r>
            <a:r>
              <a:rPr b="0" lang="en-US" sz="1050" spc="-1" strike="noStrike">
                <a:solidFill>
                  <a:srgbClr val="ff00ff"/>
                </a:solidFill>
                <a:latin typeface="Consolas"/>
                <a:ea typeface="Courier New"/>
              </a:rPr>
              <a:t>CoolishType</a:t>
            </a:r>
            <a:r>
              <a:rPr b="0" lang="en-US" sz="105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Courier New"/>
              </a:rPr>
              <a:t>::Peach =&gt; </a:t>
            </a:r>
            <a:r>
              <a:rPr b="0" lang="en-US" sz="1050" spc="-1" strike="noStrike">
                <a:solidFill>
                  <a:srgbClr val="00ff00"/>
                </a:solidFill>
                <a:latin typeface="Consolas"/>
                <a:ea typeface="Courier New"/>
              </a:rPr>
              <a:t>"refreshing"</a:t>
            </a:r>
            <a:r>
              <a:rPr b="0" lang="en-US" sz="105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Courier New"/>
              </a:rPr>
              <a:t>,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ffffff"/>
                </a:solidFill>
                <a:latin typeface="Consolas"/>
                <a:ea typeface="Courier New"/>
              </a:rPr>
              <a:t> </a:t>
            </a:r>
            <a:r>
              <a:rPr b="0" lang="en-US" sz="1050" spc="-1" strike="noStrike">
                <a:solidFill>
                  <a:srgbClr val="d9d9d9"/>
                </a:solidFill>
                <a:latin typeface="Consolas"/>
                <a:ea typeface="Courier New"/>
              </a:rPr>
              <a:t> </a:t>
            </a:r>
            <a:r>
              <a:rPr b="0" lang="en-US" sz="1050" spc="-1" strike="noStrike">
                <a:solidFill>
                  <a:srgbClr val="d9d9d9"/>
                </a:solidFill>
                <a:latin typeface="Consolas"/>
                <a:ea typeface="Courier New"/>
              </a:rPr>
              <a:t>};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ffffff"/>
                </a:solidFill>
                <a:latin typeface="Consolas"/>
                <a:ea typeface="Courier New"/>
              </a:rPr>
              <a:t>  </a:t>
            </a:r>
            <a:r>
              <a:rPr b="0" lang="en-US" sz="1050" spc="-1" strike="noStrike">
                <a:solidFill>
                  <a:schemeClr val="accent5">
                    <a:lumMod val="60000"/>
                    <a:lumOff val="40000"/>
                  </a:schemeClr>
                </a:solidFill>
                <a:latin typeface="Consolas"/>
                <a:ea typeface="Courier New"/>
              </a:rPr>
              <a:t>println!</a:t>
            </a:r>
            <a:r>
              <a:rPr b="0" lang="en-US" sz="105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Courier New"/>
              </a:rPr>
              <a:t>(</a:t>
            </a:r>
            <a:r>
              <a:rPr b="0" lang="en-US" sz="1050" spc="-1" strike="noStrike">
                <a:solidFill>
                  <a:srgbClr val="00ff00"/>
                </a:solidFill>
                <a:latin typeface="Consolas"/>
                <a:ea typeface="Courier New"/>
              </a:rPr>
              <a:t>"This Coolish is {}"</a:t>
            </a:r>
            <a:r>
              <a:rPr b="0" lang="en-US" sz="105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Courier New"/>
              </a:rPr>
              <a:t>, desc);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9d9d9"/>
                </a:solidFill>
                <a:latin typeface="Consolas"/>
                <a:ea typeface="Courier New"/>
              </a:rPr>
              <a:t>}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ffff00"/>
                </a:solidFill>
                <a:latin typeface="Consolas"/>
                <a:ea typeface="Courier New"/>
              </a:rPr>
              <a:t>else if let</a:t>
            </a:r>
            <a:r>
              <a:rPr b="0" lang="en-US" sz="1050" spc="-1" strike="noStrike">
                <a:solidFill>
                  <a:srgbClr val="d9d9d9"/>
                </a:solidFill>
                <a:latin typeface="Consolas"/>
                <a:ea typeface="Courier New"/>
              </a:rPr>
              <a:t> </a:t>
            </a:r>
            <a:r>
              <a:rPr b="0" lang="en-US" sz="1050" spc="-1" strike="noStrike">
                <a:solidFill>
                  <a:srgbClr val="ff00ff"/>
                </a:solidFill>
                <a:latin typeface="Consolas"/>
                <a:ea typeface="Courier New"/>
              </a:rPr>
              <a:t>JpnNoms</a:t>
            </a:r>
            <a:r>
              <a:rPr b="0" lang="en-US" sz="1050" spc="-1" strike="noStrike">
                <a:solidFill>
                  <a:srgbClr val="d9d9d9"/>
                </a:solidFill>
                <a:latin typeface="Consolas"/>
                <a:ea typeface="Courier New"/>
              </a:rPr>
              <a:t>::None = noms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9d9d9"/>
                </a:solidFill>
                <a:latin typeface="Consolas"/>
                <a:ea typeface="Courier New"/>
              </a:rPr>
              <a:t>{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Courier New"/>
              </a:rPr>
              <a:t>  </a:t>
            </a:r>
            <a:r>
              <a:rPr b="0" lang="en-US" sz="1050" spc="-1" strike="noStrike">
                <a:solidFill>
                  <a:schemeClr val="accent5">
                    <a:lumMod val="60000"/>
                    <a:lumOff val="40000"/>
                  </a:schemeClr>
                </a:solidFill>
                <a:latin typeface="Consolas"/>
                <a:ea typeface="Courier New"/>
              </a:rPr>
              <a:t>println!</a:t>
            </a:r>
            <a:r>
              <a:rPr b="0" lang="en-US" sz="1050" spc="-1" strike="noStrike">
                <a:solidFill>
                  <a:srgbClr val="d9d9d9"/>
                </a:solidFill>
                <a:latin typeface="Consolas"/>
                <a:ea typeface="Courier New"/>
              </a:rPr>
              <a:t>(</a:t>
            </a:r>
            <a:r>
              <a:rPr b="0" lang="en-US" sz="1050" spc="-1" strike="noStrike">
                <a:solidFill>
                  <a:srgbClr val="00ff00"/>
                </a:solidFill>
                <a:latin typeface="Consolas"/>
                <a:ea typeface="Courier New"/>
              </a:rPr>
              <a:t>"Tragic!"</a:t>
            </a:r>
            <a:r>
              <a:rPr b="0" lang="en-US" sz="1050" spc="-1" strike="noStrike">
                <a:solidFill>
                  <a:srgbClr val="d9d9d9"/>
                </a:solidFill>
                <a:latin typeface="Consolas"/>
                <a:ea typeface="Courier New"/>
              </a:rPr>
              <a:t>);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d9d9d9"/>
                </a:solidFill>
                <a:latin typeface="Consolas"/>
                <a:ea typeface="Courier New"/>
              </a:rPr>
              <a:t>}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ffff00"/>
                </a:solidFill>
                <a:latin typeface="Consolas"/>
                <a:ea typeface="Courier New"/>
              </a:rPr>
              <a:t>else</a:t>
            </a:r>
            <a:r>
              <a:rPr b="0" lang="en-US" sz="1050" spc="-1" strike="noStrike">
                <a:solidFill>
                  <a:srgbClr val="d9d9d9"/>
                </a:solidFill>
                <a:latin typeface="Consolas"/>
                <a:ea typeface="Courier New"/>
              </a:rPr>
              <a:t> { </a:t>
            </a:r>
            <a:r>
              <a:rPr b="0" lang="en-US" sz="1050" spc="-1" strike="noStrike">
                <a:solidFill>
                  <a:schemeClr val="accent5">
                    <a:lumMod val="60000"/>
                    <a:lumOff val="40000"/>
                  </a:schemeClr>
                </a:solidFill>
                <a:latin typeface="Consolas"/>
                <a:ea typeface="Courier New"/>
              </a:rPr>
              <a:t>unreachable!</a:t>
            </a:r>
            <a:r>
              <a:rPr b="0" lang="en-US" sz="1050" spc="-1" strike="noStrike">
                <a:solidFill>
                  <a:srgbClr val="d9d9d9"/>
                </a:solidFill>
                <a:latin typeface="Consolas"/>
                <a:ea typeface="Courier New"/>
              </a:rPr>
              <a:t>(); }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C791699-9BB7-4A12-8CB3-64BE497158DB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20" dur="indefinite" restart="never" nodeType="tmRoot">
          <p:childTnLst>
            <p:seq>
              <p:cTn id="221" dur="indefinite" nodeType="mainSeq">
                <p:childTnLst>
                  <p:par>
                    <p:cTn id="222" fill="hold">
                      <p:stCondLst>
                        <p:cond delay="indefinite"/>
                      </p:stCondLst>
                      <p:childTnLst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id="22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2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31" dur="500"/>
                                        <p:tgtEl>
                                          <p:spTgt spid="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>
                      <p:stCondLst>
                        <p:cond delay="indefinite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36" dur="500"/>
                                        <p:tgtEl>
                                          <p:spTgt spid="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39" dur="500"/>
                                        <p:tgtEl>
                                          <p:spTgt spid="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42" dur="500"/>
                                        <p:tgtEl>
                                          <p:spTgt spid="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47" dur="500"/>
                                        <p:tgtEl>
                                          <p:spTgt spid="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>
                      <p:stCondLst>
                        <p:cond delay="indefinite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id="25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52" dur="500"/>
                                        <p:tgtEl>
                                          <p:spTgt spid="5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55" dur="500"/>
                                        <p:tgtEl>
                                          <p:spTgt spid="5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58" dur="500"/>
                                        <p:tgtEl>
                                          <p:spTgt spid="5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>
                      <p:stCondLst>
                        <p:cond delay="indefinite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63" dur="500"/>
                                        <p:tgtEl>
                                          <p:spTgt spid="5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4" fill="hold">
                      <p:stCondLst>
                        <p:cond delay="indefinite"/>
                      </p:stCondLst>
                      <p:childTnLst>
                        <p:par>
                          <p:cTn id="265" fill="hold">
                            <p:stCondLst>
                              <p:cond delay="0"/>
                            </p:stCondLst>
                            <p:childTnLst>
                              <p:par>
                                <p:cTn id="26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6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9" fill="hold">
                      <p:stCondLst>
                        <p:cond delay="indefinite"/>
                      </p:stCondLst>
                      <p:childTnLst>
                        <p:par>
                          <p:cTn id="270" fill="hold">
                            <p:stCondLst>
                              <p:cond delay="0"/>
                            </p:stCondLst>
                            <p:childTnLst>
                              <p:par>
                                <p:cTn id="27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73" dur="500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76" dur="500"/>
                                        <p:tgtEl>
                                          <p:spTgt spid="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79" dur="500"/>
                                        <p:tgtEl>
                                          <p:spTgt spid="5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0" fill="hold">
                      <p:stCondLst>
                        <p:cond delay="indefinite"/>
                      </p:stCondLst>
                      <p:childTnLst>
                        <p:par>
                          <p:cTn id="281" fill="hold">
                            <p:stCondLst>
                              <p:cond delay="0"/>
                            </p:stCondLst>
                            <p:childTnLst>
                              <p:par>
                                <p:cTn id="28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84" dur="500"/>
                                        <p:tgtEl>
                                          <p:spTgt spid="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87" dur="500"/>
                                        <p:tgtEl>
                                          <p:spTgt spid="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90" dur="500"/>
                                        <p:tgtEl>
                                          <p:spTgt spid="5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1" fill="hold">
                      <p:stCondLst>
                        <p:cond delay="indefinite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95" dur="500"/>
                                        <p:tgtEl>
                                          <p:spTgt spid="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98" dur="500"/>
                                        <p:tgtEl>
                                          <p:spTgt spid="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01" dur="500"/>
                                        <p:tgtEl>
                                          <p:spTgt spid="5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2" fill="hold">
                      <p:stCondLst>
                        <p:cond delay="indefinite"/>
                      </p:stCondLst>
                      <p:childTnLst>
                        <p:par>
                          <p:cTn id="303" fill="hold">
                            <p:stCondLst>
                              <p:cond delay="0"/>
                            </p:stCondLst>
                            <p:childTnLst>
                              <p:par>
                                <p:cTn id="30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06" dur="500"/>
                                        <p:tgtEl>
                                          <p:spTgt spid="5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7" fill="hold">
                      <p:stCondLst>
                        <p:cond delay="indefinite"/>
                      </p:stCondLst>
                      <p:childTnLst>
                        <p:par>
                          <p:cTn id="308" fill="hold">
                            <p:stCondLst>
                              <p:cond delay="0"/>
                            </p:stCondLst>
                            <p:childTnLst>
                              <p:par>
                                <p:cTn id="30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11" dur="500"/>
                                        <p:tgtEl>
                                          <p:spTgt spid="5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14" dur="500"/>
                                        <p:tgtEl>
                                          <p:spTgt spid="5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17" dur="500"/>
                                        <p:tgtEl>
                                          <p:spTgt spid="5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8" fill="hold">
                      <p:stCondLst>
                        <p:cond delay="indefinite"/>
                      </p:stCondLst>
                      <p:childTnLst>
                        <p:par>
                          <p:cTn id="319" fill="hold">
                            <p:stCondLst>
                              <p:cond delay="0"/>
                            </p:stCondLst>
                            <p:childTnLst>
                              <p:par>
                                <p:cTn id="32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22" dur="500"/>
                                        <p:tgtEl>
                                          <p:spTgt spid="5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3" fill="hold">
                      <p:stCondLst>
                        <p:cond delay="indefinite"/>
                      </p:stCondLst>
                      <p:childTnLst>
                        <p:par>
                          <p:cTn id="324" fill="hold">
                            <p:stCondLst>
                              <p:cond delay="0"/>
                            </p:stCondLst>
                            <p:childTnLst>
                              <p:par>
                                <p:cTn id="32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27" dur="500"/>
                                        <p:tgtEl>
                                          <p:spTgt spid="5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289800" y="440640"/>
            <a:ext cx="8557560" cy="8305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Option Values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16"/>
          <p:cNvSpPr/>
          <p:nvPr/>
        </p:nvSpPr>
        <p:spPr>
          <a:xfrm>
            <a:off x="832320" y="1052640"/>
            <a:ext cx="76125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algn="ctr">
              <a:lnSpc>
                <a:spcPct val="100000"/>
              </a:lnSpc>
              <a:spcBef>
                <a:spcPts val="2001"/>
              </a:spcBef>
              <a:tabLst>
                <a:tab algn="l" pos="0"/>
              </a:tabLst>
            </a:pPr>
            <a:r>
              <a:rPr b="0" lang="en-US" sz="2000" spc="-1" strike="noStrike">
                <a:solidFill>
                  <a:schemeClr val="lt1"/>
                </a:solidFill>
                <a:latin typeface="Cambria"/>
                <a:ea typeface="MS PGothic"/>
              </a:rPr>
              <a:t>Enumeration is also used for optional value types: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TextBox 11"/>
          <p:cNvSpPr/>
          <p:nvPr/>
        </p:nvSpPr>
        <p:spPr>
          <a:xfrm>
            <a:off x="967680" y="1492920"/>
            <a:ext cx="3934080" cy="2270520"/>
          </a:xfrm>
          <a:prstGeom prst="rect">
            <a:avLst/>
          </a:prstGeom>
          <a:solidFill>
            <a:srgbClr val="000000"/>
          </a:solidFill>
          <a:ln w="0">
            <a:solidFill>
              <a:srgbClr val="ffffff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ffff00"/>
                </a:solidFill>
                <a:latin typeface="Consolas"/>
                <a:ea typeface="Courier New"/>
              </a:rPr>
              <a:t>let</a:t>
            </a:r>
            <a:r>
              <a:rPr b="0" lang="en-US" sz="1100" spc="-1" strike="noStrike">
                <a:solidFill>
                  <a:srgbClr val="d9d9d9"/>
                </a:solidFill>
                <a:latin typeface="Consolas"/>
                <a:ea typeface="Courier New"/>
              </a:rPr>
              <a:t> number = Some(42);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ffff00"/>
                </a:solidFill>
                <a:latin typeface="Consolas"/>
                <a:ea typeface="Courier New"/>
              </a:rPr>
              <a:t>let</a:t>
            </a:r>
            <a:r>
              <a:rPr b="0" lang="en-US" sz="1100" spc="-1" strike="noStrike">
                <a:solidFill>
                  <a:srgbClr val="d9d9d9"/>
                </a:solidFill>
                <a:latin typeface="Consolas"/>
                <a:ea typeface="Courier New"/>
              </a:rPr>
              <a:t> letter = Some(</a:t>
            </a:r>
            <a:r>
              <a:rPr b="1" lang="en-US" sz="1100" spc="-1" strike="noStrike">
                <a:solidFill>
                  <a:srgbClr val="d4ea6b"/>
                </a:solidFill>
                <a:latin typeface="Consolas"/>
                <a:ea typeface="Courier New"/>
              </a:rPr>
              <a:t>'e'</a:t>
            </a:r>
            <a:r>
              <a:rPr b="0" lang="en-US" sz="1100" spc="-1" strike="noStrike">
                <a:solidFill>
                  <a:srgbClr val="d9d9d9"/>
                </a:solidFill>
                <a:latin typeface="Consolas"/>
                <a:ea typeface="Courier New"/>
              </a:rPr>
              <a:t>);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ffff00"/>
                </a:solidFill>
                <a:latin typeface="Consolas"/>
                <a:ea typeface="Courier New"/>
              </a:rPr>
              <a:t>let</a:t>
            </a:r>
            <a:r>
              <a:rPr b="0" lang="en-US" sz="1100" spc="-1" strike="noStrike">
                <a:solidFill>
                  <a:srgbClr val="d9d9d9"/>
                </a:solidFill>
                <a:latin typeface="Consolas"/>
                <a:ea typeface="Courier New"/>
              </a:rPr>
              <a:t> nothin:</a:t>
            </a: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urier New"/>
              </a:rPr>
              <a:t> </a:t>
            </a:r>
            <a:r>
              <a:rPr b="0" lang="en-US" sz="1100" spc="-1" strike="noStrike">
                <a:solidFill>
                  <a:srgbClr val="ff00ff"/>
                </a:solidFill>
                <a:latin typeface="Consolas"/>
                <a:ea typeface="Courier New"/>
              </a:rPr>
              <a:t>Option</a:t>
            </a:r>
            <a:r>
              <a:rPr b="0" lang="en-US" sz="1100" spc="-1" strike="noStrike">
                <a:solidFill>
                  <a:srgbClr val="d9d9d9"/>
                </a:solidFill>
                <a:latin typeface="Consolas"/>
                <a:ea typeface="Courier New"/>
              </a:rPr>
              <a:t>&lt;</a:t>
            </a:r>
            <a:r>
              <a:rPr b="1" lang="en-US" sz="1100" spc="-1" strike="noStrike">
                <a:solidFill>
                  <a:srgbClr val="00ffff"/>
                </a:solidFill>
                <a:latin typeface="Consolas"/>
                <a:ea typeface="Courier New"/>
              </a:rPr>
              <a:t>i32</a:t>
            </a:r>
            <a:r>
              <a:rPr b="0" lang="en-US" sz="1100" spc="-1" strike="noStrike">
                <a:solidFill>
                  <a:srgbClr val="d9d9d9"/>
                </a:solidFill>
                <a:latin typeface="Consolas"/>
                <a:ea typeface="Courier New"/>
              </a:rPr>
              <a:t>&gt; = None;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ffff00"/>
                </a:solidFill>
                <a:latin typeface="Consolas"/>
                <a:ea typeface="Courier New"/>
              </a:rPr>
              <a:t>let</a:t>
            </a:r>
            <a:r>
              <a:rPr b="0" lang="en-US" sz="1100" spc="-1" strike="noStrike">
                <a:solidFill>
                  <a:srgbClr val="d9d9d9"/>
                </a:solidFill>
                <a:latin typeface="Consolas"/>
                <a:ea typeface="Courier New"/>
              </a:rPr>
              <a:t> msg_plz = </a:t>
            </a:r>
            <a:r>
              <a:rPr b="1" lang="en-US" sz="1100" spc="-1" strike="noStrike">
                <a:solidFill>
                  <a:srgbClr val="729fcf"/>
                </a:solidFill>
                <a:latin typeface="Consolas"/>
                <a:ea typeface="Courier New"/>
              </a:rPr>
              <a:t>get_magic_mail</a:t>
            </a:r>
            <a:r>
              <a:rPr b="0" lang="en-US" sz="1100" spc="-1" strike="noStrike">
                <a:solidFill>
                  <a:srgbClr val="d9d9d9"/>
                </a:solidFill>
                <a:latin typeface="Consolas"/>
                <a:ea typeface="Courier New"/>
              </a:rPr>
              <a:t>();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ffff00"/>
                </a:solidFill>
                <a:latin typeface="Consolas"/>
                <a:ea typeface="Courier New"/>
              </a:rPr>
              <a:t>if let</a:t>
            </a:r>
            <a:r>
              <a:rPr b="0" lang="en-US" sz="1100" spc="-1" strike="noStrike">
                <a:solidFill>
                  <a:srgbClr val="d9d9d9"/>
                </a:solidFill>
                <a:latin typeface="Consolas"/>
                <a:ea typeface="Courier New"/>
              </a:rPr>
              <a:t> Some(msg) = msg_plz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9d9d9"/>
                </a:solidFill>
                <a:latin typeface="Consolas"/>
                <a:ea typeface="Courier New"/>
              </a:rPr>
              <a:t>{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urier New"/>
              </a:rPr>
              <a:t>  </a:t>
            </a:r>
            <a:r>
              <a:rPr b="0" lang="en-US" sz="1100" spc="-1" strike="noStrike">
                <a:solidFill>
                  <a:schemeClr val="accent5">
                    <a:lumMod val="60000"/>
                    <a:lumOff val="40000"/>
                  </a:schemeClr>
                </a:solidFill>
                <a:latin typeface="Consolas"/>
                <a:ea typeface="Courier New"/>
              </a:rPr>
              <a:t>println!</a:t>
            </a:r>
            <a:r>
              <a:rPr b="0" lang="en-US" sz="1100" spc="-1" strike="noStrike">
                <a:solidFill>
                  <a:srgbClr val="d9d9d9"/>
                </a:solidFill>
                <a:latin typeface="Consolas"/>
                <a:ea typeface="Courier New"/>
              </a:rPr>
              <a:t>(</a:t>
            </a: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urier New"/>
              </a:rPr>
              <a:t>"New Message Received: {}"</a:t>
            </a:r>
            <a:r>
              <a:rPr b="0" lang="en-US" sz="1100" spc="-1" strike="noStrike">
                <a:solidFill>
                  <a:srgbClr val="d9d9d9"/>
                </a:solidFill>
                <a:latin typeface="Consolas"/>
                <a:ea typeface="Courier New"/>
              </a:rPr>
              <a:t>, msg);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9d9d9"/>
                </a:solidFill>
                <a:latin typeface="Consolas"/>
                <a:ea typeface="Courier New"/>
              </a:rPr>
              <a:t>}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ffff00"/>
                </a:solidFill>
                <a:latin typeface="Consolas"/>
                <a:ea typeface="Courier New"/>
              </a:rPr>
              <a:t>else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9d9d9"/>
                </a:solidFill>
                <a:latin typeface="Consolas"/>
                <a:ea typeface="Courier New"/>
              </a:rPr>
              <a:t>{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urier New"/>
              </a:rPr>
              <a:t>  </a:t>
            </a:r>
            <a:r>
              <a:rPr b="0" lang="en-US" sz="1100" spc="-1" strike="noStrike">
                <a:solidFill>
                  <a:schemeClr val="accent5">
                    <a:lumMod val="60000"/>
                    <a:lumOff val="40000"/>
                  </a:schemeClr>
                </a:solidFill>
                <a:latin typeface="Consolas"/>
                <a:ea typeface="Courier New"/>
              </a:rPr>
              <a:t>println!</a:t>
            </a:r>
            <a:r>
              <a:rPr b="0" lang="en-US" sz="1100" spc="-1" strike="noStrike">
                <a:solidFill>
                  <a:srgbClr val="d9d9d9"/>
                </a:solidFill>
                <a:latin typeface="Consolas"/>
                <a:ea typeface="Courier New"/>
              </a:rPr>
              <a:t>(</a:t>
            </a: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urier New"/>
              </a:rPr>
              <a:t>"No messages. Sorry!"</a:t>
            </a:r>
            <a:r>
              <a:rPr b="0" lang="en-US" sz="1100" spc="-1" strike="noStrike">
                <a:solidFill>
                  <a:srgbClr val="d9d9d9"/>
                </a:solidFill>
                <a:latin typeface="Consolas"/>
                <a:ea typeface="Courier New"/>
              </a:rPr>
              <a:t>);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9d9d9"/>
                </a:solidFill>
                <a:latin typeface="Consolas"/>
                <a:ea typeface="Courier New"/>
              </a:rPr>
              <a:t>}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TextBox 12"/>
          <p:cNvSpPr/>
          <p:nvPr/>
        </p:nvSpPr>
        <p:spPr>
          <a:xfrm rot="2400">
            <a:off x="3453120" y="1560960"/>
            <a:ext cx="1360440" cy="425160"/>
          </a:xfrm>
          <a:prstGeom prst="rect">
            <a:avLst/>
          </a:prstGeom>
          <a:solidFill>
            <a:srgbClr val="1a3552"/>
          </a:solidFill>
          <a:ln w="0">
            <a:solidFill>
              <a:srgbClr val="ffffff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00ffff"/>
                </a:solidFill>
                <a:latin typeface="Consolas"/>
                <a:ea typeface="MS PGothic"/>
              </a:rPr>
              <a:t>Option&lt;String&gt;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TextBox 13"/>
          <p:cNvSpPr/>
          <p:nvPr/>
        </p:nvSpPr>
        <p:spPr>
          <a:xfrm>
            <a:off x="4991400" y="1492920"/>
            <a:ext cx="3259440" cy="2270520"/>
          </a:xfrm>
          <a:prstGeom prst="rect">
            <a:avLst/>
          </a:prstGeom>
          <a:solidFill>
            <a:srgbClr val="000000"/>
          </a:solidFill>
          <a:ln w="0">
            <a:solidFill>
              <a:srgbClr val="ffffff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ffff00"/>
                </a:solidFill>
                <a:latin typeface="Consolas"/>
                <a:ea typeface="Courier New"/>
              </a:rPr>
              <a:t>let</a:t>
            </a:r>
            <a:r>
              <a:rPr b="0" lang="en-US" sz="1100" spc="-1" strike="noStrike">
                <a:solidFill>
                  <a:srgbClr val="d9d9d9"/>
                </a:solidFill>
                <a:latin typeface="Consolas"/>
                <a:ea typeface="Courier New"/>
              </a:rPr>
              <a:t> pic_plz = </a:t>
            </a:r>
            <a:r>
              <a:rPr b="1" lang="en-US" sz="1100" spc="-1" strike="noStrike">
                <a:solidFill>
                  <a:srgbClr val="729fcf"/>
                </a:solidFill>
                <a:latin typeface="Consolas"/>
                <a:ea typeface="Courier New"/>
              </a:rPr>
              <a:t>load_image</a:t>
            </a:r>
            <a:r>
              <a:rPr b="0" lang="en-US" sz="1100" spc="-1" strike="noStrike">
                <a:solidFill>
                  <a:srgbClr val="d9d9d9"/>
                </a:solidFill>
                <a:latin typeface="Consolas"/>
                <a:ea typeface="Courier New"/>
              </a:rPr>
              <a:t>(</a:t>
            </a: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urier New"/>
              </a:rPr>
              <a:t>"foo.png"</a:t>
            </a:r>
            <a:r>
              <a:rPr b="0" lang="en-US" sz="1100" spc="-1" strike="noStrike">
                <a:solidFill>
                  <a:srgbClr val="d9d9d9"/>
                </a:solidFill>
                <a:latin typeface="Consolas"/>
                <a:ea typeface="Courier New"/>
              </a:rPr>
              <a:t>);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ffff00"/>
                </a:solidFill>
                <a:latin typeface="Consolas"/>
                <a:ea typeface="Courier New"/>
              </a:rPr>
              <a:t>if let</a:t>
            </a:r>
            <a:r>
              <a:rPr b="0" lang="en-US" sz="1100" spc="-1" strike="noStrike">
                <a:solidFill>
                  <a:srgbClr val="d9d9d9"/>
                </a:solidFill>
                <a:latin typeface="Consolas"/>
                <a:ea typeface="Courier New"/>
              </a:rPr>
              <a:t> Some(pic) = pic_plz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9d9d9"/>
                </a:solidFill>
                <a:latin typeface="Consolas"/>
                <a:ea typeface="Courier New"/>
              </a:rPr>
              <a:t>{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9d9d9"/>
                </a:solidFill>
                <a:latin typeface="Consolas"/>
                <a:ea typeface="Courier New"/>
              </a:rPr>
              <a:t>  </a:t>
            </a:r>
            <a:r>
              <a:rPr b="0" lang="en-US" sz="1100" spc="-1" strike="noStrike">
                <a:solidFill>
                  <a:srgbClr val="d9d9d9"/>
                </a:solidFill>
                <a:latin typeface="Consolas"/>
                <a:ea typeface="Courier New"/>
              </a:rPr>
              <a:t>pic.</a:t>
            </a:r>
            <a:r>
              <a:rPr b="1" lang="en-US" sz="1100" spc="-1" strike="noStrike">
                <a:solidFill>
                  <a:srgbClr val="729fcf"/>
                </a:solidFill>
                <a:latin typeface="Consolas"/>
                <a:ea typeface="Courier New"/>
              </a:rPr>
              <a:t>display</a:t>
            </a:r>
            <a:r>
              <a:rPr b="0" lang="en-US" sz="1100" spc="-1" strike="noStrike">
                <a:solidFill>
                  <a:srgbClr val="d9d9d9"/>
                </a:solidFill>
                <a:latin typeface="Consolas"/>
                <a:ea typeface="Courier New"/>
              </a:rPr>
              <a:t>();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9d9d9"/>
                </a:solidFill>
                <a:latin typeface="Consolas"/>
                <a:ea typeface="Courier New"/>
              </a:rPr>
              <a:t>}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ffff00"/>
                </a:solidFill>
                <a:latin typeface="Consolas"/>
                <a:ea typeface="Courier New"/>
              </a:rPr>
              <a:t>else if</a:t>
            </a:r>
            <a:r>
              <a:rPr b="0" lang="en-US" sz="1100" spc="-1" strike="noStrike">
                <a:solidFill>
                  <a:srgbClr val="d9d9d9"/>
                </a:solidFill>
                <a:latin typeface="Consolas"/>
                <a:ea typeface="Courier New"/>
              </a:rPr>
              <a:t> None = pic_plz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9d9d9"/>
                </a:solidFill>
                <a:latin typeface="Consolas"/>
                <a:ea typeface="Courier New"/>
              </a:rPr>
              <a:t>{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urier New"/>
              </a:rPr>
              <a:t>  </a:t>
            </a:r>
            <a:r>
              <a:rPr b="0" lang="en-US" sz="1100" spc="-1" strike="noStrike">
                <a:solidFill>
                  <a:schemeClr val="accent5">
                    <a:lumMod val="60000"/>
                    <a:lumOff val="40000"/>
                  </a:schemeClr>
                </a:solidFill>
                <a:latin typeface="Consolas"/>
                <a:ea typeface="Courier New"/>
              </a:rPr>
              <a:t>println!</a:t>
            </a:r>
            <a:r>
              <a:rPr b="0" lang="en-US" sz="1100" spc="-1" strike="noStrike">
                <a:solidFill>
                  <a:srgbClr val="d9d9d9"/>
                </a:solidFill>
                <a:latin typeface="Consolas"/>
                <a:ea typeface="Courier New"/>
              </a:rPr>
              <a:t>(</a:t>
            </a: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urier New"/>
              </a:rPr>
              <a:t>"Could not load file."</a:t>
            </a:r>
            <a:r>
              <a:rPr b="0" lang="en-US" sz="1100" spc="-1" strike="noStrike">
                <a:solidFill>
                  <a:srgbClr val="d9d9d9"/>
                </a:solidFill>
                <a:latin typeface="Consolas"/>
                <a:ea typeface="Courier New"/>
              </a:rPr>
              <a:t>);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9d9d9"/>
                </a:solidFill>
                <a:latin typeface="Consolas"/>
                <a:ea typeface="Courier New"/>
              </a:rPr>
              <a:t>}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ffff00"/>
                </a:solidFill>
                <a:latin typeface="Consolas"/>
                <a:ea typeface="Courier New"/>
              </a:rPr>
              <a:t>else</a:t>
            </a:r>
            <a:r>
              <a:rPr b="0" lang="en-US" sz="1100" spc="-1" strike="noStrike">
                <a:solidFill>
                  <a:srgbClr val="d9d9d9"/>
                </a:solidFill>
                <a:latin typeface="Consolas"/>
                <a:ea typeface="Courier New"/>
              </a:rPr>
              <a:t> { </a:t>
            </a:r>
            <a:r>
              <a:rPr b="0" lang="en-US" sz="1100" spc="-1" strike="noStrike">
                <a:solidFill>
                  <a:schemeClr val="accent5">
                    <a:lumMod val="60000"/>
                    <a:lumOff val="40000"/>
                  </a:schemeClr>
                </a:solidFill>
                <a:latin typeface="Consolas"/>
                <a:ea typeface="MS PGothic"/>
              </a:rPr>
              <a:t>unreachable!</a:t>
            </a:r>
            <a:r>
              <a:rPr b="0" lang="en-US" sz="1100" spc="-1" strike="noStrike">
                <a:solidFill>
                  <a:srgbClr val="d9d9d9"/>
                </a:solidFill>
                <a:latin typeface="Consolas"/>
                <a:ea typeface="MS PGothic"/>
              </a:rPr>
              <a:t>(); }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9d9d9"/>
                </a:solidFill>
                <a:latin typeface="Consolas"/>
                <a:ea typeface="Courier New"/>
              </a:rPr>
              <a:t>pic_plz.</a:t>
            </a:r>
            <a:r>
              <a:rPr b="1" lang="en-US" sz="1100" spc="-1" strike="noStrike">
                <a:solidFill>
                  <a:srgbClr val="729fcf"/>
                </a:solidFill>
                <a:latin typeface="Consolas"/>
                <a:ea typeface="Courier New"/>
              </a:rPr>
              <a:t>display(</a:t>
            </a:r>
            <a:r>
              <a:rPr b="0" lang="en-US" sz="1100" spc="-1" strike="noStrike">
                <a:solidFill>
                  <a:srgbClr val="d9d9d9"/>
                </a:solidFill>
                <a:latin typeface="Consolas"/>
                <a:ea typeface="Courier New"/>
              </a:rPr>
              <a:t>); </a:t>
            </a:r>
            <a:r>
              <a:rPr b="0" lang="en-US" sz="1100" spc="-1" strike="noStrike">
                <a:solidFill>
                  <a:srgbClr val="729fcf"/>
                </a:solidFill>
                <a:latin typeface="Consolas"/>
                <a:ea typeface="Courier New"/>
              </a:rPr>
              <a:t>// Error!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PlaceHolder 17"/>
          <p:cNvSpPr/>
          <p:nvPr/>
        </p:nvSpPr>
        <p:spPr>
          <a:xfrm>
            <a:off x="1130400" y="3860640"/>
            <a:ext cx="3538440" cy="410760"/>
          </a:xfrm>
          <a:prstGeom prst="rect">
            <a:avLst/>
          </a:prstGeom>
          <a:solidFill>
            <a:srgbClr val="1a3552"/>
          </a:solidFill>
          <a:ln w="126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2001"/>
              </a:spcBef>
              <a:tabLst>
                <a:tab algn="l" pos="0"/>
              </a:tabLst>
            </a:pPr>
            <a:r>
              <a:rPr b="0" lang="en-US" sz="1700" spc="-1" strike="noStrike">
                <a:solidFill>
                  <a:schemeClr val="lt1"/>
                </a:solidFill>
                <a:latin typeface="Cambria"/>
                <a:ea typeface="MS PGothic"/>
              </a:rPr>
              <a:t>Or use the ? operator to unwrap: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TextBox 15"/>
          <p:cNvSpPr/>
          <p:nvPr/>
        </p:nvSpPr>
        <p:spPr>
          <a:xfrm>
            <a:off x="1963440" y="4190760"/>
            <a:ext cx="1849320" cy="257400"/>
          </a:xfrm>
          <a:prstGeom prst="rect">
            <a:avLst/>
          </a:prstGeom>
          <a:solidFill>
            <a:srgbClr val="000000"/>
          </a:solidFill>
          <a:ln w="0">
            <a:solidFill>
              <a:srgbClr val="ffffff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9d9d9"/>
                </a:solidFill>
                <a:latin typeface="Consolas"/>
                <a:ea typeface="Courier New"/>
              </a:rPr>
              <a:t>pic_plz?.</a:t>
            </a:r>
            <a:r>
              <a:rPr b="1" lang="en-US" sz="1100" spc="-1" strike="noStrike">
                <a:solidFill>
                  <a:srgbClr val="729fcf"/>
                </a:solidFill>
                <a:latin typeface="Consolas"/>
                <a:ea typeface="Courier New"/>
              </a:rPr>
              <a:t>display</a:t>
            </a:r>
            <a:r>
              <a:rPr b="0" lang="en-US" sz="1100" spc="-1" strike="noStrike">
                <a:solidFill>
                  <a:srgbClr val="d9d9d9"/>
                </a:solidFill>
                <a:latin typeface="Consolas"/>
                <a:ea typeface="Courier New"/>
              </a:rPr>
              <a:t>();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TextBox 16"/>
          <p:cNvSpPr/>
          <p:nvPr/>
        </p:nvSpPr>
        <p:spPr>
          <a:xfrm>
            <a:off x="4935600" y="3855960"/>
            <a:ext cx="3324600" cy="928440"/>
          </a:xfrm>
          <a:prstGeom prst="rect">
            <a:avLst/>
          </a:prstGeom>
          <a:solidFill>
            <a:srgbClr val="000000"/>
          </a:solidFill>
          <a:ln w="0">
            <a:solidFill>
              <a:srgbClr val="ffffff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ffff00"/>
                </a:solidFill>
                <a:latin typeface="Consolas"/>
                <a:ea typeface="Courier New"/>
              </a:rPr>
              <a:t>match</a:t>
            </a:r>
            <a:r>
              <a:rPr b="0" lang="en-US" sz="11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Courier New"/>
              </a:rPr>
              <a:t> </a:t>
            </a:r>
            <a:r>
              <a:rPr b="0" lang="en-US" sz="1100" spc="-1" strike="noStrike">
                <a:solidFill>
                  <a:srgbClr val="d9d9d9"/>
                </a:solidFill>
                <a:latin typeface="Consolas"/>
                <a:ea typeface="Courier New"/>
              </a:rPr>
              <a:t>pic_plz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9d9d9"/>
                </a:solidFill>
                <a:latin typeface="Consolas"/>
                <a:ea typeface="Courier New"/>
              </a:rPr>
              <a:t>{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9d9d9"/>
                </a:solidFill>
                <a:latin typeface="Consolas"/>
                <a:ea typeface="Courier New"/>
              </a:rPr>
              <a:t>  </a:t>
            </a:r>
            <a:r>
              <a:rPr b="0" lang="en-US" sz="1100" spc="-1" strike="noStrike">
                <a:solidFill>
                  <a:srgbClr val="d9d9d9"/>
                </a:solidFill>
                <a:latin typeface="Consolas"/>
                <a:ea typeface="Courier New"/>
              </a:rPr>
              <a:t>Some(_result) =&gt; _result.</a:t>
            </a:r>
            <a:r>
              <a:rPr b="1" lang="en-US" sz="1100" spc="-1" strike="noStrike">
                <a:solidFill>
                  <a:srgbClr val="729fcf"/>
                </a:solidFill>
                <a:latin typeface="Consolas"/>
                <a:ea typeface="Courier New"/>
              </a:rPr>
              <a:t>display</a:t>
            </a:r>
            <a:r>
              <a:rPr b="0" lang="en-US" sz="1100" spc="-1" strike="noStrike">
                <a:solidFill>
                  <a:srgbClr val="d9d9d9"/>
                </a:solidFill>
                <a:latin typeface="Consolas"/>
                <a:ea typeface="Courier New"/>
              </a:rPr>
              <a:t>(),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9d9d9"/>
                </a:solidFill>
                <a:latin typeface="Consolas"/>
                <a:ea typeface="Courier New"/>
              </a:rPr>
              <a:t>  </a:t>
            </a:r>
            <a:r>
              <a:rPr b="0" lang="en-US" sz="1100" spc="-1" strike="noStrike">
                <a:solidFill>
                  <a:srgbClr val="d9d9d9"/>
                </a:solidFill>
                <a:latin typeface="Consolas"/>
                <a:ea typeface="Courier New"/>
              </a:rPr>
              <a:t>None =&gt; None  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9d9d9"/>
                </a:solidFill>
                <a:latin typeface="Consolas"/>
                <a:ea typeface="Courier New"/>
              </a:rPr>
              <a:t>}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61" name=""/>
          <p:cNvCxnSpPr>
            <a:stCxn id="59" idx="3"/>
            <a:endCxn id="60" idx="1"/>
          </p:cNvCxnSpPr>
          <p:nvPr/>
        </p:nvCxnSpPr>
        <p:spPr>
          <a:xfrm>
            <a:off x="3812760" y="4319280"/>
            <a:ext cx="1123200" cy="1080"/>
          </a:xfrm>
          <a:prstGeom prst="bentConnector3">
            <a:avLst>
              <a:gd name="adj1" fmla="val 50432"/>
            </a:avLst>
          </a:prstGeom>
          <a:ln w="12600">
            <a:solidFill>
              <a:srgbClr val="ffff00"/>
            </a:solidFill>
            <a:round/>
            <a:tailEnd len="med" type="triangle" w="med"/>
          </a:ln>
        </p:spPr>
      </p:cxnSp>
      <p:cxnSp>
        <p:nvCxnSpPr>
          <p:cNvPr id="62" name=""/>
          <p:cNvCxnSpPr>
            <a:endCxn id="56" idx="2"/>
          </p:cNvCxnSpPr>
          <p:nvPr/>
        </p:nvCxnSpPr>
        <p:spPr>
          <a:xfrm flipH="1" flipV="1" rot="5400000">
            <a:off x="3850200" y="1857240"/>
            <a:ext cx="154440" cy="412200"/>
          </a:xfrm>
          <a:prstGeom prst="bentConnector3">
            <a:avLst>
              <a:gd name="adj1" fmla="val 0"/>
            </a:avLst>
          </a:prstGeom>
          <a:ln w="12600">
            <a:solidFill>
              <a:srgbClr val="ffff00"/>
            </a:solidFill>
            <a:round/>
          </a:ln>
        </p:spPr>
      </p:cxnSp>
      <p:cxnSp>
        <p:nvCxnSpPr>
          <p:cNvPr id="63" name=""/>
          <p:cNvCxnSpPr>
            <a:endCxn id="64" idx="0"/>
          </p:cNvCxnSpPr>
          <p:nvPr/>
        </p:nvCxnSpPr>
        <p:spPr>
          <a:xfrm flipH="1" rot="16200000">
            <a:off x="6931800" y="1545840"/>
            <a:ext cx="330120" cy="879120"/>
          </a:xfrm>
          <a:prstGeom prst="bentConnector3">
            <a:avLst>
              <a:gd name="adj1" fmla="val 982"/>
            </a:avLst>
          </a:prstGeom>
          <a:ln w="12600">
            <a:solidFill>
              <a:srgbClr val="ffff00"/>
            </a:solidFill>
            <a:round/>
          </a:ln>
        </p:spPr>
      </p:cxnSp>
      <p:sp>
        <p:nvSpPr>
          <p:cNvPr id="65" name=""/>
          <p:cNvSpPr/>
          <p:nvPr/>
        </p:nvSpPr>
        <p:spPr>
          <a:xfrm>
            <a:off x="6657840" y="1729800"/>
            <a:ext cx="360" cy="90720"/>
          </a:xfrm>
          <a:custGeom>
            <a:avLst/>
            <a:gdLst>
              <a:gd name="textAreaLeft" fmla="*/ 0 w 360"/>
              <a:gd name="textAreaRight" fmla="*/ 1440 w 360"/>
              <a:gd name="textAreaTop" fmla="*/ 0 h 90720"/>
              <a:gd name="textAreaBottom" fmla="*/ 91440 h 90720"/>
            </a:gdLst>
            <a:ahLst/>
            <a:rect l="textAreaLeft" t="textAreaTop" r="textAreaRight" b="textAreaBottom"/>
            <a:pathLst>
              <a:path fill="none" w="1" h="254">
                <a:moveTo>
                  <a:pt x="0" y="254"/>
                </a:moveTo>
                <a:lnTo>
                  <a:pt x="1" y="0"/>
                </a:lnTo>
              </a:path>
            </a:pathLst>
          </a:custGeom>
          <a:noFill/>
          <a:ln w="1260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40320" bIns="403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grpSp>
        <p:nvGrpSpPr>
          <p:cNvPr id="66" name=""/>
          <p:cNvGrpSpPr/>
          <p:nvPr/>
        </p:nvGrpSpPr>
        <p:grpSpPr>
          <a:xfrm>
            <a:off x="5027400" y="3584880"/>
            <a:ext cx="1605600" cy="121680"/>
            <a:chOff x="5027400" y="3584880"/>
            <a:chExt cx="1605600" cy="121680"/>
          </a:xfrm>
        </p:grpSpPr>
        <p:sp>
          <p:nvSpPr>
            <p:cNvPr id="67" name=""/>
            <p:cNvSpPr/>
            <p:nvPr/>
          </p:nvSpPr>
          <p:spPr>
            <a:xfrm flipH="1">
              <a:off x="5027400" y="3584880"/>
              <a:ext cx="1605600" cy="121680"/>
            </a:xfrm>
            <a:prstGeom prst="line">
              <a:avLst/>
            </a:prstGeom>
            <a:ln w="29160">
              <a:solidFill>
                <a:srgbClr val="c5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4400" rIns="104400" tIns="59400" bIns="594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8" name=""/>
            <p:cNvSpPr/>
            <p:nvPr/>
          </p:nvSpPr>
          <p:spPr>
            <a:xfrm>
              <a:off x="5027400" y="3584880"/>
              <a:ext cx="1605600" cy="121680"/>
            </a:xfrm>
            <a:prstGeom prst="line">
              <a:avLst/>
            </a:prstGeom>
            <a:ln w="29160">
              <a:solidFill>
                <a:srgbClr val="c5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4400" rIns="104400" tIns="59400" bIns="594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64" name="TextBox 14"/>
          <p:cNvSpPr/>
          <p:nvPr/>
        </p:nvSpPr>
        <p:spPr>
          <a:xfrm rot="2400">
            <a:off x="6891480" y="2150280"/>
            <a:ext cx="1288800" cy="257400"/>
          </a:xfrm>
          <a:prstGeom prst="rect">
            <a:avLst/>
          </a:prstGeom>
          <a:solidFill>
            <a:srgbClr val="1a3552"/>
          </a:solidFill>
          <a:ln w="0">
            <a:solidFill>
              <a:srgbClr val="ffffff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00ffff"/>
                </a:solidFill>
                <a:latin typeface="Consolas"/>
                <a:ea typeface="MS PGothic"/>
              </a:rPr>
              <a:t>Option&lt;Image&gt;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3554C0F-B8B2-496C-B161-E8C31EA04DBC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28" dur="indefinite" restart="never" nodeType="tmRoot">
          <p:childTnLst>
            <p:seq>
              <p:cTn id="329" dur="indefinite" nodeType="mainSeq">
                <p:childTnLst>
                  <p:par>
                    <p:cTn id="330" fill="hold">
                      <p:stCondLst>
                        <p:cond delay="indefinite"/>
                      </p:stCondLst>
                      <p:childTnLst>
                        <p:par>
                          <p:cTn id="331" fill="hold">
                            <p:stCondLst>
                              <p:cond delay="0"/>
                            </p:stCondLst>
                            <p:childTnLst>
                              <p:par>
                                <p:cTn id="33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3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5" fill="hold">
                      <p:stCondLst>
                        <p:cond delay="indefinite"/>
                      </p:stCondLst>
                      <p:childTnLst>
                        <p:par>
                          <p:cTn id="336" fill="hold">
                            <p:stCondLst>
                              <p:cond delay="0"/>
                            </p:stCondLst>
                            <p:childTnLst>
                              <p:par>
                                <p:cTn id="33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39" dur="500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42" dur="500"/>
                                        <p:tgtEl>
                                          <p:spTgt spid="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45" dur="500"/>
                                        <p:tgtEl>
                                          <p:spTgt spid="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6" fill="hold">
                      <p:stCondLst>
                        <p:cond delay="indefinite"/>
                      </p:stCondLst>
                      <p:childTnLst>
                        <p:par>
                          <p:cTn id="347" fill="hold">
                            <p:stCondLst>
                              <p:cond delay="0"/>
                            </p:stCondLst>
                            <p:childTnLst>
                              <p:par>
                                <p:cTn id="34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9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50" dur="500"/>
                                        <p:tgtEl>
                                          <p:spTgt spid="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1" fill="hold">
                      <p:stCondLst>
                        <p:cond delay="indefinite"/>
                      </p:stCondLst>
                      <p:childTnLst>
                        <p:par>
                          <p:cTn id="352" fill="hold">
                            <p:stCondLst>
                              <p:cond delay="0"/>
                            </p:stCondLst>
                            <p:childTnLst>
                              <p:par>
                                <p:cTn id="35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5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5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9" fill="hold">
                      <p:stCondLst>
                        <p:cond delay="indefinite"/>
                      </p:stCondLst>
                      <p:childTnLst>
                        <p:par>
                          <p:cTn id="360" fill="hold">
                            <p:stCondLst>
                              <p:cond delay="0"/>
                            </p:stCondLst>
                            <p:childTnLst>
                              <p:par>
                                <p:cTn id="36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63" dur="500"/>
                                        <p:tgtEl>
                                          <p:spTgt spid="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66" dur="500"/>
                                        <p:tgtEl>
                                          <p:spTgt spid="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69" dur="500"/>
                                        <p:tgtEl>
                                          <p:spTgt spid="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0" fill="hold">
                      <p:stCondLst>
                        <p:cond delay="indefinite"/>
                      </p:stCondLst>
                      <p:childTnLst>
                        <p:par>
                          <p:cTn id="371" fill="hold">
                            <p:stCondLst>
                              <p:cond delay="0"/>
                            </p:stCondLst>
                            <p:childTnLst>
                              <p:par>
                                <p:cTn id="37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3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74" dur="500"/>
                                        <p:tgtEl>
                                          <p:spTgt spid="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5" fill="hold">
                      <p:stCondLst>
                        <p:cond delay="indefinite"/>
                      </p:stCondLst>
                      <p:childTnLst>
                        <p:par>
                          <p:cTn id="376" fill="hold">
                            <p:stCondLst>
                              <p:cond delay="0"/>
                            </p:stCondLst>
                            <p:childTnLst>
                              <p:par>
                                <p:cTn id="37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79" dur="500"/>
                                        <p:tgtEl>
                                          <p:spTgt spid="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82" dur="500"/>
                                        <p:tgtEl>
                                          <p:spTgt spid="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85" dur="500"/>
                                        <p:tgtEl>
                                          <p:spTgt spid="5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7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88" dur="500"/>
                                        <p:tgtEl>
                                          <p:spTgt spid="5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9" fill="hold">
                      <p:stCondLst>
                        <p:cond delay="indefinite"/>
                      </p:stCondLst>
                      <p:childTnLst>
                        <p:par>
                          <p:cTn id="390" fill="hold">
                            <p:stCondLst>
                              <p:cond delay="0"/>
                            </p:stCondLst>
                            <p:childTnLst>
                              <p:par>
                                <p:cTn id="39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9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4" fill="hold">
                      <p:stCondLst>
                        <p:cond delay="indefinite"/>
                      </p:stCondLst>
                      <p:childTnLst>
                        <p:par>
                          <p:cTn id="395" fill="hold">
                            <p:stCondLst>
                              <p:cond delay="0"/>
                            </p:stCondLst>
                            <p:childTnLst>
                              <p:par>
                                <p:cTn id="39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7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98" dur="500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9" fill="hold">
                      <p:stCondLst>
                        <p:cond delay="indefinite"/>
                      </p:stCondLst>
                      <p:childTnLst>
                        <p:par>
                          <p:cTn id="400" fill="hold">
                            <p:stCondLst>
                              <p:cond delay="0"/>
                            </p:stCondLst>
                            <p:childTnLst>
                              <p:par>
                                <p:cTn id="40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2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0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0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0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0" fill="hold">
                      <p:stCondLst>
                        <p:cond delay="indefinite"/>
                      </p:stCondLst>
                      <p:childTnLst>
                        <p:par>
                          <p:cTn id="411" fill="hold">
                            <p:stCondLst>
                              <p:cond delay="0"/>
                            </p:stCondLst>
                            <p:childTnLst>
                              <p:par>
                                <p:cTn id="41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3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14" dur="500"/>
                                        <p:tgtEl>
                                          <p:spTgt spid="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6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17" dur="500"/>
                                        <p:tgtEl>
                                          <p:spTgt spid="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9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20" dur="500"/>
                                        <p:tgtEl>
                                          <p:spTgt spid="5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1" fill="hold">
                      <p:stCondLst>
                        <p:cond delay="indefinite"/>
                      </p:stCondLst>
                      <p:childTnLst>
                        <p:par>
                          <p:cTn id="422" fill="hold">
                            <p:stCondLst>
                              <p:cond delay="0"/>
                            </p:stCondLst>
                            <p:childTnLst>
                              <p:par>
                                <p:cTn id="42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4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25" dur="500"/>
                                        <p:tgtEl>
                                          <p:spTgt spid="5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6" fill="hold">
                      <p:stCondLst>
                        <p:cond delay="indefinite"/>
                      </p:stCondLst>
                      <p:childTnLst>
                        <p:par>
                          <p:cTn id="427" fill="hold">
                            <p:stCondLst>
                              <p:cond delay="0"/>
                            </p:stCondLst>
                            <p:childTnLst>
                              <p:par>
                                <p:cTn id="42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9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30" dur="500"/>
                                        <p:tgtEl>
                                          <p:spTgt spid="5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2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33" dur="500"/>
                                        <p:tgtEl>
                                          <p:spTgt spid="5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36" dur="500"/>
                                        <p:tgtEl>
                                          <p:spTgt spid="5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7" fill="hold">
                      <p:stCondLst>
                        <p:cond delay="indefinite"/>
                      </p:stCondLst>
                      <p:childTnLst>
                        <p:par>
                          <p:cTn id="438" fill="hold">
                            <p:stCondLst>
                              <p:cond delay="0"/>
                            </p:stCondLst>
                            <p:childTnLst>
                              <p:par>
                                <p:cTn id="43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41" dur="500"/>
                                        <p:tgtEl>
                                          <p:spTgt spid="5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2" fill="hold">
                      <p:stCondLst>
                        <p:cond delay="indefinite"/>
                      </p:stCondLst>
                      <p:childTnLst>
                        <p:par>
                          <p:cTn id="443" fill="hold">
                            <p:stCondLst>
                              <p:cond delay="0"/>
                            </p:stCondLst>
                            <p:childTnLst>
                              <p:par>
                                <p:cTn id="44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46" dur="500"/>
                                        <p:tgtEl>
                                          <p:spTgt spid="5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7" fill="hold">
                      <p:stCondLst>
                        <p:cond delay="indefinite"/>
                      </p:stCondLst>
                      <p:childTnLst>
                        <p:par>
                          <p:cTn id="448" fill="hold">
                            <p:stCondLst>
                              <p:cond delay="0"/>
                            </p:stCondLst>
                            <p:childTnLst>
                              <p:par>
                                <p:cTn id="44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51" dur="500"/>
                                        <p:tgtEl>
                                          <p:spTgt spid="5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2" fill="hold">
                      <p:stCondLst>
                        <p:cond delay="indefinite"/>
                      </p:stCondLst>
                      <p:childTnLst>
                        <p:par>
                          <p:cTn id="453" fill="hold">
                            <p:stCondLst>
                              <p:cond delay="0"/>
                            </p:stCondLst>
                            <p:childTnLst>
                              <p:par>
                                <p:cTn id="45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5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7" fill="hold">
                      <p:stCondLst>
                        <p:cond delay="indefinite"/>
                      </p:stCondLst>
                      <p:childTnLst>
                        <p:par>
                          <p:cTn id="458" fill="hold">
                            <p:stCondLst>
                              <p:cond delay="0"/>
                            </p:stCondLst>
                            <p:childTnLst>
                              <p:par>
                                <p:cTn id="45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6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2" fill="hold">
                      <p:stCondLst>
                        <p:cond delay="indefinite"/>
                      </p:stCondLst>
                      <p:childTnLst>
                        <p:par>
                          <p:cTn id="463" fill="hold">
                            <p:stCondLst>
                              <p:cond delay="0"/>
                            </p:stCondLst>
                            <p:childTnLst>
                              <p:par>
                                <p:cTn id="46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6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7" fill="hold">
                      <p:stCondLst>
                        <p:cond delay="indefinite"/>
                      </p:stCondLst>
                      <p:childTnLst>
                        <p:par>
                          <p:cTn id="468" fill="hold">
                            <p:stCondLst>
                              <p:cond delay="0"/>
                            </p:stCondLst>
                            <p:childTnLst>
                              <p:par>
                                <p:cTn id="46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7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3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7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5" fill="hold">
                      <p:stCondLst>
                        <p:cond delay="indefinite"/>
                      </p:stCondLst>
                      <p:childTnLst>
                        <p:par>
                          <p:cTn id="476" fill="hold">
                            <p:stCondLst>
                              <p:cond delay="0"/>
                            </p:stCondLst>
                            <p:childTnLst>
                              <p:par>
                                <p:cTn id="47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79" dur="500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82" dur="500"/>
                                        <p:tgtEl>
                                          <p:spTgt spid="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4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85" dur="500"/>
                                        <p:tgtEl>
                                          <p:spTgt spid="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6" fill="hold">
                      <p:stCondLst>
                        <p:cond delay="indefinite"/>
                      </p:stCondLst>
                      <p:childTnLst>
                        <p:par>
                          <p:cTn id="487" fill="hold">
                            <p:stCondLst>
                              <p:cond delay="0"/>
                            </p:stCondLst>
                            <p:childTnLst>
                              <p:par>
                                <p:cTn id="48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9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90" dur="500"/>
                                        <p:tgtEl>
                                          <p:spTgt spid="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1" fill="hold">
                      <p:stCondLst>
                        <p:cond delay="indefinite"/>
                      </p:stCondLst>
                      <p:childTnLst>
                        <p:par>
                          <p:cTn id="492" fill="hold">
                            <p:stCondLst>
                              <p:cond delay="0"/>
                            </p:stCondLst>
                            <p:childTnLst>
                              <p:par>
                                <p:cTn id="49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4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95" dur="500"/>
                                        <p:tgtEl>
                                          <p:spTgt spid="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289800" y="440640"/>
            <a:ext cx="8557560" cy="8305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Result Values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22"/>
          <p:cNvSpPr/>
          <p:nvPr/>
        </p:nvSpPr>
        <p:spPr>
          <a:xfrm>
            <a:off x="823680" y="1124640"/>
            <a:ext cx="76125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algn="ctr">
              <a:lnSpc>
                <a:spcPct val="100000"/>
              </a:lnSpc>
              <a:spcBef>
                <a:spcPts val="2001"/>
              </a:spcBef>
              <a:tabLst>
                <a:tab algn="l" pos="0"/>
              </a:tabLst>
            </a:pPr>
            <a:r>
              <a:rPr b="0" lang="en-US" sz="2000" spc="-1" strike="noStrike">
                <a:solidFill>
                  <a:schemeClr val="lt1"/>
                </a:solidFill>
                <a:latin typeface="Cambria"/>
                <a:ea typeface="MS PGothic"/>
              </a:rPr>
              <a:t>Result values are used to handle recoverable errors: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Box 17"/>
          <p:cNvSpPr/>
          <p:nvPr/>
        </p:nvSpPr>
        <p:spPr>
          <a:xfrm>
            <a:off x="237240" y="1611000"/>
            <a:ext cx="5414760" cy="3109320"/>
          </a:xfrm>
          <a:prstGeom prst="rect">
            <a:avLst/>
          </a:prstGeom>
          <a:solidFill>
            <a:srgbClr val="000000"/>
          </a:solidFill>
          <a:ln w="0">
            <a:solidFill>
              <a:srgbClr val="ffffff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ffff00"/>
                </a:solidFill>
                <a:latin typeface="Consolas"/>
                <a:ea typeface="Courier New"/>
              </a:rPr>
              <a:t>use</a:t>
            </a:r>
            <a:r>
              <a:rPr b="0" lang="en-US" sz="1100" spc="-1" strike="noStrike">
                <a:solidFill>
                  <a:srgbClr val="d9d9d9"/>
                </a:solidFill>
                <a:latin typeface="Consolas"/>
                <a:ea typeface="Courier New"/>
              </a:rPr>
              <a:t> std::fs::</a:t>
            </a:r>
            <a:r>
              <a:rPr b="0" lang="en-US" sz="1100" spc="-1" strike="noStrike">
                <a:solidFill>
                  <a:srgbClr val="ff00ff"/>
                </a:solidFill>
                <a:latin typeface="Consolas"/>
                <a:ea typeface="Courier New"/>
              </a:rPr>
              <a:t>File</a:t>
            </a:r>
            <a:r>
              <a:rPr b="0" lang="en-US" sz="11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Courier New"/>
              </a:rPr>
              <a:t>;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ffff00"/>
                </a:solidFill>
                <a:latin typeface="Consolas"/>
                <a:ea typeface="Courier New"/>
              </a:rPr>
              <a:t>fn</a:t>
            </a:r>
            <a:r>
              <a:rPr b="0" lang="en-US" sz="11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Courier New"/>
              </a:rPr>
              <a:t> </a:t>
            </a:r>
            <a:r>
              <a:rPr b="1" lang="en-US" sz="1100" spc="-1" strike="noStrike">
                <a:solidFill>
                  <a:srgbClr val="729fcf"/>
                </a:solidFill>
                <a:latin typeface="Consolas"/>
                <a:ea typeface="Courier New"/>
              </a:rPr>
              <a:t>main</a:t>
            </a:r>
            <a:r>
              <a:rPr b="0" lang="en-US" sz="1100" spc="-1" strike="noStrike">
                <a:solidFill>
                  <a:srgbClr val="d9d9d9"/>
                </a:solidFill>
                <a:latin typeface="Consolas"/>
                <a:ea typeface="Courier New"/>
              </a:rPr>
              <a:t>()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9d9d9"/>
                </a:solidFill>
                <a:latin typeface="Consolas"/>
                <a:ea typeface="Courier New"/>
              </a:rPr>
              <a:t>{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Courier New"/>
              </a:rPr>
              <a:t>  </a:t>
            </a:r>
            <a:r>
              <a:rPr b="0" lang="en-US" sz="1100" spc="-1" strike="noStrike">
                <a:solidFill>
                  <a:srgbClr val="ffff00"/>
                </a:solidFill>
                <a:latin typeface="Consolas"/>
                <a:ea typeface="Courier New"/>
              </a:rPr>
              <a:t>let</a:t>
            </a:r>
            <a:r>
              <a:rPr b="0" lang="en-US" sz="11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Courier New"/>
              </a:rPr>
              <a:t> </a:t>
            </a:r>
            <a:r>
              <a:rPr b="0" lang="en-US" sz="1100" spc="-1" strike="noStrike">
                <a:solidFill>
                  <a:srgbClr val="d9d9d9"/>
                </a:solidFill>
                <a:latin typeface="Consolas"/>
                <a:ea typeface="Courier New"/>
              </a:rPr>
              <a:t>file_plz = </a:t>
            </a:r>
            <a:r>
              <a:rPr b="0" lang="en-US" sz="11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File</a:t>
            </a:r>
            <a:r>
              <a:rPr b="0" lang="en-US" sz="11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Courier New"/>
              </a:rPr>
              <a:t>::</a:t>
            </a:r>
            <a:r>
              <a:rPr b="1" lang="en-US" sz="1100" spc="-1" strike="noStrike">
                <a:solidFill>
                  <a:srgbClr val="729fcf"/>
                </a:solidFill>
                <a:latin typeface="Consolas"/>
                <a:ea typeface="Courier New"/>
              </a:rPr>
              <a:t>open</a:t>
            </a:r>
            <a:r>
              <a:rPr b="0" lang="en-US" sz="11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Courier New"/>
              </a:rPr>
              <a:t>(</a:t>
            </a: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urier New"/>
              </a:rPr>
              <a:t>"hello.txt"</a:t>
            </a:r>
            <a:r>
              <a:rPr b="0" lang="en-US" sz="1100" spc="-1" strike="noStrike">
                <a:solidFill>
                  <a:srgbClr val="d9d9d9"/>
                </a:solidFill>
                <a:latin typeface="Consolas"/>
                <a:ea typeface="Courier New"/>
              </a:rPr>
              <a:t>);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br>
              <a:rPr sz="1100"/>
            </a:br>
            <a:r>
              <a:rPr b="0" lang="en-US" sz="1100" spc="-1" strike="noStrike">
                <a:solidFill>
                  <a:srgbClr val="d9d9d9"/>
                </a:solidFill>
                <a:latin typeface="Consolas"/>
                <a:ea typeface="DejaVu Sans"/>
              </a:rPr>
              <a:t>  </a:t>
            </a:r>
            <a:r>
              <a:rPr b="0" lang="en-US" sz="1100" spc="-1" strike="noStrike">
                <a:solidFill>
                  <a:srgbClr val="ffff00"/>
                </a:solidFill>
                <a:latin typeface="Consolas"/>
                <a:ea typeface="Courier New"/>
              </a:rPr>
              <a:t>let</a:t>
            </a:r>
            <a:r>
              <a:rPr b="0" lang="en-US" sz="1100" spc="-1" strike="noStrike">
                <a:solidFill>
                  <a:srgbClr val="d9d9d9"/>
                </a:solidFill>
                <a:latin typeface="Consolas"/>
                <a:ea typeface="Courier New"/>
              </a:rPr>
              <a:t> my_file = </a:t>
            </a:r>
            <a:r>
              <a:rPr b="0" lang="en-US" sz="1100" spc="-1" strike="noStrike">
                <a:solidFill>
                  <a:srgbClr val="ffff00"/>
                </a:solidFill>
                <a:latin typeface="Consolas"/>
                <a:ea typeface="Courier New"/>
              </a:rPr>
              <a:t>match</a:t>
            </a:r>
            <a:r>
              <a:rPr b="0" lang="en-US" sz="1100" spc="-1" strike="noStrike">
                <a:solidFill>
                  <a:srgbClr val="d9d9d9"/>
                </a:solidFill>
                <a:latin typeface="Consolas"/>
                <a:ea typeface="Courier New"/>
              </a:rPr>
              <a:t> file_plz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9d9d9"/>
                </a:solidFill>
                <a:latin typeface="Consolas"/>
                <a:ea typeface="Courier New"/>
              </a:rPr>
              <a:t>  </a:t>
            </a:r>
            <a:r>
              <a:rPr b="0" lang="en-US" sz="1100" spc="-1" strike="noStrike">
                <a:solidFill>
                  <a:srgbClr val="d9d9d9"/>
                </a:solidFill>
                <a:latin typeface="Consolas"/>
                <a:ea typeface="Courier New"/>
              </a:rPr>
              <a:t>{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9d9d9"/>
                </a:solidFill>
                <a:latin typeface="Consolas"/>
                <a:ea typeface="Courier New"/>
              </a:rPr>
              <a:t>    </a:t>
            </a:r>
            <a:r>
              <a:rPr b="0" lang="en-US" sz="1100" spc="-1" strike="noStrike">
                <a:solidFill>
                  <a:srgbClr val="d9d9d9"/>
                </a:solidFill>
                <a:latin typeface="Consolas"/>
                <a:ea typeface="Courier New"/>
              </a:rPr>
              <a:t>Ok(file) =&gt; file,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d9d9d9"/>
                </a:solidFill>
                <a:latin typeface="Consolas"/>
                <a:ea typeface="Courier New"/>
              </a:rPr>
              <a:t>    </a:t>
            </a:r>
            <a:r>
              <a:rPr b="0" lang="en-US" sz="1100" spc="-1" strike="noStrike">
                <a:solidFill>
                  <a:srgbClr val="d9d9d9"/>
                </a:solidFill>
                <a:latin typeface="Consolas"/>
                <a:ea typeface="Courier New"/>
              </a:rPr>
              <a:t>Err(error) =&gt; </a:t>
            </a:r>
            <a:r>
              <a:rPr b="0" lang="en-US" sz="1100" spc="-1" strike="noStrike">
                <a:solidFill>
                  <a:srgbClr val="ff9080"/>
                </a:solidFill>
                <a:latin typeface="Consolas"/>
                <a:ea typeface="Courier New"/>
              </a:rPr>
              <a:t>panic!</a:t>
            </a:r>
            <a:r>
              <a:rPr b="0" lang="en-US" sz="11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Courier New"/>
              </a:rPr>
              <a:t>(</a:t>
            </a: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urier New"/>
              </a:rPr>
              <a:t>"Error: {error:?}"</a:t>
            </a:r>
            <a:r>
              <a:rPr b="0" lang="en-US" sz="11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Courier New"/>
              </a:rPr>
              <a:t>),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Courier New"/>
              </a:rPr>
              <a:t>  </a:t>
            </a:r>
            <a:r>
              <a:rPr b="0" lang="en-US" sz="11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Courier New"/>
              </a:rPr>
              <a:t>};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729fcf"/>
                </a:solidFill>
                <a:latin typeface="Consolas"/>
                <a:ea typeface="Courier New"/>
              </a:rPr>
              <a:t>  </a:t>
            </a:r>
            <a:r>
              <a:rPr b="0" lang="en-US" sz="1100" spc="-1" strike="noStrike">
                <a:solidFill>
                  <a:srgbClr val="729fcf"/>
                </a:solidFill>
                <a:latin typeface="Consolas"/>
                <a:ea typeface="Courier New"/>
              </a:rPr>
              <a:t>// Or…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Courier New"/>
              </a:rPr>
              <a:t>  </a:t>
            </a:r>
            <a:r>
              <a:rPr b="0" lang="en-US" sz="11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Courier New"/>
              </a:rPr>
              <a:t>let my_file = </a:t>
            </a:r>
            <a:r>
              <a:rPr b="0" lang="en-US" sz="11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File</a:t>
            </a:r>
            <a:r>
              <a:rPr b="0" lang="en-US" sz="11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Courier New"/>
              </a:rPr>
              <a:t>::</a:t>
            </a:r>
            <a:r>
              <a:rPr b="1" lang="en-US" sz="11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Courier New"/>
              </a:rPr>
              <a:t>open</a:t>
            </a:r>
            <a:r>
              <a:rPr b="0" lang="en-US" sz="11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Courier New"/>
              </a:rPr>
              <a:t>("hello.txt").</a:t>
            </a:r>
            <a:r>
              <a:rPr b="1" lang="en-US" sz="1100" spc="-1" strike="noStrike">
                <a:solidFill>
                  <a:srgbClr val="729fcf"/>
                </a:solidFill>
                <a:latin typeface="Consolas"/>
                <a:ea typeface="Courier New"/>
              </a:rPr>
              <a:t>expect</a:t>
            </a:r>
            <a:r>
              <a:rPr b="0" lang="en-US" sz="11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Courier New"/>
              </a:rPr>
              <a:t>(</a:t>
            </a: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urier New"/>
              </a:rPr>
              <a:t>“Open failed”</a:t>
            </a:r>
            <a:r>
              <a:rPr b="0" lang="en-US" sz="11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Courier New"/>
              </a:rPr>
              <a:t>);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729fcf"/>
                </a:solidFill>
                <a:latin typeface="Consolas"/>
                <a:ea typeface="Courier New"/>
              </a:rPr>
              <a:t>  </a:t>
            </a:r>
            <a:r>
              <a:rPr b="0" lang="en-US" sz="1100" spc="-1" strike="noStrike">
                <a:solidFill>
                  <a:srgbClr val="729fcf"/>
                </a:solidFill>
                <a:latin typeface="Consolas"/>
                <a:ea typeface="Courier New"/>
              </a:rPr>
              <a:t>// Or…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Courier New"/>
              </a:rPr>
              <a:t>  </a:t>
            </a:r>
            <a:r>
              <a:rPr b="0" lang="en-US" sz="11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Courier New"/>
              </a:rPr>
              <a:t>let my_file = </a:t>
            </a:r>
            <a:r>
              <a:rPr b="0" lang="en-US" sz="11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File</a:t>
            </a:r>
            <a:r>
              <a:rPr b="0" lang="en-US" sz="11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Courier New"/>
              </a:rPr>
              <a:t>::</a:t>
            </a:r>
            <a:r>
              <a:rPr b="1" lang="en-US" sz="11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Courier New"/>
              </a:rPr>
              <a:t>open</a:t>
            </a:r>
            <a:r>
              <a:rPr b="0" lang="en-US" sz="11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Courier New"/>
              </a:rPr>
              <a:t>("hello.txt").</a:t>
            </a:r>
            <a:r>
              <a:rPr b="1" lang="en-US" sz="1100" spc="-1" strike="noStrike">
                <a:solidFill>
                  <a:srgbClr val="729fcf"/>
                </a:solidFill>
                <a:latin typeface="Consolas"/>
                <a:ea typeface="Courier New"/>
              </a:rPr>
              <a:t>unwrap</a:t>
            </a:r>
            <a:r>
              <a:rPr b="0" lang="en-US" sz="11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Courier New"/>
              </a:rPr>
              <a:t>();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Courier New"/>
              </a:rPr>
              <a:t>}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TextBox 18"/>
          <p:cNvSpPr/>
          <p:nvPr/>
        </p:nvSpPr>
        <p:spPr>
          <a:xfrm rot="2400">
            <a:off x="2938680" y="1709280"/>
            <a:ext cx="2603520" cy="257400"/>
          </a:xfrm>
          <a:prstGeom prst="rect">
            <a:avLst/>
          </a:prstGeom>
          <a:solidFill>
            <a:srgbClr val="1a3552"/>
          </a:solidFill>
          <a:ln w="0">
            <a:solidFill>
              <a:srgbClr val="ffffff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00ffff"/>
                </a:solidFill>
                <a:latin typeface="Consolas"/>
                <a:ea typeface="MS PGothic"/>
              </a:rPr>
              <a:t>Result&lt;File, std::io::Error&gt;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73" name="Connector: Elbow 2"/>
          <p:cNvCxnSpPr>
            <a:endCxn id="72" idx="2"/>
          </p:cNvCxnSpPr>
          <p:nvPr/>
        </p:nvCxnSpPr>
        <p:spPr>
          <a:xfrm flipH="1" flipV="1" rot="5400000">
            <a:off x="3127680" y="1253520"/>
            <a:ext cx="399240" cy="1826640"/>
          </a:xfrm>
          <a:prstGeom prst="bentConnector3">
            <a:avLst>
              <a:gd name="adj1" fmla="val 47382"/>
            </a:avLst>
          </a:prstGeom>
          <a:ln w="12600">
            <a:solidFill>
              <a:srgbClr val="ffff00"/>
            </a:solidFill>
            <a:round/>
            <a:tailEnd len="med" type="triangle" w="med"/>
          </a:ln>
        </p:spPr>
      </p:cxnSp>
      <p:sp>
        <p:nvSpPr>
          <p:cNvPr id="74" name="PlaceHolder 23"/>
          <p:cNvSpPr/>
          <p:nvPr/>
        </p:nvSpPr>
        <p:spPr>
          <a:xfrm>
            <a:off x="5727600" y="1611000"/>
            <a:ext cx="3146040" cy="1928160"/>
          </a:xfrm>
          <a:prstGeom prst="rect">
            <a:avLst/>
          </a:prstGeom>
          <a:solidFill>
            <a:srgbClr val="1a3552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algn="just">
              <a:lnSpc>
                <a:spcPct val="100000"/>
              </a:lnSpc>
              <a:spcBef>
                <a:spcPts val="2001"/>
              </a:spcBef>
              <a:tabLst>
                <a:tab algn="l" pos="0"/>
              </a:tabLst>
            </a:pPr>
            <a:r>
              <a:rPr b="0" lang="en-US" sz="2000" spc="-1" strike="noStrike">
                <a:solidFill>
                  <a:schemeClr val="lt1"/>
                </a:solidFill>
                <a:latin typeface="Cambria"/>
                <a:ea typeface="MS PGothic"/>
              </a:rPr>
              <a:t>The question mark operator (?) can be used with result, but only if all functions in the chain accept the same error type.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TextBox 19"/>
          <p:cNvSpPr/>
          <p:nvPr/>
        </p:nvSpPr>
        <p:spPr>
          <a:xfrm>
            <a:off x="3522960" y="3385440"/>
            <a:ext cx="2012760" cy="257400"/>
          </a:xfrm>
          <a:prstGeom prst="rect">
            <a:avLst/>
          </a:prstGeom>
          <a:solidFill>
            <a:schemeClr val="accent6">
              <a:lumMod val="50000"/>
            </a:schemeClr>
          </a:solidFill>
          <a:ln w="0">
            <a:solidFill>
              <a:srgbClr val="ffffff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chemeClr val="lt1"/>
                </a:solidFill>
                <a:latin typeface="Rockwell"/>
                <a:ea typeface="MS PGothic"/>
              </a:rPr>
              <a:t>Panic with custom message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TextBox 20"/>
          <p:cNvSpPr/>
          <p:nvPr/>
        </p:nvSpPr>
        <p:spPr>
          <a:xfrm>
            <a:off x="3827880" y="4055400"/>
            <a:ext cx="1708920" cy="257400"/>
          </a:xfrm>
          <a:prstGeom prst="rect">
            <a:avLst/>
          </a:prstGeom>
          <a:solidFill>
            <a:schemeClr val="accent6">
              <a:lumMod val="50000"/>
            </a:schemeClr>
          </a:solidFill>
          <a:ln w="0">
            <a:solidFill>
              <a:srgbClr val="ffffff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chemeClr val="lt1"/>
                </a:solidFill>
                <a:latin typeface="Rockwell"/>
                <a:ea typeface="MS PGothic"/>
              </a:rPr>
              <a:t>Panic, default message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"/>
          <p:cNvSpPr/>
          <p:nvPr/>
        </p:nvSpPr>
        <p:spPr>
          <a:xfrm flipV="1">
            <a:off x="4666680" y="3643560"/>
            <a:ext cx="360" cy="182880"/>
          </a:xfrm>
          <a:prstGeom prst="line">
            <a:avLst/>
          </a:prstGeom>
          <a:ln w="1260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8" name="Rectangle: Rounded Corners 3"/>
          <p:cNvSpPr/>
          <p:nvPr/>
        </p:nvSpPr>
        <p:spPr>
          <a:xfrm>
            <a:off x="3676680" y="3828600"/>
            <a:ext cx="1779480" cy="199080"/>
          </a:xfrm>
          <a:prstGeom prst="roundRect">
            <a:avLst>
              <a:gd name="adj" fmla="val 16667"/>
            </a:avLst>
          </a:prstGeom>
          <a:noFill/>
          <a:ln w="12600">
            <a:solidFill>
              <a:srgbClr val="ffff00"/>
            </a:solidFill>
            <a:round/>
            <a:tailEnd len="med" type="triangle" w="med"/>
          </a:ln>
          <a:effectLst>
            <a:outerShdw blurRad="63360" dir="5400000" dist="25560" rotWithShape="0">
              <a:srgbClr val="808080">
                <a:alpha val="7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 u="sng">
              <a:solidFill>
                <a:schemeClr val="lt1"/>
              </a:solidFill>
              <a:uFillTx/>
              <a:latin typeface="Rockwell"/>
              <a:ea typeface="MS PGothic"/>
            </a:endParaRPr>
          </a:p>
        </p:txBody>
      </p:sp>
      <p:cxnSp>
        <p:nvCxnSpPr>
          <p:cNvPr id="79" name=""/>
          <p:cNvCxnSpPr/>
          <p:nvPr/>
        </p:nvCxnSpPr>
        <p:spPr>
          <a:xfrm flipV="1">
            <a:off x="4368960" y="4312800"/>
            <a:ext cx="298800" cy="137880"/>
          </a:xfrm>
          <a:prstGeom prst="bentConnector3">
            <a:avLst>
              <a:gd name="adj1" fmla="val 100120"/>
            </a:avLst>
          </a:prstGeom>
          <a:ln w="12600">
            <a:solidFill>
              <a:srgbClr val="ffff00"/>
            </a:solidFill>
            <a:round/>
          </a:ln>
        </p:spPr>
      </p:cxnSp>
      <p:sp>
        <p:nvSpPr>
          <p:cNvPr id="80" name="Rectangle: Rounded Corners 4"/>
          <p:cNvSpPr/>
          <p:nvPr/>
        </p:nvSpPr>
        <p:spPr>
          <a:xfrm>
            <a:off x="3684960" y="4334040"/>
            <a:ext cx="680400" cy="199080"/>
          </a:xfrm>
          <a:prstGeom prst="roundRect">
            <a:avLst>
              <a:gd name="adj" fmla="val 16667"/>
            </a:avLst>
          </a:prstGeom>
          <a:noFill/>
          <a:ln w="12600">
            <a:solidFill>
              <a:srgbClr val="ffff00"/>
            </a:solidFill>
            <a:round/>
            <a:tailEnd len="med" type="triangle" w="med"/>
          </a:ln>
          <a:effectLst>
            <a:outerShdw blurRad="63360" dir="5400000" dist="25560" rotWithShape="0">
              <a:srgbClr val="808080">
                <a:alpha val="7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 u="sng">
              <a:solidFill>
                <a:schemeClr val="lt1"/>
              </a:solidFill>
              <a:uFillTx/>
              <a:latin typeface="Rockwell"/>
              <a:ea typeface="MS PGothic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58A2994-76EC-4ACB-863E-94B52DD5939A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96" dur="indefinite" restart="never" nodeType="tmRoot">
          <p:childTnLst>
            <p:seq>
              <p:cTn id="497" dur="indefinite" nodeType="mainSeq">
                <p:childTnLst>
                  <p:par>
                    <p:cTn id="498" fill="hold">
                      <p:stCondLst>
                        <p:cond delay="indefinite"/>
                      </p:stCondLst>
                      <p:childTnLst>
                        <p:par>
                          <p:cTn id="499" fill="hold">
                            <p:stCondLst>
                              <p:cond delay="0"/>
                            </p:stCondLst>
                            <p:childTnLst>
                              <p:par>
                                <p:cTn id="50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0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3" fill="hold">
                      <p:stCondLst>
                        <p:cond delay="indefinite"/>
                      </p:stCondLst>
                      <p:childTnLst>
                        <p:par>
                          <p:cTn id="504" fill="hold">
                            <p:stCondLst>
                              <p:cond delay="0"/>
                            </p:stCondLst>
                            <p:childTnLst>
                              <p:par>
                                <p:cTn id="50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6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07" dur="500"/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9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10" dur="500"/>
                                        <p:tgtEl>
                                          <p:spTgt spid="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2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13" dur="500"/>
                                        <p:tgtEl>
                                          <p:spTgt spid="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4" fill="hold">
                      <p:stCondLst>
                        <p:cond delay="indefinite"/>
                      </p:stCondLst>
                      <p:childTnLst>
                        <p:par>
                          <p:cTn id="515" fill="hold">
                            <p:stCondLst>
                              <p:cond delay="0"/>
                            </p:stCondLst>
                            <p:childTnLst>
                              <p:par>
                                <p:cTn id="51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7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18" dur="500"/>
                                        <p:tgtEl>
                                          <p:spTgt spid="7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9" fill="hold">
                      <p:stCondLst>
                        <p:cond delay="indefinite"/>
                      </p:stCondLst>
                      <p:childTnLst>
                        <p:par>
                          <p:cTn id="520" fill="hold">
                            <p:stCondLst>
                              <p:cond delay="0"/>
                            </p:stCondLst>
                            <p:childTnLst>
                              <p:par>
                                <p:cTn id="52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2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23" dur="500"/>
                                        <p:tgtEl>
                                          <p:spTgt spid="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4" fill="hold">
                      <p:stCondLst>
                        <p:cond delay="indefinite"/>
                      </p:stCondLst>
                      <p:childTnLst>
                        <p:par>
                          <p:cTn id="525" fill="hold">
                            <p:stCondLst>
                              <p:cond delay="0"/>
                            </p:stCondLst>
                            <p:childTnLst>
                              <p:par>
                                <p:cTn id="52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7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2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3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3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34" dur="500"/>
                                        <p:tgtEl>
                                          <p:spTgt spid="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6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37" dur="500"/>
                                        <p:tgtEl>
                                          <p:spTgt spid="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9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40" dur="500"/>
                                        <p:tgtEl>
                                          <p:spTgt spid="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1" fill="hold">
                      <p:stCondLst>
                        <p:cond delay="indefinite"/>
                      </p:stCondLst>
                      <p:childTnLst>
                        <p:par>
                          <p:cTn id="542" fill="hold">
                            <p:stCondLst>
                              <p:cond delay="0"/>
                            </p:stCondLst>
                            <p:childTnLst>
                              <p:par>
                                <p:cTn id="54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4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45" dur="500"/>
                                        <p:tgtEl>
                                          <p:spTgt spid="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6" fill="hold">
                      <p:stCondLst>
                        <p:cond delay="indefinite"/>
                      </p:stCondLst>
                      <p:childTnLst>
                        <p:par>
                          <p:cTn id="547" fill="hold">
                            <p:stCondLst>
                              <p:cond delay="0"/>
                            </p:stCondLst>
                            <p:childTnLst>
                              <p:par>
                                <p:cTn id="54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9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50" dur="500"/>
                                        <p:tgtEl>
                                          <p:spTgt spid="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1" fill="hold">
                      <p:stCondLst>
                        <p:cond delay="indefinite"/>
                      </p:stCondLst>
                      <p:childTnLst>
                        <p:par>
                          <p:cTn id="552" fill="hold">
                            <p:stCondLst>
                              <p:cond delay="0"/>
                            </p:stCondLst>
                            <p:childTnLst>
                              <p:par>
                                <p:cTn id="55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55" dur="2000"/>
                                        <p:tgtEl>
                                          <p:spTgt spid="7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7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58" dur="500"/>
                                        <p:tgtEl>
                                          <p:spTgt spid="7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9" fill="hold">
                      <p:stCondLst>
                        <p:cond delay="indefinite"/>
                      </p:stCondLst>
                      <p:childTnLst>
                        <p:par>
                          <p:cTn id="560" fill="hold">
                            <p:stCondLst>
                              <p:cond delay="0"/>
                            </p:stCondLst>
                            <p:childTnLst>
                              <p:par>
                                <p:cTn id="56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2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6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6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69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0" fill="hold">
                      <p:stCondLst>
                        <p:cond delay="indefinite"/>
                      </p:stCondLst>
                      <p:childTnLst>
                        <p:par>
                          <p:cTn id="571" fill="hold">
                            <p:stCondLst>
                              <p:cond delay="0"/>
                            </p:stCondLst>
                            <p:childTnLst>
                              <p:par>
                                <p:cTn id="57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3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74" dur="500"/>
                                        <p:tgtEl>
                                          <p:spTgt spid="7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5" fill="hold">
                      <p:stCondLst>
                        <p:cond delay="indefinite"/>
                      </p:stCondLst>
                      <p:childTnLst>
                        <p:par>
                          <p:cTn id="576" fill="hold">
                            <p:stCondLst>
                              <p:cond delay="0"/>
                            </p:stCondLst>
                            <p:childTnLst>
                              <p:par>
                                <p:cTn id="57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7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8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4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85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6" fill="hold">
                      <p:stCondLst>
                        <p:cond delay="indefinite"/>
                      </p:stCondLst>
                      <p:childTnLst>
                        <p:par>
                          <p:cTn id="587" fill="hold">
                            <p:stCondLst>
                              <p:cond delay="0"/>
                            </p:stCondLst>
                            <p:childTnLst>
                              <p:par>
                                <p:cTn id="58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9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9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PNE Theme Slide Deck">
  <a:themeElements>
    <a:clrScheme name="Custom 7">
      <a:dk1>
        <a:srgbClr val="000000"/>
      </a:dk1>
      <a:lt1>
        <a:srgbClr val="ffffff"/>
      </a:lt1>
      <a:dk2>
        <a:srgbClr val="000c3e"/>
      </a:dk2>
      <a:lt2>
        <a:srgbClr val="6c9ac3"/>
      </a:lt2>
      <a:accent1>
        <a:srgbClr val="00529b"/>
      </a:accent1>
      <a:accent2>
        <a:srgbClr val="00529b"/>
      </a:accent2>
      <a:accent3>
        <a:srgbClr val="e17f35"/>
      </a:accent3>
      <a:accent4>
        <a:srgbClr val="ff462c"/>
      </a:accent4>
      <a:accent5>
        <a:srgbClr val="ff462c"/>
      </a:accent5>
      <a:accent6>
        <a:srgbClr val="6c9ac3"/>
      </a:accent6>
      <a:hlink>
        <a:srgbClr val="ff462c"/>
      </a:hlink>
      <a:folHlink>
        <a:srgbClr val="ff7f35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NE Theme Slide Deck">
  <a:themeElements>
    <a:clrScheme name="Custom 7">
      <a:dk1>
        <a:srgbClr val="000000"/>
      </a:dk1>
      <a:lt1>
        <a:srgbClr val="ffffff"/>
      </a:lt1>
      <a:dk2>
        <a:srgbClr val="000c3e"/>
      </a:dk2>
      <a:lt2>
        <a:srgbClr val="6c9ac3"/>
      </a:lt2>
      <a:accent1>
        <a:srgbClr val="00529b"/>
      </a:accent1>
      <a:accent2>
        <a:srgbClr val="00529b"/>
      </a:accent2>
      <a:accent3>
        <a:srgbClr val="e17f35"/>
      </a:accent3>
      <a:accent4>
        <a:srgbClr val="ff462c"/>
      </a:accent4>
      <a:accent5>
        <a:srgbClr val="ff462c"/>
      </a:accent5>
      <a:accent6>
        <a:srgbClr val="6c9ac3"/>
      </a:accent6>
      <a:hlink>
        <a:srgbClr val="ff462c"/>
      </a:hlink>
      <a:folHlink>
        <a:srgbClr val="ff7f35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PNE Theme Slide Deck">
  <a:themeElements>
    <a:clrScheme name="Custom 7">
      <a:dk1>
        <a:srgbClr val="000000"/>
      </a:dk1>
      <a:lt1>
        <a:srgbClr val="ffffff"/>
      </a:lt1>
      <a:dk2>
        <a:srgbClr val="000c3e"/>
      </a:dk2>
      <a:lt2>
        <a:srgbClr val="6c9ac3"/>
      </a:lt2>
      <a:accent1>
        <a:srgbClr val="00529b"/>
      </a:accent1>
      <a:accent2>
        <a:srgbClr val="00529b"/>
      </a:accent2>
      <a:accent3>
        <a:srgbClr val="e17f35"/>
      </a:accent3>
      <a:accent4>
        <a:srgbClr val="ff462c"/>
      </a:accent4>
      <a:accent5>
        <a:srgbClr val="ff462c"/>
      </a:accent5>
      <a:accent6>
        <a:srgbClr val="6c9ac3"/>
      </a:accent6>
      <a:hlink>
        <a:srgbClr val="ff462c"/>
      </a:hlink>
      <a:folHlink>
        <a:srgbClr val="ff7f35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33995</TotalTime>
  <Application>LibreOffice/24.2.7.2$Linux_X86_64 LibreOffice_project/420$Build-2</Application>
  <AppVersion>15.0000</AppVersion>
  <Company>UF College of Engineering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2013-09-18T13:46:37Z</dcterms:created>
  <dc:creator>Cocherell,Teresa D</dc:creator>
  <dc:description/>
  <dc:language>en-US</dc:language>
  <cp:lastModifiedBy/>
  <cp:lastPrinted>2014-01-31T19:29:42Z</cp:lastPrinted>
  <dcterms:modified xsi:type="dcterms:W3CDTF">2026-05-31T20:39:05Z</dcterms:modified>
  <cp:revision>779</cp:revision>
  <dc:subject/>
  <dc:title>College Performance Data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8</vt:r8>
  </property>
  <property fmtid="{D5CDD505-2E9C-101B-9397-08002B2CF9AE}" pid="3" name="PresentationFormat">
    <vt:lpwstr>On-screen Show (16:9)</vt:lpwstr>
  </property>
  <property fmtid="{D5CDD505-2E9C-101B-9397-08002B2CF9AE}" pid="4" name="Slides">
    <vt:r8>8</vt:r8>
  </property>
</Properties>
</file>
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png" ContentType="image/png"/>
  <Override PartName="/ppt/media/image4.svg" ContentType="image/sv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6D4E29A-63D0-42F1-AAEE-F8BBC2C4C10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8400" cy="256824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1600" cy="308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7"/>
          </p:nvPr>
        </p:nvSpPr>
        <p:spPr>
          <a:xfrm>
            <a:off x="5180040" y="6513480"/>
            <a:ext cx="39589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47F9FD-1555-45C6-AFCE-5D45CF1C0BEF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480" cy="256932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2680" cy="30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8"/>
          </p:nvPr>
        </p:nvSpPr>
        <p:spPr>
          <a:xfrm>
            <a:off x="5180040" y="6513480"/>
            <a:ext cx="3960000" cy="340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600029-52B2-4C81-885E-4DCE640C9AC1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480" cy="256932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2680" cy="30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9"/>
          </p:nvPr>
        </p:nvSpPr>
        <p:spPr>
          <a:xfrm>
            <a:off x="5180040" y="6513480"/>
            <a:ext cx="3960000" cy="340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96975E-3778-46B3-A7C0-FE8B97B53D50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480" cy="25693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2680" cy="30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10"/>
          </p:nvPr>
        </p:nvSpPr>
        <p:spPr>
          <a:xfrm>
            <a:off x="5180040" y="6513480"/>
            <a:ext cx="3960000" cy="340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12DA63-64BB-4E8D-9E97-8F380F99FD10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480" cy="256932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2680" cy="30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11"/>
          </p:nvPr>
        </p:nvSpPr>
        <p:spPr>
          <a:xfrm>
            <a:off x="5180040" y="6513480"/>
            <a:ext cx="3960000" cy="340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03CA92-867D-499C-901B-ECC47CDAF440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480" cy="256932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2680" cy="30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12"/>
          </p:nvPr>
        </p:nvSpPr>
        <p:spPr>
          <a:xfrm>
            <a:off x="5180040" y="6513480"/>
            <a:ext cx="3960000" cy="340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6330CD-5C71-4D02-8DA8-D25B8728F7E8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480" cy="256932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2680" cy="30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13"/>
          </p:nvPr>
        </p:nvSpPr>
        <p:spPr>
          <a:xfrm>
            <a:off x="5180040" y="6513480"/>
            <a:ext cx="3960000" cy="340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CEDC02-6DA7-4E72-A5FC-623632A5B3F6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480" cy="25693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2680" cy="30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14"/>
          </p:nvPr>
        </p:nvSpPr>
        <p:spPr>
          <a:xfrm>
            <a:off x="5180040" y="6513480"/>
            <a:ext cx="3960000" cy="340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003D0B-C81C-439F-A946-FC16EE950F64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6E6C756-1D4D-4DB3-852C-1ED4DC6D7A69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43E0B8-AD8A-485E-9835-F4CA925EE381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68DFC6-F84C-4B40-BB8A-1433A845166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0400" cy="5135400"/>
          </a:xfrm>
          <a:prstGeom prst="rect">
            <a:avLst/>
          </a:prstGeom>
          <a:ln w="0">
            <a:noFill/>
          </a:ln>
        </p:spPr>
      </p:pic>
      <p:sp>
        <p:nvSpPr>
          <p:cNvPr id="1" name="Rectangle 2"/>
          <p:cNvSpPr/>
          <p:nvPr/>
        </p:nvSpPr>
        <p:spPr>
          <a:xfrm>
            <a:off x="0" y="0"/>
            <a:ext cx="9140400" cy="514008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37520" cy="51382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38600" cy="513360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sldNum" idx="1"/>
          </p:nvPr>
        </p:nvSpPr>
        <p:spPr>
          <a:xfrm>
            <a:off x="7049160" y="4767120"/>
            <a:ext cx="2052000" cy="26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79DF21F-3AFF-4571-A020-C8CB27D5C8A4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36800" cy="513180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sldNum" idx="2"/>
          </p:nvPr>
        </p:nvSpPr>
        <p:spPr>
          <a:xfrm>
            <a:off x="7049160" y="4767120"/>
            <a:ext cx="2050200" cy="26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C8D961E-079E-4779-831E-1F43FF5A47F1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38960" cy="513396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sldNum" idx="3"/>
          </p:nvPr>
        </p:nvSpPr>
        <p:spPr>
          <a:xfrm>
            <a:off x="7049160" y="4767120"/>
            <a:ext cx="2052360" cy="26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76E97B7-46E5-4303-A945-A307B002A044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71200" y="1603080"/>
            <a:ext cx="8269200" cy="804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Scopi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ng &amp; 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Unsa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fe 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Type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71200" y="2310120"/>
            <a:ext cx="8105760" cy="653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The Belly of the Beast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Graphic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285360" y="2410920"/>
            <a:ext cx="3009240" cy="180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/>
          </p:nvPr>
        </p:nvSpPr>
        <p:spPr>
          <a:xfrm>
            <a:off x="325800" y="1291320"/>
            <a:ext cx="8500680" cy="4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Typically, memory is acquired &amp; released per </a:t>
            </a:r>
            <a:r>
              <a:rPr b="1" i="1" lang="en-US" sz="2200" spc="-1" strike="noStrike">
                <a:solidFill>
                  <a:srgbClr val="ffbf00"/>
                </a:solidFill>
                <a:latin typeface="Cambria"/>
                <a:ea typeface="MS PGothic"/>
              </a:rPr>
              <a:t>owner’s</a:t>
            </a: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 scope.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289800" y="604440"/>
            <a:ext cx="8561520" cy="83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Sco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ping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–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Acq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uisit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ion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&amp;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Initi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aliz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atio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1"/>
          <p:cNvSpPr/>
          <p:nvPr/>
        </p:nvSpPr>
        <p:spPr>
          <a:xfrm>
            <a:off x="325800" y="3006720"/>
            <a:ext cx="8500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Rust enforces </a:t>
            </a:r>
            <a:r>
              <a:rPr b="1" i="1" lang="en-US" sz="2200" spc="-1" strike="noStrike">
                <a:solidFill>
                  <a:srgbClr val="ffbf00"/>
                </a:solidFill>
                <a:latin typeface="Cambria"/>
                <a:ea typeface="MS PGothic"/>
              </a:rPr>
              <a:t>Resource Acquisition is Initialization </a:t>
            </a: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(RAII).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Box 8"/>
          <p:cNvSpPr/>
          <p:nvPr/>
        </p:nvSpPr>
        <p:spPr>
          <a:xfrm>
            <a:off x="4414320" y="1752480"/>
            <a:ext cx="3770640" cy="118692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get_name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 -&gt;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 String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 </a:t>
            </a:r>
            <a:r>
              <a:rPr b="0" lang="en-US" sz="12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name =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new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io::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stdin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().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read_line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mut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name);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return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name;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8" name="TextBox 1"/>
          <p:cNvSpPr/>
          <p:nvPr/>
        </p:nvSpPr>
        <p:spPr>
          <a:xfrm>
            <a:off x="899280" y="3460320"/>
            <a:ext cx="4288320" cy="118692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Courier New"/>
              </a:rPr>
              <a:t> noms =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Courier New"/>
              </a:rPr>
              <a:t>JpnNoms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Courier New"/>
              </a:rPr>
              <a:t>::Pocky(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Courier New"/>
              </a:rPr>
              <a:t>"Dark Chocolate"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Courier New"/>
              </a:rPr>
              <a:t>);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Courier New"/>
              </a:rPr>
              <a:t>if let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urier New"/>
              </a:rPr>
              <a:t>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Courier New"/>
              </a:rPr>
              <a:t>JpnNoms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::Pocky(flavor) = noms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ff9080"/>
                </a:solidFill>
                <a:latin typeface="Consolas"/>
                <a:ea typeface="Courier New"/>
              </a:rPr>
              <a:t>println</a:t>
            </a: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Courier New"/>
              </a:rPr>
              <a:t>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Courier New"/>
              </a:rPr>
              <a:t>"This flavor is {}"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, flavor);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9" name="TextBox 5"/>
          <p:cNvSpPr/>
          <p:nvPr/>
        </p:nvSpPr>
        <p:spPr>
          <a:xfrm rot="2400">
            <a:off x="4333320" y="3796560"/>
            <a:ext cx="817200" cy="30384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bf00"/>
                </a:solidFill>
                <a:latin typeface="Consolas"/>
                <a:ea typeface="MS PGothic"/>
              </a:rPr>
              <a:t>if</a:t>
            </a:r>
            <a:r>
              <a:rPr b="0" lang="en-US" sz="1400" spc="-1" strike="noStrike">
                <a:solidFill>
                  <a:srgbClr val="00ffff"/>
                </a:solidFill>
                <a:latin typeface="Times New Roman"/>
                <a:ea typeface="MS PGothic"/>
              </a:rPr>
              <a:t> scope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cxnSp>
        <p:nvCxnSpPr>
          <p:cNvPr id="30" name=""/>
          <p:cNvCxnSpPr>
            <a:endCxn id="29" idx="0"/>
          </p:cNvCxnSpPr>
          <p:nvPr/>
        </p:nvCxnSpPr>
        <p:spPr>
          <a:xfrm flipH="1" flipV="1" rot="5400000">
            <a:off x="3877920" y="3001680"/>
            <a:ext cx="69120" cy="1659600"/>
          </a:xfrm>
          <a:prstGeom prst="bentConnector3">
            <a:avLst>
              <a:gd name="adj1" fmla="val 181151"/>
            </a:avLst>
          </a:prstGeom>
          <a:ln w="12600">
            <a:solidFill>
              <a:srgbClr val="ffff00"/>
            </a:solidFill>
            <a:round/>
          </a:ln>
        </p:spPr>
      </p:cxnSp>
      <p:cxnSp>
        <p:nvCxnSpPr>
          <p:cNvPr id="31" name=""/>
          <p:cNvCxnSpPr/>
          <p:nvPr/>
        </p:nvCxnSpPr>
        <p:spPr>
          <a:xfrm flipH="1" flipV="1" rot="5400000">
            <a:off x="6311160" y="1491120"/>
            <a:ext cx="105480" cy="120096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32" name="TextBox 6"/>
          <p:cNvSpPr/>
          <p:nvPr/>
        </p:nvSpPr>
        <p:spPr>
          <a:xfrm rot="2400">
            <a:off x="6894000" y="1810440"/>
            <a:ext cx="1226520" cy="30384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ffff"/>
                </a:solidFill>
                <a:latin typeface="Times New Roman"/>
                <a:ea typeface="MS PGothic"/>
              </a:rPr>
              <a:t>function scope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cxnSp>
        <p:nvCxnSpPr>
          <p:cNvPr id="33" name=""/>
          <p:cNvCxnSpPr>
            <a:endCxn id="34" idx="1"/>
          </p:cNvCxnSpPr>
          <p:nvPr/>
        </p:nvCxnSpPr>
        <p:spPr>
          <a:xfrm>
            <a:off x="5931720" y="2647800"/>
            <a:ext cx="1045800" cy="54720"/>
          </a:xfrm>
          <a:prstGeom prst="bentConnector3">
            <a:avLst>
              <a:gd name="adj1" fmla="val 5000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34" name="TextBox 7"/>
          <p:cNvSpPr/>
          <p:nvPr/>
        </p:nvSpPr>
        <p:spPr>
          <a:xfrm rot="2400">
            <a:off x="6976800" y="2550600"/>
            <a:ext cx="1144080" cy="30384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ffff"/>
                </a:solidFill>
                <a:latin typeface="Times New Roman"/>
                <a:ea typeface="MS PGothic"/>
              </a:rPr>
              <a:t>caller scope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TextBox 10"/>
          <p:cNvSpPr/>
          <p:nvPr/>
        </p:nvSpPr>
        <p:spPr>
          <a:xfrm>
            <a:off x="899280" y="1751760"/>
            <a:ext cx="3267720" cy="118692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main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ans = 5;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 </a:t>
            </a:r>
            <a:r>
              <a:rPr b="0" lang="en-US" sz="12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question = ans;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question = ans + question;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</p:txBody>
      </p:sp>
      <p:cxnSp>
        <p:nvCxnSpPr>
          <p:cNvPr id="36" name=""/>
          <p:cNvCxnSpPr>
            <a:endCxn id="37" idx="1"/>
          </p:cNvCxnSpPr>
          <p:nvPr/>
        </p:nvCxnSpPr>
        <p:spPr>
          <a:xfrm flipH="1" flipV="1" rot="5400000">
            <a:off x="1868760" y="1928160"/>
            <a:ext cx="234360" cy="31392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38" name="TextBox 2"/>
          <p:cNvSpPr/>
          <p:nvPr/>
        </p:nvSpPr>
        <p:spPr>
          <a:xfrm>
            <a:off x="5244480" y="3459600"/>
            <a:ext cx="2940840" cy="118764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numbers = [3, 1, 3, 3, 7];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for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num </a:t>
            </a:r>
            <a:r>
              <a:rPr b="0" lang="en-US" sz="1200" spc="-1" strike="noStrike">
                <a:solidFill>
                  <a:srgbClr val="ffbf00"/>
                </a:solidFill>
                <a:latin typeface="Consolas"/>
                <a:ea typeface="MS PGothic"/>
              </a:rPr>
              <a:t>in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numbers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"{}"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num);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</p:txBody>
      </p:sp>
      <p:cxnSp>
        <p:nvCxnSpPr>
          <p:cNvPr id="39" name=""/>
          <p:cNvCxnSpPr>
            <a:endCxn id="40" idx="0"/>
          </p:cNvCxnSpPr>
          <p:nvPr/>
        </p:nvCxnSpPr>
        <p:spPr>
          <a:xfrm flipH="1" flipV="1" rot="5400000">
            <a:off x="6730920" y="2962800"/>
            <a:ext cx="33480" cy="1806120"/>
          </a:xfrm>
          <a:prstGeom prst="bentConnector3">
            <a:avLst>
              <a:gd name="adj1" fmla="val 420652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40" name="TextBox 9"/>
          <p:cNvSpPr/>
          <p:nvPr/>
        </p:nvSpPr>
        <p:spPr>
          <a:xfrm rot="2400">
            <a:off x="7174800" y="3848760"/>
            <a:ext cx="950760" cy="30384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ffff"/>
                </a:solidFill>
                <a:latin typeface="Times New Roman"/>
                <a:ea typeface="MS PGothic"/>
              </a:rPr>
              <a:t>loop scope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TextBox 11"/>
          <p:cNvSpPr/>
          <p:nvPr/>
        </p:nvSpPr>
        <p:spPr>
          <a:xfrm rot="2400">
            <a:off x="2142360" y="1816200"/>
            <a:ext cx="1959120" cy="30384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ffff"/>
                </a:solidFill>
                <a:latin typeface="Times New Roman"/>
                <a:ea typeface="MS PGothic"/>
              </a:rPr>
              <a:t>function scope (main)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cxnSp>
        <p:nvCxnSpPr>
          <p:cNvPr id="41" name=""/>
          <p:cNvCxnSpPr>
            <a:endCxn id="37" idx="2"/>
          </p:cNvCxnSpPr>
          <p:nvPr/>
        </p:nvCxnSpPr>
        <p:spPr>
          <a:xfrm flipH="1" flipV="1" rot="5400000">
            <a:off x="2682360" y="1920960"/>
            <a:ext cx="240120" cy="639360"/>
          </a:xfrm>
          <a:prstGeom prst="bentConnector3">
            <a:avLst>
              <a:gd name="adj1" fmla="val 49549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8DEF4D-D1C3-4702-B599-CEBA5692ACAB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" dur="1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4" dur="500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/>
          </p:nvPr>
        </p:nvSpPr>
        <p:spPr>
          <a:xfrm>
            <a:off x="325800" y="1471320"/>
            <a:ext cx="8500680" cy="4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For cleanup when falling out of scope, implement </a:t>
            </a:r>
            <a:r>
              <a:rPr b="1" lang="en-US" sz="2200" spc="-1" strike="noStrike">
                <a:solidFill>
                  <a:srgbClr val="ffbf00"/>
                </a:solidFill>
                <a:latin typeface="Consolas"/>
                <a:ea typeface="MS PGothic"/>
              </a:rPr>
              <a:t>Drop</a:t>
            </a: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289800" y="676440"/>
            <a:ext cx="8561520" cy="83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Memory Cleanup (Drop)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Box 24"/>
          <p:cNvSpPr/>
          <p:nvPr/>
        </p:nvSpPr>
        <p:spPr>
          <a:xfrm>
            <a:off x="1060560" y="2039760"/>
            <a:ext cx="6946560" cy="24706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pub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struct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Pakuri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 name: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level: </a:t>
            </a:r>
            <a:r>
              <a:rPr b="1" lang="en-US" sz="1300" spc="-1" strike="noStrike">
                <a:solidFill>
                  <a:srgbClr val="60e0e0"/>
                </a:solidFill>
                <a:latin typeface="Consolas"/>
                <a:ea typeface="MS PGothic"/>
              </a:rPr>
              <a:t>u64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impl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Drop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for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Pakuri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drop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ffd7d7"/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{ </a:t>
            </a:r>
            <a:r>
              <a:rPr b="0" lang="en-US" sz="13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MS PGothic"/>
              </a:rPr>
              <a:t>"Terminating Pakuri..."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 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main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thing =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Pakuri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{ name: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String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from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MS PGothic"/>
              </a:rPr>
              <a:t>"PsyGoose"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), level: 10 };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MS PGothic"/>
              </a:rPr>
              <a:t>"Name: {}; Level: {}"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thing.name, thing.level);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5" name=""/>
          <p:cNvCxnSpPr>
            <a:endCxn id="46" idx="2"/>
          </p:cNvCxnSpPr>
          <p:nvPr/>
        </p:nvCxnSpPr>
        <p:spPr>
          <a:xfrm flipH="1" flipV="1" rot="5400000">
            <a:off x="2749320" y="3639600"/>
            <a:ext cx="303480" cy="156240"/>
          </a:xfrm>
          <a:prstGeom prst="bentConnector3">
            <a:avLst>
              <a:gd name="adj1" fmla="val 49643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46" name="TextBox 12"/>
          <p:cNvSpPr/>
          <p:nvPr/>
        </p:nvSpPr>
        <p:spPr>
          <a:xfrm rot="2400">
            <a:off x="2147400" y="3232080"/>
            <a:ext cx="1663200" cy="33336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ff"/>
                </a:solidFill>
                <a:latin typeface="Times New Roman"/>
                <a:ea typeface="MS PGothic"/>
              </a:rPr>
              <a:t>object instantiated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7" name=""/>
          <p:cNvCxnSpPr/>
          <p:nvPr/>
        </p:nvCxnSpPr>
        <p:spPr>
          <a:xfrm flipV="1">
            <a:off x="1251000" y="3497040"/>
            <a:ext cx="6604920" cy="879120"/>
          </a:xfrm>
          <a:prstGeom prst="bentConnector3">
            <a:avLst>
              <a:gd name="adj1" fmla="val 10000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48" name="TextBox 13"/>
          <p:cNvSpPr/>
          <p:nvPr/>
        </p:nvSpPr>
        <p:spPr>
          <a:xfrm rot="2400">
            <a:off x="6710040" y="3235680"/>
            <a:ext cx="1206000" cy="33336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ff"/>
                </a:solidFill>
                <a:latin typeface="Times New Roman"/>
                <a:ea typeface="MS PGothic"/>
              </a:rPr>
              <a:t>object drops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0DA1BC-8BB1-4074-938A-08B3B383AC3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3" dur="indefinite" restart="never" nodeType="tmRoot">
          <p:childTnLst>
            <p:seq>
              <p:cTn id="154" dur="indefinite" nodeType="mainSeq">
                <p:childTnLst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0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3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8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3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6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9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4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7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/>
          </p:nvPr>
        </p:nvSpPr>
        <p:spPr>
          <a:xfrm>
            <a:off x="325800" y="2335320"/>
            <a:ext cx="8500680" cy="4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We can avoid danglers via a </a:t>
            </a:r>
            <a:r>
              <a:rPr b="1" lang="en-US" sz="2200" spc="-1" strike="noStrike">
                <a:solidFill>
                  <a:srgbClr val="ffbf00"/>
                </a:solidFill>
                <a:latin typeface="Cambria"/>
                <a:ea typeface="MS PGothic"/>
              </a:rPr>
              <a:t>lifetime</a:t>
            </a: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 specifier: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289800" y="496440"/>
            <a:ext cx="8561520" cy="83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Lifetimes: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Objects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14"/>
          <p:cNvSpPr/>
          <p:nvPr/>
        </p:nvSpPr>
        <p:spPr>
          <a:xfrm>
            <a:off x="1883160" y="2795760"/>
            <a:ext cx="5352840" cy="147816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pub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struct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Pakuri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&lt;</a:t>
            </a:r>
            <a:r>
              <a:rPr b="1" lang="en-US" sz="1300" spc="-1" strike="noStrike">
                <a:solidFill>
                  <a:srgbClr val="00ffff"/>
                </a:solidFill>
                <a:latin typeface="Consolas"/>
                <a:ea typeface="MS PGothic"/>
              </a:rPr>
              <a:t>'a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 { name: &amp;</a:t>
            </a:r>
            <a:r>
              <a:rPr b="1" lang="en-US" sz="1300" spc="-1" strike="noStrike">
                <a:solidFill>
                  <a:srgbClr val="00ffff"/>
                </a:solidFill>
                <a:latin typeface="Consolas"/>
                <a:ea typeface="MS PGothic"/>
              </a:rPr>
              <a:t>'a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00ffff"/>
                </a:solidFill>
                <a:latin typeface="Consolas"/>
                <a:ea typeface="MS PGothic"/>
              </a:rPr>
              <a:t>str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level: </a:t>
            </a:r>
            <a:r>
              <a:rPr b="1" lang="en-US" sz="1300" spc="-1" strike="noStrike">
                <a:solidFill>
                  <a:srgbClr val="60e0e0"/>
                </a:solidFill>
                <a:latin typeface="Consolas"/>
                <a:ea typeface="MS PGothic"/>
              </a:rPr>
              <a:t>u64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}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main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thing =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Pakuri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{ name: 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MS PGothic"/>
              </a:rPr>
              <a:t>"PsyGoose"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level: 10 };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MS PGothic"/>
              </a:rPr>
              <a:t>"{}, Level: {}"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thing.name, thing.level);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</p:txBody>
      </p:sp>
      <p:cxnSp>
        <p:nvCxnSpPr>
          <p:cNvPr id="52" name=""/>
          <p:cNvCxnSpPr>
            <a:endCxn id="53" idx="0"/>
          </p:cNvCxnSpPr>
          <p:nvPr/>
        </p:nvCxnSpPr>
        <p:spPr>
          <a:xfrm rot="16200000">
            <a:off x="3785760" y="3164760"/>
            <a:ext cx="134280" cy="360"/>
          </a:xfrm>
          <a:prstGeom prst="bentConnector2">
            <a:avLst/>
          </a:prstGeom>
          <a:ln w="12600">
            <a:solidFill>
              <a:srgbClr val="ffff00"/>
            </a:solidFill>
            <a:round/>
          </a:ln>
        </p:spPr>
      </p:cxnSp>
      <p:cxnSp>
        <p:nvCxnSpPr>
          <p:cNvPr id="54" name=""/>
          <p:cNvCxnSpPr>
            <a:endCxn id="55" idx="1"/>
          </p:cNvCxnSpPr>
          <p:nvPr/>
        </p:nvCxnSpPr>
        <p:spPr>
          <a:xfrm flipH="1" rot="16200000">
            <a:off x="5221080" y="3012840"/>
            <a:ext cx="241920" cy="38124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53" name="TextBox 16"/>
          <p:cNvSpPr/>
          <p:nvPr/>
        </p:nvSpPr>
        <p:spPr>
          <a:xfrm rot="2400">
            <a:off x="2858400" y="3231360"/>
            <a:ext cx="1987920" cy="33408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ff"/>
                </a:solidFill>
                <a:latin typeface="Times New Roman"/>
                <a:ea typeface="MS PGothic"/>
              </a:rPr>
              <a:t>generic-based lifetime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Box 17"/>
          <p:cNvSpPr/>
          <p:nvPr/>
        </p:nvSpPr>
        <p:spPr>
          <a:xfrm rot="2400">
            <a:off x="5531760" y="3157560"/>
            <a:ext cx="1458360" cy="33408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ff"/>
                </a:solidFill>
                <a:latin typeface="Times New Roman"/>
                <a:ea typeface="MS PGothic"/>
              </a:rPr>
              <a:t>borrow lifetime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6"/>
          <p:cNvSpPr txBox="1"/>
          <p:nvPr/>
        </p:nvSpPr>
        <p:spPr>
          <a:xfrm>
            <a:off x="714600" y="4283280"/>
            <a:ext cx="7715160" cy="4248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“</a:t>
            </a: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A Pakuri’s name must match its lifetime.”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12"/>
          <p:cNvSpPr txBox="1"/>
          <p:nvPr/>
        </p:nvSpPr>
        <p:spPr>
          <a:xfrm>
            <a:off x="326160" y="1225800"/>
            <a:ext cx="8500680" cy="4248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Borrows inside objects can lead to dangling references: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15"/>
          <p:cNvSpPr/>
          <p:nvPr/>
        </p:nvSpPr>
        <p:spPr>
          <a:xfrm>
            <a:off x="918360" y="1650600"/>
            <a:ext cx="4450680" cy="28872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pub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struct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Pakuri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{ name: &amp;</a:t>
            </a:r>
            <a:r>
              <a:rPr b="1" lang="en-US" sz="1300" spc="-1" strike="noStrike">
                <a:solidFill>
                  <a:srgbClr val="00ffff"/>
                </a:solidFill>
                <a:latin typeface="Consolas"/>
                <a:ea typeface="MS PGothic"/>
              </a:rPr>
              <a:t>str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level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 </a:t>
            </a:r>
            <a:r>
              <a:rPr b="1" lang="en-US" sz="1300" spc="-1" strike="noStrike">
                <a:solidFill>
                  <a:srgbClr val="60e0e0"/>
                </a:solidFill>
                <a:latin typeface="Consolas"/>
                <a:ea typeface="MS PGothic"/>
              </a:rPr>
              <a:t>u64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}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59" name="TextBox 27"/>
          <p:cNvSpPr/>
          <p:nvPr/>
        </p:nvSpPr>
        <p:spPr>
          <a:xfrm>
            <a:off x="4586400" y="1974600"/>
            <a:ext cx="3657960" cy="28872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a6a6"/>
                </a:solidFill>
                <a:latin typeface="Consolas"/>
                <a:ea typeface="MS PGothic"/>
              </a:rPr>
              <a:t>error[…]: missing lifetime specifier</a:t>
            </a:r>
            <a:endParaRPr b="1" lang="en-US" sz="1300" spc="-1" strike="noStrike">
              <a:solidFill>
                <a:srgbClr val="ffa6a6"/>
              </a:solidFill>
              <a:latin typeface="Consolas"/>
            </a:endParaRPr>
          </a:p>
        </p:txBody>
      </p:sp>
      <p:sp>
        <p:nvSpPr>
          <p:cNvPr id="60" name=""/>
          <p:cNvSpPr/>
          <p:nvPr/>
        </p:nvSpPr>
        <p:spPr>
          <a:xfrm>
            <a:off x="4275000" y="1917360"/>
            <a:ext cx="328680" cy="299520"/>
          </a:xfrm>
          <a:custGeom>
            <a:avLst/>
            <a:gdLst/>
            <a:ahLst/>
            <a:rect l="l" t="t" r="r" b="b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00a933"/>
          </a:solidFill>
          <a:ln w="2556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57600" bIns="576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3C66C7-497D-4840-9DD6-5A90AE7B264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6" dur="indefinite" restart="never" nodeType="tmRoot">
          <p:childTnLst>
            <p:seq>
              <p:cTn id="217" dur="indefinite" nodeType="mainSeq">
                <p:childTnLst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0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0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1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4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7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0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3" dur="500"/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8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/>
          </p:nvPr>
        </p:nvSpPr>
        <p:spPr>
          <a:xfrm>
            <a:off x="631080" y="1327320"/>
            <a:ext cx="7893720" cy="4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We can also use lifetimes for functions &amp; methods:</a:t>
            </a:r>
            <a:endParaRPr b="0" lang="en-US" sz="2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289800" y="568440"/>
            <a:ext cx="8561520" cy="83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Lifetimes: Functions &amp; Methods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3"/>
          <p:cNvSpPr txBox="1"/>
          <p:nvPr/>
        </p:nvSpPr>
        <p:spPr>
          <a:xfrm>
            <a:off x="1295640" y="4299840"/>
            <a:ext cx="6502320" cy="4248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“</a:t>
            </a: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New name name must have object’s lifetime</a:t>
            </a: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.”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26"/>
          <p:cNvSpPr/>
          <p:nvPr/>
        </p:nvSpPr>
        <p:spPr>
          <a:xfrm>
            <a:off x="1283040" y="2857320"/>
            <a:ext cx="6730920" cy="14788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impl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&lt;</a:t>
            </a:r>
            <a:r>
              <a:rPr b="1" lang="en-US" sz="1300" spc="-1" strike="noStrike">
                <a:solidFill>
                  <a:srgbClr val="00ffff"/>
                </a:solidFill>
                <a:latin typeface="Consolas"/>
                <a:ea typeface="MS PGothic"/>
              </a:rPr>
              <a:t>'p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Pakuri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&lt;</a:t>
            </a:r>
            <a:r>
              <a:rPr b="1" lang="en-US" sz="1300" spc="-1" strike="noStrike">
                <a:solidFill>
                  <a:srgbClr val="00ffff"/>
                </a:solidFill>
                <a:latin typeface="Consolas"/>
                <a:ea typeface="MS PGothic"/>
              </a:rPr>
              <a:t>'p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pub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new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(_name: &amp;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'p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_level: </a:t>
            </a:r>
            <a:r>
              <a:rPr b="1" lang="en-US" sz="1300" spc="-1" strike="noStrike">
                <a:solidFill>
                  <a:srgbClr val="60e0e0"/>
                </a:solidFill>
                <a:latin typeface="Consolas"/>
                <a:ea typeface="MS PGothic"/>
              </a:rPr>
              <a:t>u64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-&gt; </a:t>
            </a:r>
            <a:r>
              <a:rPr b="0" i="1" lang="en-US" sz="1300" spc="-1" strike="noStrike">
                <a:solidFill>
                  <a:srgbClr val="e0c2cd"/>
                </a:solidFill>
                <a:latin typeface="Consolas"/>
                <a:ea typeface="MS PGothic"/>
              </a:rPr>
              <a:t>Self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 </a:t>
            </a:r>
            <a:r>
              <a:rPr b="0" i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{ name: _name, level: _level } }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pub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set_name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_name: &amp;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'p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{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.name = _name; }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65" name="PlaceHolder 27"/>
          <p:cNvSpPr txBox="1"/>
          <p:nvPr/>
        </p:nvSpPr>
        <p:spPr>
          <a:xfrm>
            <a:off x="822600" y="2309040"/>
            <a:ext cx="7715160" cy="4248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“</a:t>
            </a: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Valid only if both parameters have the same lifetime.”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22"/>
          <p:cNvSpPr/>
          <p:nvPr/>
        </p:nvSpPr>
        <p:spPr>
          <a:xfrm>
            <a:off x="2084760" y="1824120"/>
            <a:ext cx="5256000" cy="4870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l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o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n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g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e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s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&lt;</a:t>
            </a:r>
            <a:r>
              <a:rPr b="1" lang="en-US" sz="1300" spc="-1" strike="noStrike">
                <a:solidFill>
                  <a:srgbClr val="00ffff"/>
                </a:solidFill>
                <a:latin typeface="Consolas"/>
                <a:ea typeface="MS PGothic"/>
              </a:rPr>
              <a:t>'</a:t>
            </a:r>
            <a:r>
              <a:rPr b="1" lang="en-US" sz="1300" spc="-1" strike="noStrike">
                <a:solidFill>
                  <a:srgbClr val="00ffff"/>
                </a:solidFill>
                <a:latin typeface="Consolas"/>
                <a:ea typeface="MS PGothic"/>
              </a:rPr>
              <a:t>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h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&amp;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'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h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&amp;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'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-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&amp;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'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i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x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l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e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y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l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e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x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e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l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s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e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y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399E34-1E10-4D92-8570-16001FC667F4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9" dur="indefinite" restart="never" nodeType="tmRoot">
          <p:childTnLst>
            <p:seq>
              <p:cTn id="290" dur="indefinite" nodeType="mainSeq">
                <p:childTnLst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0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3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6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1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4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9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4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/>
          </p:nvPr>
        </p:nvSpPr>
        <p:spPr>
          <a:xfrm>
            <a:off x="325800" y="1579320"/>
            <a:ext cx="8500680" cy="4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A </a:t>
            </a:r>
            <a:r>
              <a:rPr b="1" lang="en-US" sz="2200" spc="-1" strike="noStrike">
                <a:solidFill>
                  <a:srgbClr val="ffbf00"/>
                </a:solidFill>
                <a:latin typeface="Consolas"/>
                <a:ea typeface="MS PGothic"/>
              </a:rPr>
              <a:t>static</a:t>
            </a: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 lifetime is valid for the life of the program: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289800" y="712440"/>
            <a:ext cx="8561520" cy="69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Static Lifetime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18"/>
          <p:cNvSpPr/>
          <p:nvPr/>
        </p:nvSpPr>
        <p:spPr>
          <a:xfrm>
            <a:off x="1739160" y="2183760"/>
            <a:ext cx="5821200" cy="137124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bf00"/>
                </a:solidFill>
                <a:latin typeface="Consolas"/>
                <a:ea typeface="MS PGothic"/>
              </a:rPr>
              <a:t>pub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struct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400" spc="-1" strike="noStrike">
                <a:solidFill>
                  <a:srgbClr val="ff00ff"/>
                </a:solidFill>
                <a:latin typeface="Consolas"/>
                <a:ea typeface="MS PGothic"/>
              </a:rPr>
              <a:t>Pakuri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{ name: &amp;</a:t>
            </a:r>
            <a:r>
              <a:rPr b="1" lang="en-US" sz="1400" spc="-1" strike="noStrike">
                <a:solidFill>
                  <a:srgbClr val="ffbf00"/>
                </a:solidFill>
                <a:latin typeface="Consolas"/>
                <a:ea typeface="MS PGothic"/>
              </a:rPr>
              <a:t>'static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400" spc="-1" strike="noStrike">
                <a:solidFill>
                  <a:srgbClr val="00ffff"/>
                </a:solidFill>
                <a:latin typeface="Consolas"/>
                <a:ea typeface="MS PGothic"/>
              </a:rPr>
              <a:t>str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level: </a:t>
            </a:r>
            <a:r>
              <a:rPr b="1" lang="en-US" sz="1400" spc="-1" strike="noStrike">
                <a:solidFill>
                  <a:srgbClr val="60e0e0"/>
                </a:solidFill>
                <a:latin typeface="Consolas"/>
                <a:ea typeface="MS PGothic"/>
              </a:rPr>
              <a:t>u64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}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400" spc="-1" strike="noStrike">
                <a:solidFill>
                  <a:srgbClr val="729fcf"/>
                </a:solidFill>
                <a:latin typeface="Consolas"/>
                <a:ea typeface="MS PGothic"/>
              </a:rPr>
              <a:t>main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thing = 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Pakuri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{ name: 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"PsyGoose"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level: 10 };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cxnSp>
        <p:nvCxnSpPr>
          <p:cNvPr id="70" name=""/>
          <p:cNvCxnSpPr>
            <a:stCxn id="71" idx="1"/>
          </p:cNvCxnSpPr>
          <p:nvPr/>
        </p:nvCxnSpPr>
        <p:spPr>
          <a:xfrm flipV="1" rot="10800000">
            <a:off x="5134320" y="2859840"/>
            <a:ext cx="162000" cy="187560"/>
          </a:xfrm>
          <a:prstGeom prst="bentConnector3">
            <a:avLst>
              <a:gd name="adj1" fmla="val 100000"/>
            </a:avLst>
          </a:prstGeom>
          <a:ln w="12600">
            <a:solidFill>
              <a:srgbClr val="ffff00"/>
            </a:solidFill>
            <a:round/>
          </a:ln>
        </p:spPr>
      </p:cxnSp>
      <p:cxnSp>
        <p:nvCxnSpPr>
          <p:cNvPr id="72" name=""/>
          <p:cNvCxnSpPr>
            <a:endCxn id="73" idx="3"/>
          </p:cNvCxnSpPr>
          <p:nvPr/>
        </p:nvCxnSpPr>
        <p:spPr>
          <a:xfrm rot="5400000">
            <a:off x="4591440" y="2453400"/>
            <a:ext cx="253080" cy="31500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71" name="TextBox 19"/>
          <p:cNvSpPr/>
          <p:nvPr/>
        </p:nvSpPr>
        <p:spPr>
          <a:xfrm rot="2400">
            <a:off x="5295960" y="2678400"/>
            <a:ext cx="2190960" cy="36468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0ffff"/>
                </a:solidFill>
                <a:latin typeface="Times New Roman"/>
                <a:ea typeface="MS PGothic"/>
              </a:rPr>
              <a:t>literal (in executable)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20"/>
          <p:cNvSpPr/>
          <p:nvPr/>
        </p:nvSpPr>
        <p:spPr>
          <a:xfrm rot="2400">
            <a:off x="2834280" y="2554200"/>
            <a:ext cx="1725840" cy="36468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0ffff"/>
                </a:solidFill>
                <a:latin typeface="Times New Roman"/>
                <a:ea typeface="MS PGothic"/>
              </a:rPr>
              <a:t>program lifetime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15"/>
          <p:cNvSpPr txBox="1"/>
          <p:nvPr/>
        </p:nvSpPr>
        <p:spPr>
          <a:xfrm>
            <a:off x="714600" y="3833640"/>
            <a:ext cx="7715160" cy="4248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Literals (including str) have static lifetimes.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0BC3C3-EEA8-4655-A827-22CD4307D957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5" dur="indefinite" restart="never" nodeType="tmRoot">
          <p:childTnLst>
            <p:seq>
              <p:cTn id="336" dur="indefinite" nodeType="mainSeq">
                <p:childTnLst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4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7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0" dur="500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3" dur="500"/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8" dur="500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1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511920" y="1214640"/>
            <a:ext cx="8108280" cy="53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Though we use them sparingly, we can derive pointers, too: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289800" y="548280"/>
            <a:ext cx="8561520" cy="668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Deriving Pointers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/>
          <p:nvPr/>
        </p:nvSpPr>
        <p:spPr>
          <a:xfrm>
            <a:off x="1175760" y="2877120"/>
            <a:ext cx="67892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To move ownership, we need to </a:t>
            </a:r>
            <a:r>
              <a:rPr b="1" i="1" lang="en-US" sz="2200" spc="-1" strike="noStrike">
                <a:solidFill>
                  <a:srgbClr val="ffbf00"/>
                </a:solidFill>
                <a:latin typeface="Cambria"/>
                <a:ea typeface="MS PGothic"/>
              </a:rPr>
              <a:t>box</a:t>
            </a: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 the value: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1988640" y="1681560"/>
            <a:ext cx="5136120" cy="108216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main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()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my_letters = [</a:t>
            </a:r>
            <a:r>
              <a:rPr b="0" lang="en-US" sz="1300" spc="-1" strike="noStrike">
                <a:solidFill>
                  <a:srgbClr val="ff8000"/>
                </a:solidFill>
                <a:latin typeface="Consolas"/>
                <a:ea typeface="MS PGothic"/>
              </a:rPr>
              <a:t>b'a'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,</a:t>
            </a:r>
            <a:r>
              <a:rPr b="0" lang="en-US" sz="1300" spc="-1" strike="noStrike">
                <a:solidFill>
                  <a:srgbClr val="ff8000"/>
                </a:solidFill>
                <a:latin typeface="Consolas"/>
                <a:ea typeface="MS PGothic"/>
              </a:rPr>
              <a:t> b'b'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, </a:t>
            </a:r>
            <a:r>
              <a:rPr b="0" lang="en-US" sz="1300" spc="-1" strike="noStrike">
                <a:solidFill>
                  <a:srgbClr val="ff8000"/>
                </a:solidFill>
                <a:latin typeface="Consolas"/>
                <a:ea typeface="MS PGothic"/>
              </a:rPr>
              <a:t>b'c'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, </a:t>
            </a:r>
            <a:r>
              <a:rPr b="0" lang="en-US" sz="1300" spc="-1" strike="noStrike">
                <a:solidFill>
                  <a:srgbClr val="ff8000"/>
                </a:solidFill>
                <a:latin typeface="Consolas"/>
                <a:ea typeface="MS PGothic"/>
              </a:rPr>
              <a:t>b'd'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, </a:t>
            </a:r>
            <a:r>
              <a:rPr b="0" lang="en-US" sz="1300" spc="-1" strike="noStrike">
                <a:solidFill>
                  <a:srgbClr val="ff8000"/>
                </a:solidFill>
                <a:latin typeface="Consolas"/>
                <a:ea typeface="MS PGothic"/>
              </a:rPr>
              <a:t>b'e'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];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my_pointer: </a:t>
            </a:r>
            <a:r>
              <a:rPr b="0" lang="en-US" sz="1300" spc="-1" strike="noStrike">
                <a:solidFill>
                  <a:srgbClr val="ff6633"/>
                </a:solidFill>
                <a:latin typeface="Consolas"/>
                <a:ea typeface="MS PGothic"/>
              </a:rPr>
              <a:t>*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const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60e0e0"/>
                </a:solidFill>
                <a:latin typeface="Consolas"/>
                <a:ea typeface="MS PGothic"/>
              </a:rPr>
              <a:t>u8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= my_letters.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as_ptr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();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1234440" y="3329280"/>
            <a:ext cx="6622560" cy="12798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main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()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my_letters = [</a:t>
            </a:r>
            <a:r>
              <a:rPr b="0" lang="en-US" sz="1300" spc="-1" strike="noStrike">
                <a:solidFill>
                  <a:srgbClr val="ff8000"/>
                </a:solidFill>
                <a:latin typeface="Consolas"/>
                <a:ea typeface="MS PGothic"/>
              </a:rPr>
              <a:t>b'a'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,</a:t>
            </a:r>
            <a:r>
              <a:rPr b="0" lang="en-US" sz="1300" spc="-1" strike="noStrike">
                <a:solidFill>
                  <a:srgbClr val="ff8000"/>
                </a:solidFill>
                <a:latin typeface="Consolas"/>
                <a:ea typeface="MS PGothic"/>
              </a:rPr>
              <a:t> b'b'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, </a:t>
            </a:r>
            <a:r>
              <a:rPr b="0" lang="en-US" sz="1300" spc="-1" strike="noStrike">
                <a:solidFill>
                  <a:srgbClr val="ff8000"/>
                </a:solidFill>
                <a:latin typeface="Consolas"/>
                <a:ea typeface="MS PGothic"/>
              </a:rPr>
              <a:t>b'c'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, </a:t>
            </a:r>
            <a:r>
              <a:rPr b="0" lang="en-US" sz="1300" spc="-1" strike="noStrike">
                <a:solidFill>
                  <a:srgbClr val="ff8000"/>
                </a:solidFill>
                <a:latin typeface="Consolas"/>
                <a:ea typeface="MS PGothic"/>
              </a:rPr>
              <a:t>b'd'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, </a:t>
            </a:r>
            <a:r>
              <a:rPr b="0" lang="en-US" sz="1300" spc="-1" strike="noStrike">
                <a:solidFill>
                  <a:srgbClr val="ff8000"/>
                </a:solidFill>
                <a:latin typeface="Consolas"/>
                <a:ea typeface="MS PGothic"/>
              </a:rPr>
              <a:t>b'e'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];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my_array_pointer: </a:t>
            </a:r>
            <a:r>
              <a:rPr b="0" lang="en-US" sz="1300" spc="-1" strike="noStrike">
                <a:solidFill>
                  <a:srgbClr val="ff6633"/>
                </a:solidFill>
                <a:latin typeface="Consolas"/>
                <a:ea typeface="MS PGothic"/>
              </a:rPr>
              <a:t>*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[</a:t>
            </a:r>
            <a:r>
              <a:rPr b="1" lang="en-US" sz="1300" spc="-1" strike="noStrike">
                <a:solidFill>
                  <a:srgbClr val="60e0e0"/>
                </a:solidFill>
                <a:latin typeface="Consolas"/>
                <a:ea typeface="MS PGothic"/>
              </a:rPr>
              <a:t>u8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; 5] =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Box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::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into_raw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(my_letters);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my_byte_pointer: </a:t>
            </a:r>
            <a:r>
              <a:rPr b="0" lang="en-US" sz="1300" spc="-1" strike="noStrike">
                <a:solidFill>
                  <a:srgbClr val="ff6633"/>
                </a:solidFill>
                <a:latin typeface="Consolas"/>
                <a:ea typeface="MS PGothic"/>
              </a:rPr>
              <a:t>*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60e0e0"/>
                </a:solidFill>
                <a:latin typeface="Consolas"/>
                <a:ea typeface="MS PGothic"/>
              </a:rPr>
              <a:t>u8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= my_array_pointer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as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6633"/>
                </a:solidFill>
                <a:latin typeface="Consolas"/>
                <a:ea typeface="MS PGothic"/>
              </a:rPr>
              <a:t>*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60e0e0"/>
                </a:solidFill>
                <a:latin typeface="Consolas"/>
                <a:ea typeface="MS PGothic"/>
              </a:rPr>
              <a:t>u8</a:t>
            </a: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;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Consolas"/>
            </a:endParaRPr>
          </a:p>
        </p:txBody>
      </p:sp>
      <p:cxnSp>
        <p:nvCxnSpPr>
          <p:cNvPr id="80" name=""/>
          <p:cNvCxnSpPr>
            <a:endCxn id="81" idx="2"/>
          </p:cNvCxnSpPr>
          <p:nvPr/>
        </p:nvCxnSpPr>
        <p:spPr>
          <a:xfrm flipH="1" flipV="1" rot="5400000">
            <a:off x="6536520" y="3601080"/>
            <a:ext cx="217440" cy="524880"/>
          </a:xfrm>
          <a:prstGeom prst="bentConnector3">
            <a:avLst>
              <a:gd name="adj1" fmla="val 49917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81" name="TextBox 25"/>
          <p:cNvSpPr/>
          <p:nvPr/>
        </p:nvSpPr>
        <p:spPr>
          <a:xfrm rot="2400">
            <a:off x="6044760" y="3389760"/>
            <a:ext cx="1725840" cy="36468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0ffff"/>
                </a:solidFill>
                <a:latin typeface="Times New Roman"/>
                <a:ea typeface="MS PGothic"/>
              </a:rPr>
              <a:t>takes ownership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4E27C9-516A-4AD8-A892-776B5BE4926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2" dur="indefinite" restart="never" nodeType="tmRoot">
          <p:childTnLst>
            <p:seq>
              <p:cTn id="383" dur="indefinite" nodeType="mainSeq">
                <p:childTnLst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1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4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7" dur="5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2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7" dur="500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0" dur="500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3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8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3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380880" y="1162080"/>
            <a:ext cx="8369280" cy="478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To use pointers, we need to use an </a:t>
            </a:r>
            <a:r>
              <a:rPr b="1" lang="en-US" sz="2200" spc="-1" strike="noStrike">
                <a:solidFill>
                  <a:srgbClr val="ffbf00"/>
                </a:solidFill>
                <a:latin typeface="Consolas"/>
                <a:ea typeface="MS PGothic"/>
              </a:rPr>
              <a:t>unsafe</a:t>
            </a: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 code block: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289800" y="496440"/>
            <a:ext cx="8561520" cy="66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Unsafe Code Blocks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21"/>
          <p:cNvSpPr/>
          <p:nvPr/>
        </p:nvSpPr>
        <p:spPr>
          <a:xfrm>
            <a:off x="884880" y="1627560"/>
            <a:ext cx="7325640" cy="294696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MS PGothic"/>
              </a:rPr>
              <a:t>main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()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{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 </a:t>
            </a: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my_letters = [</a:t>
            </a:r>
            <a:r>
              <a:rPr b="0" lang="en-US" sz="1250" spc="-1" strike="noStrike">
                <a:solidFill>
                  <a:srgbClr val="ff8000"/>
                </a:solidFill>
                <a:latin typeface="Consolas"/>
                <a:ea typeface="MS PGothic"/>
              </a:rPr>
              <a:t>b'a'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,</a:t>
            </a:r>
            <a:r>
              <a:rPr b="0" lang="en-US" sz="1250" spc="-1" strike="noStrike">
                <a:solidFill>
                  <a:srgbClr val="ff8000"/>
                </a:solidFill>
                <a:latin typeface="Consolas"/>
                <a:ea typeface="MS PGothic"/>
              </a:rPr>
              <a:t> b'b'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, </a:t>
            </a:r>
            <a:r>
              <a:rPr b="0" lang="en-US" sz="1250" spc="-1" strike="noStrike">
                <a:solidFill>
                  <a:srgbClr val="ff8000"/>
                </a:solidFill>
                <a:latin typeface="Consolas"/>
                <a:ea typeface="MS PGothic"/>
              </a:rPr>
              <a:t>b'c'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, </a:t>
            </a:r>
            <a:r>
              <a:rPr b="0" lang="en-US" sz="1250" spc="-1" strike="noStrike">
                <a:solidFill>
                  <a:srgbClr val="ff8000"/>
                </a:solidFill>
                <a:latin typeface="Consolas"/>
                <a:ea typeface="MS PGothic"/>
              </a:rPr>
              <a:t>b'd'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, </a:t>
            </a:r>
            <a:r>
              <a:rPr b="0" lang="en-US" sz="1250" spc="-1" strike="noStrike">
                <a:solidFill>
                  <a:srgbClr val="ff8000"/>
                </a:solidFill>
                <a:latin typeface="Consolas"/>
                <a:ea typeface="MS PGothic"/>
              </a:rPr>
              <a:t>b'e'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];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 </a:t>
            </a: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my_array_pointer: </a:t>
            </a:r>
            <a:r>
              <a:rPr b="0" lang="en-US" sz="1250" spc="-1" strike="noStrike">
                <a:solidFill>
                  <a:srgbClr val="ff6633"/>
                </a:solidFill>
                <a:latin typeface="Consolas"/>
                <a:ea typeface="MS PGothic"/>
              </a:rPr>
              <a:t>*</a:t>
            </a:r>
            <a:r>
              <a:rPr b="0" lang="en-US" sz="125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[</a:t>
            </a:r>
            <a:r>
              <a:rPr b="1" lang="en-US" sz="1250" spc="-1" strike="noStrike">
                <a:solidFill>
                  <a:srgbClr val="60e0e0"/>
                </a:solidFill>
                <a:latin typeface="Consolas"/>
                <a:ea typeface="MS PGothic"/>
              </a:rPr>
              <a:t>u8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; 5] = </a:t>
            </a:r>
            <a:r>
              <a:rPr b="0" lang="en-US" sz="1250" spc="-1" strike="noStrike">
                <a:solidFill>
                  <a:srgbClr val="ff00ff"/>
                </a:solidFill>
                <a:latin typeface="Consolas"/>
                <a:ea typeface="MS PGothic"/>
              </a:rPr>
              <a:t>Box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::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MS PGothic"/>
              </a:rPr>
              <a:t>into_raw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(</a:t>
            </a:r>
            <a:r>
              <a:rPr b="0" lang="en-US" sz="1250" spc="-1" strike="noStrike">
                <a:solidFill>
                  <a:srgbClr val="ff00ff"/>
                </a:solidFill>
                <a:latin typeface="Consolas"/>
                <a:ea typeface="MS PGothic"/>
              </a:rPr>
              <a:t>Box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::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MS PGothic"/>
              </a:rPr>
              <a:t>new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(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my_letters));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 </a:t>
            </a: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my_byte_pointer: </a:t>
            </a:r>
            <a:r>
              <a:rPr b="0" lang="en-US" sz="1250" spc="-1" strike="noStrike">
                <a:solidFill>
                  <a:srgbClr val="ff6633"/>
                </a:solidFill>
                <a:latin typeface="Consolas"/>
                <a:ea typeface="MS PGothic"/>
              </a:rPr>
              <a:t>*</a:t>
            </a:r>
            <a:r>
              <a:rPr b="0" lang="en-US" sz="125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</a:t>
            </a:r>
            <a:r>
              <a:rPr b="1" lang="en-US" sz="1250" spc="-1" strike="noStrike">
                <a:solidFill>
                  <a:srgbClr val="60e0e0"/>
                </a:solidFill>
                <a:latin typeface="Consolas"/>
                <a:ea typeface="MS PGothic"/>
              </a:rPr>
              <a:t>u8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= my_array_pointer </a:t>
            </a: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as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</a:t>
            </a:r>
            <a:r>
              <a:rPr b="0" lang="en-US" sz="1250" spc="-1" strike="noStrike">
                <a:solidFill>
                  <a:srgbClr val="ff6633"/>
                </a:solidFill>
                <a:latin typeface="Consolas"/>
                <a:ea typeface="MS PGothic"/>
              </a:rPr>
              <a:t>*</a:t>
            </a:r>
            <a:r>
              <a:rPr b="0" lang="en-US" sz="125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</a:t>
            </a:r>
            <a:r>
              <a:rPr b="1" lang="en-US" sz="1250" spc="-1" strike="noStrike">
                <a:solidFill>
                  <a:srgbClr val="60e0e0"/>
                </a:solidFill>
                <a:latin typeface="Consolas"/>
                <a:ea typeface="MS PGothic"/>
              </a:rPr>
              <a:t>u8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;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  </a:t>
            </a: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reboxed_array = </a:t>
            </a:r>
            <a:r>
              <a:rPr b="0" lang="en-US" sz="1250" spc="-1" strike="noStrike">
                <a:solidFill>
                  <a:srgbClr val="ff6633"/>
                </a:solidFill>
                <a:latin typeface="Consolas"/>
                <a:ea typeface="MS PGothic"/>
              </a:rPr>
              <a:t>unsafe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ff6633"/>
                </a:solidFill>
                <a:latin typeface="Consolas"/>
                <a:ea typeface="MS PGothic"/>
              </a:rPr>
              <a:t>  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{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Noto Sans CJK SC"/>
              </a:rPr>
              <a:t>    </a:t>
            </a: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Noto Sans CJK SC"/>
              </a:rPr>
              <a:t>let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Noto Sans CJK SC"/>
              </a:rPr>
              <a:t> bee = my_byte_pointer</a:t>
            </a:r>
            <a:r>
              <a:rPr b="0" lang="en-US" sz="1250" spc="-1" strike="noStrike">
                <a:solidFill>
                  <a:srgbClr val="729fcf"/>
                </a:solidFill>
                <a:latin typeface="Consolas"/>
                <a:ea typeface="Noto Sans CJK SC"/>
              </a:rPr>
              <a:t>.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Noto Sans CJK SC"/>
              </a:rPr>
              <a:t>offset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Noto Sans CJK SC"/>
              </a:rPr>
              <a:t>(1);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Noto Sans CJK SC"/>
              </a:rPr>
              <a:t>    </a:t>
            </a: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Noto Sans CJK SC"/>
              </a:rPr>
              <a:t>let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Noto Sans CJK SC"/>
              </a:rPr>
              <a:t> slicey: </a:t>
            </a:r>
            <a:r>
              <a:rPr b="0" lang="en-US" sz="1250" spc="-1" strike="noStrike">
                <a:solidFill>
                  <a:srgbClr val="ff6633"/>
                </a:solidFill>
                <a:latin typeface="Consolas"/>
                <a:ea typeface="MS PGothic"/>
              </a:rPr>
              <a:t>*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Noto Sans CJK SC"/>
              </a:rPr>
              <a:t>const [u8] = std::ptr::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Noto Sans CJK SC"/>
              </a:rPr>
              <a:t>slice_from_raw_parts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Noto Sans CJK SC"/>
              </a:rPr>
              <a:t>(bee, 4);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Noto Sans CJK SC"/>
              </a:rPr>
              <a:t>    </a:t>
            </a:r>
            <a:r>
              <a:rPr b="0" lang="en-US" sz="125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DejaVu Sans"/>
              </a:rPr>
              <a:t>(</a:t>
            </a:r>
            <a:r>
              <a:rPr b="0" lang="en-US" sz="1250" spc="-1" strike="noStrike">
                <a:solidFill>
                  <a:srgbClr val="00ff00"/>
                </a:solidFill>
                <a:latin typeface="Consolas"/>
                <a:ea typeface="DejaVu Sans"/>
              </a:rPr>
              <a:t>"Element 2: {}; Last element: {}"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DejaVu Sans"/>
              </a:rPr>
              <a:t>, </a:t>
            </a:r>
            <a:r>
              <a:rPr b="0" lang="en-US" sz="1250" spc="-1" strike="noStrike">
                <a:solidFill>
                  <a:srgbClr val="ff6633"/>
                </a:solidFill>
                <a:latin typeface="Consolas"/>
                <a:ea typeface="MS PGothic"/>
              </a:rPr>
              <a:t>*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bee, 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DejaVu Sans"/>
              </a:rPr>
              <a:t>(</a:t>
            </a:r>
            <a:r>
              <a:rPr b="0" lang="en-US" sz="1250" spc="-1" strike="noStrike">
                <a:solidFill>
                  <a:srgbClr val="ff6633"/>
                </a:solidFill>
                <a:latin typeface="Consolas"/>
                <a:ea typeface="MS PGothic"/>
              </a:rPr>
              <a:t>*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Noto Sans CJK SC"/>
              </a:rPr>
              <a:t>slicey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DejaVu Sans"/>
              </a:rPr>
              <a:t>)[3]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Noto Sans CJK SC"/>
              </a:rPr>
              <a:t>);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DejaVu Sans"/>
              </a:rPr>
              <a:t>    </a:t>
            </a:r>
            <a:r>
              <a:rPr b="0" lang="en-US" sz="1250" spc="-1" strike="noStrike">
                <a:solidFill>
                  <a:srgbClr val="ff6633"/>
                </a:solidFill>
                <a:latin typeface="Consolas"/>
                <a:ea typeface="MS PGothic"/>
              </a:rPr>
              <a:t>*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DejaVu Sans"/>
              </a:rPr>
              <a:t>(</a:t>
            </a:r>
            <a:r>
              <a:rPr b="0" lang="en-US" sz="1250" spc="-1" strike="noStrike">
                <a:solidFill>
                  <a:srgbClr val="ff00ff"/>
                </a:solidFill>
                <a:latin typeface="Consolas"/>
                <a:ea typeface="MS PGothic"/>
              </a:rPr>
              <a:t>Box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DejaVu Sans"/>
              </a:rPr>
              <a:t>::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DejaVu Sans"/>
              </a:rPr>
              <a:t>from_raw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DejaVu Sans"/>
              </a:rPr>
              <a:t>(my_array_pointer))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 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};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}</a:t>
            </a:r>
            <a:endParaRPr b="0" lang="en-US" sz="1250" spc="-1" strike="noStrike">
              <a:solidFill>
                <a:srgbClr val="ffffff"/>
              </a:solidFill>
              <a:latin typeface="Consolas"/>
            </a:endParaRPr>
          </a:p>
        </p:txBody>
      </p:sp>
      <p:cxnSp>
        <p:nvCxnSpPr>
          <p:cNvPr id="85" name=""/>
          <p:cNvCxnSpPr>
            <a:stCxn id="86" idx="1"/>
          </p:cNvCxnSpPr>
          <p:nvPr/>
        </p:nvCxnSpPr>
        <p:spPr>
          <a:xfrm rot="10800000">
            <a:off x="4635000" y="4061160"/>
            <a:ext cx="1732680" cy="238680"/>
          </a:xfrm>
          <a:prstGeom prst="bentConnector3">
            <a:avLst>
              <a:gd name="adj1" fmla="val 5000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86" name="TextBox 23"/>
          <p:cNvSpPr/>
          <p:nvPr/>
        </p:nvSpPr>
        <p:spPr>
          <a:xfrm rot="2400">
            <a:off x="6366960" y="4117680"/>
            <a:ext cx="1757160" cy="36468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0ffff"/>
                </a:solidFill>
                <a:latin typeface="Times New Roman"/>
                <a:ea typeface="MS PGothic"/>
              </a:rPr>
              <a:t>yields </a:t>
            </a:r>
            <a:r>
              <a:rPr b="0" lang="en-US" sz="1800" spc="-1" strike="noStrike">
                <a:solidFill>
                  <a:srgbClr val="00ffff"/>
                </a:solidFill>
                <a:latin typeface="Times New Roman"/>
                <a:ea typeface="MS PGothic"/>
              </a:rPr>
              <a:t>ownership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F4354F-6415-4448-92A0-BB6744B4161C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4" dur="indefinite" restart="never" nodeType="tmRoot">
          <p:childTnLst>
            <p:seq>
              <p:cTn id="435" dur="indefinite" nodeType="mainSeq">
                <p:childTnLst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5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8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1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4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7" dur="5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0" dur="500"/>
                                        <p:tgtEl>
                                          <p:spTgt spid="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5" dur="500"/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8" dur="500"/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1" dur="500"/>
                                        <p:tgtEl>
                                          <p:spTgt spid="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6" dur="500"/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1" dur="500"/>
                                        <p:tgtEl>
                                          <p:spTgt spid="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fill="hold">
                      <p:stCondLst>
                        <p:cond delay="indefinite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6" dur="500"/>
                                        <p:tgtEl>
                                          <p:spTgt spid="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1" dur="500"/>
                                        <p:tgtEl>
                                          <p:spTgt spid="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34422</TotalTime>
  <Application>LibreOffice/24.2.7.2$Linux_X86_64 LibreOffice_project/420$Build-2</Application>
  <AppVersion>15.0000</AppVersion>
  <Company>UF College of Engineering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2013-09-18T13:46:37Z</dcterms:created>
  <dc:creator>Cocherell,Teresa D</dc:creator>
  <dc:description/>
  <dc:language>en-US</dc:language>
  <cp:lastModifiedBy/>
  <cp:lastPrinted>2014-01-31T19:29:42Z</cp:lastPrinted>
  <dcterms:modified xsi:type="dcterms:W3CDTF">2026-06-01T00:34:38Z</dcterms:modified>
  <cp:revision>841</cp:revision>
  <dc:subject/>
  <dc:title>College Performance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
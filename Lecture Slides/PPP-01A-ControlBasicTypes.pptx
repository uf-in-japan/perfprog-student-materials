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FFB994-A5DD-44F0-9503-22E6E38751C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F5A42B-165F-4020-B505-3E863547EA83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6 min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Explicit type… (“let y: f32 = 3.0;”)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 Implicit types for integers, floats – depends on use?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 Int types (e.g., “let x = 1u8;” – value of 1, 8-bit unsigned, etc)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-Decimal (e.g., 98_222), Hex (0xff), Octal (0o77), Binary (0b1111_0000)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-Byte (u8 only) – b’A’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016563-1A10-43AB-AEE4-95A2ACE51EE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6 min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Explicit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type… (“let y: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f32 = 3.0;”)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 Implicit types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for integers,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floats 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depends 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use?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 Int types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(e.g., “let x =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1u8;” – value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of 1, 8-bit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unsigned, etc)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-Decimal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(e.g.,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98_222), Hex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(0xff), Octal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(0o77), Binary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(0b1111_0000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)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-Byte (u8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S PGothic"/>
              </a:rPr>
              <a:t>only) – b’A’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7DF1F1-72CB-420E-BC00-0EF48819E90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7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E0A666-C817-4446-BCF1-B6807B0C171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7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3A0921-610D-4A57-8426-3360DCE1119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6600" cy="25664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980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7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57120" cy="33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962F70-F5DD-4F64-AF64-3A6F3A02202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6448A5-3089-40BE-8900-CAEB39E309B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8600" cy="513360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38600" cy="513828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5720" cy="5136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8600" cy="51336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2000" cy="26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95B87F-37EF-404E-A5AE-3EA98B37693F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1200" y="1956960"/>
            <a:ext cx="8000640" cy="80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Types &amp; Control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71200" y="2663640"/>
            <a:ext cx="7033320" cy="651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Acquiring Patina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2" descr="A metal gear with a letter r&#10;&#10;Description automatically generated"/>
          <p:cNvPicPr/>
          <p:nvPr/>
        </p:nvPicPr>
        <p:blipFill>
          <a:blip r:embed="rId1"/>
          <a:stretch/>
        </p:blipFill>
        <p:spPr>
          <a:xfrm>
            <a:off x="5595120" y="1146960"/>
            <a:ext cx="3027960" cy="3027960"/>
          </a:xfrm>
          <a:prstGeom prst="rect">
            <a:avLst/>
          </a:prstGeom>
          <a:ln w="0">
            <a:noFill/>
          </a:ln>
          <a:effectLst>
            <a:glow rad="88920">
              <a:srgbClr val="80ffe0"/>
            </a:glo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038680" y="547200"/>
            <a:ext cx="5061240" cy="613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Basic Types &amp; Casting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178280" y="1219320"/>
            <a:ext cx="6782040" cy="33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 fontScale="87222"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All casting in Rust must be explicit – there is no implicit casting!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ectangle 2"/>
          <p:cNvSpPr/>
          <p:nvPr/>
        </p:nvSpPr>
        <p:spPr>
          <a:xfrm>
            <a:off x="685800" y="101160"/>
            <a:ext cx="87948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68760" rIns="68760" tIns="34200" bIns="34200" anchor="ctr">
            <a:spAutoFit/>
          </a:bodyPr>
          <a:p>
            <a:pPr defTabSz="685800">
              <a:lnSpc>
                <a:spcPct val="100000"/>
              </a:lnSpc>
              <a:tabLst>
                <a:tab algn="l" pos="42876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MS Mincho"/>
              </a:rPr>
              <a:t>OUTPUT: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9"/>
          <p:cNvSpPr/>
          <p:nvPr/>
        </p:nvSpPr>
        <p:spPr>
          <a:xfrm>
            <a:off x="586800" y="1985400"/>
            <a:ext cx="4786560" cy="226008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use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std::{io, io::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Write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main()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tax_pct: 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MS PGothic"/>
              </a:rPr>
              <a:t>f32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= 0x0a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as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f32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sez = 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"Haow much moneyz it? 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result =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kan_haz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(&amp;sez);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cost = result.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trim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parse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::&lt;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MS PGothic"/>
              </a:rPr>
              <a:t>f64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multiplier = 1.0 + tax_pct / 100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MS PGothic"/>
              </a:rPr>
              <a:t>_f32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"Total: {}"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, cost * multiplier)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Box 10"/>
          <p:cNvSpPr/>
          <p:nvPr/>
        </p:nvSpPr>
        <p:spPr>
          <a:xfrm>
            <a:off x="2954520" y="2045520"/>
            <a:ext cx="70308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casting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5"/>
          </p:nvPr>
        </p:nvSpPr>
        <p:spPr>
          <a:xfrm>
            <a:off x="7049160" y="4767120"/>
            <a:ext cx="2052000" cy="26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525A39-9E5D-41EF-9B57-F4EB63191F98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TextBox 12"/>
          <p:cNvSpPr/>
          <p:nvPr/>
        </p:nvSpPr>
        <p:spPr>
          <a:xfrm>
            <a:off x="253080" y="1692360"/>
            <a:ext cx="5120280" cy="289080"/>
          </a:xfrm>
          <a:prstGeom prst="rect">
            <a:avLst/>
          </a:prstGeom>
          <a:solidFill>
            <a:srgbClr val="00006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taxes.rs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: Rounded Corners 1"/>
          <p:cNvSpPr/>
          <p:nvPr/>
        </p:nvSpPr>
        <p:spPr>
          <a:xfrm>
            <a:off x="3002760" y="2780280"/>
            <a:ext cx="578880" cy="15804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 u="sng">
              <a:solidFill>
                <a:schemeClr val="lt1"/>
              </a:solidFill>
              <a:uFillTx/>
              <a:latin typeface="Rockwell"/>
              <a:ea typeface="MS PGothic"/>
            </a:endParaRPr>
          </a:p>
        </p:txBody>
      </p:sp>
      <p:sp>
        <p:nvSpPr>
          <p:cNvPr id="28" name="Rectangle: Rounded Corners 2"/>
          <p:cNvSpPr/>
          <p:nvPr/>
        </p:nvSpPr>
        <p:spPr>
          <a:xfrm>
            <a:off x="2366640" y="3673440"/>
            <a:ext cx="293040" cy="20664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29" name="Rectangle: Rounded Corners 3"/>
          <p:cNvSpPr/>
          <p:nvPr/>
        </p:nvSpPr>
        <p:spPr>
          <a:xfrm>
            <a:off x="2719080" y="3673440"/>
            <a:ext cx="1069920" cy="2044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30" name="TextBox 15"/>
          <p:cNvSpPr/>
          <p:nvPr/>
        </p:nvSpPr>
        <p:spPr>
          <a:xfrm>
            <a:off x="4386960" y="3930480"/>
            <a:ext cx="107424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not casting!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" name="Connector: Elbow 1"/>
          <p:cNvCxnSpPr/>
          <p:nvPr/>
        </p:nvCxnSpPr>
        <p:spPr>
          <a:xfrm flipV="1">
            <a:off x="2503440" y="3578400"/>
            <a:ext cx="2090880" cy="92880"/>
          </a:xfrm>
          <a:prstGeom prst="bentConnector3">
            <a:avLst>
              <a:gd name="adj1" fmla="val 52161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cxnSp>
        <p:nvCxnSpPr>
          <p:cNvPr id="32" name="Connector: Elbow 2"/>
          <p:cNvCxnSpPr>
            <a:endCxn id="30" idx="1"/>
          </p:cNvCxnSpPr>
          <p:nvPr/>
        </p:nvCxnSpPr>
        <p:spPr>
          <a:xfrm flipH="1" rot="16200000">
            <a:off x="3716280" y="3395880"/>
            <a:ext cx="186120" cy="115596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33" name="Rectangle: Rounded Corners 4"/>
          <p:cNvSpPr/>
          <p:nvPr/>
        </p:nvSpPr>
        <p:spPr>
          <a:xfrm>
            <a:off x="1707840" y="2966040"/>
            <a:ext cx="2125440" cy="1774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34" name="Rectangle: Rounded Corners 5"/>
          <p:cNvSpPr/>
          <p:nvPr/>
        </p:nvSpPr>
        <p:spPr>
          <a:xfrm>
            <a:off x="3844440" y="3673440"/>
            <a:ext cx="648000" cy="2062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35" name="Content Placeholder 3"/>
          <p:cNvSpPr/>
          <p:nvPr/>
        </p:nvSpPr>
        <p:spPr>
          <a:xfrm>
            <a:off x="364320" y="4338720"/>
            <a:ext cx="512532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rmAutofit fontScale="87222"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Hmm…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do you spot the remaining problem?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" name="Connector: Elbow 3"/>
          <p:cNvCxnSpPr>
            <a:stCxn id="37" idx="3"/>
            <a:endCxn id="38" idx="0"/>
          </p:cNvCxnSpPr>
          <p:nvPr/>
        </p:nvCxnSpPr>
        <p:spPr>
          <a:xfrm>
            <a:off x="2327400" y="2433600"/>
            <a:ext cx="406800" cy="353520"/>
          </a:xfrm>
          <a:prstGeom prst="bentConnector2">
            <a:avLst/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38" name="Rectangle: Rounded Corners 6"/>
          <p:cNvSpPr/>
          <p:nvPr/>
        </p:nvSpPr>
        <p:spPr>
          <a:xfrm>
            <a:off x="2542320" y="2786760"/>
            <a:ext cx="383400" cy="1576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 u="sng">
              <a:solidFill>
                <a:schemeClr val="lt1"/>
              </a:solidFill>
              <a:uFillTx/>
              <a:latin typeface="Rockwell"/>
              <a:ea typeface="MS PGothic"/>
            </a:endParaRPr>
          </a:p>
        </p:txBody>
      </p:sp>
      <p:sp>
        <p:nvSpPr>
          <p:cNvPr id="39" name="TextBox 16"/>
          <p:cNvSpPr/>
          <p:nvPr/>
        </p:nvSpPr>
        <p:spPr>
          <a:xfrm>
            <a:off x="4104000" y="1692360"/>
            <a:ext cx="4775040" cy="155268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kan_haz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(greetz: &amp;</a:t>
            </a:r>
            <a:r>
              <a:rPr b="0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str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wat =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"Oh hai! 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greetz);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io::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stdout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flush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io::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stdin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read_line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wat).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expect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"WTF?!"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wat </a:t>
            </a:r>
            <a:r>
              <a:rPr b="0" lang="en-US" sz="12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 Returns (moves "wat" to caller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Box 17"/>
          <p:cNvSpPr/>
          <p:nvPr/>
        </p:nvSpPr>
        <p:spPr>
          <a:xfrm>
            <a:off x="1487880" y="2297520"/>
            <a:ext cx="83952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ffff00"/>
                </a:solidFill>
                <a:latin typeface="Rockwell"/>
                <a:ea typeface="MS PGothic"/>
              </a:rPr>
              <a:t>i64</a:t>
            </a: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 literal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Box 18"/>
          <p:cNvSpPr/>
          <p:nvPr/>
        </p:nvSpPr>
        <p:spPr>
          <a:xfrm>
            <a:off x="3175200" y="2375280"/>
            <a:ext cx="80568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ffff00"/>
                </a:solidFill>
                <a:latin typeface="Rockwell"/>
                <a:ea typeface="MS PGothic"/>
              </a:rPr>
              <a:t>str</a:t>
            </a: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 literal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19"/>
          <p:cNvSpPr/>
          <p:nvPr/>
        </p:nvSpPr>
        <p:spPr>
          <a:xfrm>
            <a:off x="253080" y="1983960"/>
            <a:ext cx="329760" cy="22615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02</a:t>
            </a:r>
            <a:br>
              <a:rPr sz="1200"/>
            </a:b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10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11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Box 21"/>
          <p:cNvSpPr/>
          <p:nvPr/>
        </p:nvSpPr>
        <p:spPr>
          <a:xfrm>
            <a:off x="4565880" y="3510360"/>
            <a:ext cx="84348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ffff00"/>
                </a:solidFill>
                <a:latin typeface="Rockwell"/>
                <a:ea typeface="MS PGothic"/>
              </a:rPr>
              <a:t>f32</a:t>
            </a: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 literal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Content Placeholder 4"/>
          <p:cNvSpPr/>
          <p:nvPr/>
        </p:nvSpPr>
        <p:spPr>
          <a:xfrm>
            <a:off x="5525280" y="3247200"/>
            <a:ext cx="3259080" cy="1208520"/>
          </a:xfrm>
          <a:prstGeom prst="rect">
            <a:avLst/>
          </a:prstGeom>
          <a:solidFill>
            <a:srgbClr val="000037">
              <a:alpha val="80000"/>
            </a:srgbClr>
          </a:solidFill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rmAutofit fontScale="81111"/>
          </a:bodyPr>
          <a:p>
            <a:pPr algn="just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 also supports byte (</a:t>
            </a:r>
            <a:r>
              <a:rPr b="1" lang="en-US" sz="2000" spc="-1" strike="noStrike">
                <a:solidFill>
                  <a:srgbClr val="3faf46"/>
                </a:solidFill>
                <a:latin typeface="Consolas"/>
                <a:ea typeface="MS PGothic"/>
              </a:rPr>
              <a:t>b'Q'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), binary (</a:t>
            </a:r>
            <a:r>
              <a:rPr b="1" lang="en-US" sz="2000" spc="-1" strike="noStrike">
                <a:solidFill>
                  <a:srgbClr val="3faf46"/>
                </a:solidFill>
                <a:latin typeface="Consolas"/>
                <a:ea typeface="MS PGothic"/>
              </a:rPr>
              <a:t>0b01000011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), &amp; octal (</a:t>
            </a:r>
            <a:r>
              <a:rPr b="1" lang="en-US" sz="2000" spc="-1" strike="noStrike">
                <a:solidFill>
                  <a:schemeClr val="lt1"/>
                </a:solidFill>
                <a:latin typeface="Consolas"/>
                <a:ea typeface="MS PGothic"/>
              </a:rPr>
              <a:t>0o755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) prefixes, &amp; scientific notation suffixes (</a:t>
            </a:r>
            <a:r>
              <a:rPr b="1" lang="en-US" sz="2000" spc="-1" strike="noStrike">
                <a:solidFill>
                  <a:srgbClr val="3faf46"/>
                </a:solidFill>
                <a:latin typeface="Consolas"/>
                <a:ea typeface="MS PGothic"/>
              </a:rPr>
              <a:t>314.159e-2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V="1">
            <a:off x="3696120" y="2644920"/>
            <a:ext cx="360" cy="315360"/>
          </a:xfrm>
          <a:custGeom>
            <a:avLst/>
            <a:gdLst>
              <a:gd name="textAreaLeft" fmla="*/ 0 w 360"/>
              <a:gd name="textAreaRight" fmla="*/ 92160 w 360"/>
              <a:gd name="textAreaTop" fmla="*/ -1440 h 315360"/>
              <a:gd name="textAreaBottom" fmla="*/ 316800 h 315360"/>
            </a:gdLst>
            <a:ahLst/>
            <a:rect l="textAreaLeft" t="textAreaTop" r="textAreaRight" b="textAreaBottom"/>
            <a:pathLst>
              <a:path fill="none" w="1" h="884">
                <a:moveTo>
                  <a:pt x="0" y="884"/>
                </a:moveTo>
                <a:lnTo>
                  <a:pt x="1" y="0"/>
                </a:lnTo>
              </a:path>
            </a:pathLst>
          </a:custGeom>
          <a:noFill/>
          <a:ln w="1260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42120" bIns="42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 flipV="1">
            <a:off x="3095640" y="2315880"/>
            <a:ext cx="360" cy="459360"/>
          </a:xfrm>
          <a:custGeom>
            <a:avLst/>
            <a:gdLst>
              <a:gd name="textAreaLeft" fmla="*/ 0 w 360"/>
              <a:gd name="textAreaRight" fmla="*/ 28800 w 360"/>
              <a:gd name="textAreaTop" fmla="*/ -1440 h 459360"/>
              <a:gd name="textAreaBottom" fmla="*/ 460800 h 459360"/>
            </a:gdLst>
            <a:ahLst/>
            <a:rect l="textAreaLeft" t="textAreaTop" r="textAreaRight" b="textAreaBottom"/>
            <a:pathLst>
              <a:path fill="none" w="5" h="1284">
                <a:moveTo>
                  <a:pt x="0" y="1284"/>
                </a:moveTo>
                <a:lnTo>
                  <a:pt x="5" y="0"/>
                </a:lnTo>
              </a:path>
            </a:pathLst>
          </a:custGeom>
          <a:noFill/>
          <a:ln w="1260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42120" bIns="42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4169160" y="3573360"/>
            <a:ext cx="360" cy="9504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43920" bIns="439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038680" y="547200"/>
            <a:ext cx="5061240" cy="613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Renaming &amp; Aliasing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205200" y="1291320"/>
            <a:ext cx="8671680" cy="33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 fontScale="87222"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can rename a module or item on import, and we can also create type aliases.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685800" y="101160"/>
            <a:ext cx="87948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68760" rIns="68760" tIns="34200" bIns="34200" anchor="ctr">
            <a:spAutoFit/>
          </a:bodyPr>
          <a:p>
            <a:pPr defTabSz="685800">
              <a:lnSpc>
                <a:spcPct val="100000"/>
              </a:lnSpc>
              <a:tabLst>
                <a:tab algn="l" pos="42876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MS Mincho"/>
              </a:rPr>
              <a:t>OUTPUT: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3"/>
          <p:cNvSpPr/>
          <p:nvPr/>
        </p:nvSpPr>
        <p:spPr>
          <a:xfrm>
            <a:off x="169200" y="1805400"/>
            <a:ext cx="3852000" cy="26676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use std::io::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Write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use std::io::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stdin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as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rin;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use std::io::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stdout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as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rout;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br>
              <a:rPr sz="1300"/>
            </a:b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kan_haz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(greetz: &amp;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wat =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"Oh hai! 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greetz);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rout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flush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rin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read_line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wat).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wat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6"/>
          </p:nvPr>
        </p:nvSpPr>
        <p:spPr>
          <a:xfrm>
            <a:off x="7049160" y="4767120"/>
            <a:ext cx="2052000" cy="26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135226-6FB0-401A-BD3A-B35EE602C7A2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TextBox 29"/>
          <p:cNvSpPr/>
          <p:nvPr/>
        </p:nvSpPr>
        <p:spPr>
          <a:xfrm>
            <a:off x="4095360" y="1805400"/>
            <a:ext cx="4845960" cy="26683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type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Toppens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= (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bool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bool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brgr_desc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(wat_on: &amp;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Toppens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(pklz, unyin) = wat_on;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300" spc="-1" strike="noStrike">
                <a:solidFill>
                  <a:srgbClr val="ff9080"/>
                </a:solidFill>
                <a:latin typeface="Consolas"/>
                <a:ea typeface="MS PGothic"/>
              </a:rPr>
              <a:t>format!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"pklz: {}, unyin: 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pklz, unyin)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for_brgr: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Toppens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= (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true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false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println!(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brgr_desc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(&amp;for_brgr));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28"/>
          <p:cNvSpPr/>
          <p:nvPr/>
        </p:nvSpPr>
        <p:spPr>
          <a:xfrm>
            <a:off x="3024360" y="1902600"/>
            <a:ext cx="89532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rename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" name="Connector: Elbow 4"/>
          <p:cNvCxnSpPr/>
          <p:nvPr/>
        </p:nvCxnSpPr>
        <p:spPr>
          <a:xfrm rot="5400000">
            <a:off x="3022560" y="1988280"/>
            <a:ext cx="223560" cy="59868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cxnSp>
        <p:nvCxnSpPr>
          <p:cNvPr id="55" name="Connector: Elbow 6"/>
          <p:cNvCxnSpPr>
            <a:stCxn id="54" idx="0"/>
          </p:cNvCxnSpPr>
          <p:nvPr/>
        </p:nvCxnSpPr>
        <p:spPr>
          <a:xfrm rot="5400000">
            <a:off x="3095280" y="2233080"/>
            <a:ext cx="284040" cy="39276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56" name="TextBox 33"/>
          <p:cNvSpPr/>
          <p:nvPr/>
        </p:nvSpPr>
        <p:spPr>
          <a:xfrm>
            <a:off x="7959240" y="1896840"/>
            <a:ext cx="89532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alias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6985080" y="1973880"/>
            <a:ext cx="974160" cy="1440"/>
          </a:xfrm>
          <a:prstGeom prst="line">
            <a:avLst/>
          </a:prstGeom>
          <a:ln w="1260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49680" bIns="-496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7" dur="indefinite" restart="never" nodeType="tmRoot">
          <p:childTnLst>
            <p:seq>
              <p:cTn id="178" dur="indefinite" nodeType="mainSeq">
                <p:childTnLst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500"/>
                                        <p:tgtEl>
                                          <p:spTgt spid="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500"/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5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3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4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89800" y="458280"/>
            <a:ext cx="8558640" cy="61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Basi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Con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trol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Stru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ctur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200880" y="1671840"/>
            <a:ext cx="4043520" cy="24379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use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std::{io, io::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Write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chek_brgr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(nom: &amp;String) -&gt;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if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nom == 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"Y"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return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"😊"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 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else if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nom == 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"N"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"😭"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else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unreachable!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 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1"/>
          <p:cNvSpPr/>
          <p:nvPr/>
        </p:nvSpPr>
        <p:spPr>
          <a:xfrm>
            <a:off x="4345200" y="1671840"/>
            <a:ext cx="4583160" cy="24379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is_order_cheezbrgr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 -&gt;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4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nom =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while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nom != 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"Y"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&amp;&amp; nom != 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"N"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nom =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kan_haz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"Want chezbrgr[Y/N]?"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chek_brgr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(&amp;nom) 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 rot="2400">
            <a:off x="6229440" y="3445560"/>
            <a:ext cx="2661120" cy="30312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kan_haz(&amp;str) -&gt; String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2" name=""/>
          <p:cNvCxnSpPr>
            <a:endCxn id="61" idx="0"/>
          </p:cNvCxnSpPr>
          <p:nvPr/>
        </p:nvCxnSpPr>
        <p:spPr>
          <a:xfrm flipH="1" rot="16200000">
            <a:off x="6621120" y="2506320"/>
            <a:ext cx="216000" cy="1663560"/>
          </a:xfrm>
          <a:prstGeom prst="bentConnector3">
            <a:avLst>
              <a:gd name="adj1" fmla="val 49749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63" name="PlaceHolder 6"/>
          <p:cNvSpPr/>
          <p:nvPr/>
        </p:nvSpPr>
        <p:spPr>
          <a:xfrm>
            <a:off x="165240" y="1161000"/>
            <a:ext cx="88354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 has some familiar control structures to other C-family languages.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E590C3E-6652-4574-8B91-8D854004E55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0" dur="indefinite" restart="never" nodeType="tmRoot">
          <p:childTnLst>
            <p:seq>
              <p:cTn id="301" dur="indefinite" nodeType="mainSeq">
                <p:childTnLst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4" dur="5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7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89800" y="458280"/>
            <a:ext cx="8558640" cy="61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ss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Ba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sic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ntr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ol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uct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ure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32"/>
          <p:cNvSpPr/>
          <p:nvPr/>
        </p:nvSpPr>
        <p:spPr>
          <a:xfrm>
            <a:off x="3157200" y="1573560"/>
            <a:ext cx="2941560" cy="30157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use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std::{io, io::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Write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why_oh_why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count = 0;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'outie: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loop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"Oh hai agin."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'innie: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loop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count &gt; 9000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break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'outie;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"Dizzy..."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count = count + 1;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9"/>
          <p:cNvSpPr/>
          <p:nvPr/>
        </p:nvSpPr>
        <p:spPr>
          <a:xfrm>
            <a:off x="165240" y="1161000"/>
            <a:ext cx="88354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...but others are novel: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" name="Connector: Elbow 8"/>
          <p:cNvCxnSpPr/>
          <p:nvPr/>
        </p:nvCxnSpPr>
        <p:spPr>
          <a:xfrm rot="5400000">
            <a:off x="5127120" y="1818360"/>
            <a:ext cx="407520" cy="123012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cxnSp>
        <p:nvCxnSpPr>
          <p:cNvPr id="68" name="Connector: Elbow 9"/>
          <p:cNvCxnSpPr>
            <a:stCxn id="67" idx="0"/>
          </p:cNvCxnSpPr>
          <p:nvPr/>
        </p:nvCxnSpPr>
        <p:spPr>
          <a:xfrm rot="5400000">
            <a:off x="5137200" y="2200680"/>
            <a:ext cx="576000" cy="104112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69" name="TextBox 34"/>
          <p:cNvSpPr/>
          <p:nvPr/>
        </p:nvSpPr>
        <p:spPr>
          <a:xfrm>
            <a:off x="5261760" y="1965600"/>
            <a:ext cx="139788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while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  <a:ea typeface="MS PGothic"/>
              </a:rPr>
              <a:t> (true)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36"/>
          <p:cNvSpPr/>
          <p:nvPr/>
        </p:nvSpPr>
        <p:spPr>
          <a:xfrm>
            <a:off x="2490480" y="1957320"/>
            <a:ext cx="60372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label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1" name="Connector: Elbow 10"/>
          <p:cNvCxnSpPr/>
          <p:nvPr/>
        </p:nvCxnSpPr>
        <p:spPr>
          <a:xfrm flipH="1" rot="16200000">
            <a:off x="2925720" y="2118600"/>
            <a:ext cx="415440" cy="63720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cxnSp>
        <p:nvCxnSpPr>
          <p:cNvPr id="72" name="Connector: Elbow 11"/>
          <p:cNvCxnSpPr>
            <a:stCxn id="71" idx="0"/>
          </p:cNvCxnSpPr>
          <p:nvPr/>
        </p:nvCxnSpPr>
        <p:spPr>
          <a:xfrm flipH="1" rot="16200000">
            <a:off x="2931120" y="2320560"/>
            <a:ext cx="560880" cy="79344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73" name=""/>
          <p:cNvSpPr/>
          <p:nvPr/>
        </p:nvSpPr>
        <p:spPr>
          <a:xfrm flipV="1">
            <a:off x="3463920" y="3355920"/>
            <a:ext cx="478440" cy="3600"/>
          </a:xfrm>
          <a:prstGeom prst="line">
            <a:avLst/>
          </a:prstGeom>
          <a:ln w="1260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47520" bIns="-475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TextBox 37"/>
          <p:cNvSpPr/>
          <p:nvPr/>
        </p:nvSpPr>
        <p:spPr>
          <a:xfrm>
            <a:off x="2322000" y="3210480"/>
            <a:ext cx="1194480" cy="2725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Rockwell"/>
                <a:ea typeface="MS PGothic"/>
              </a:rPr>
              <a:t>break to label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9D59F6-719D-47B7-BF0D-2A01A534B54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7" dur="indefinite" restart="never" nodeType="tmRoot">
          <p:childTnLst>
            <p:seq>
              <p:cTn id="378" dur="indefinite" nodeType="mainSeq">
                <p:childTnLst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6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4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7" dur="500"/>
                                        <p:tgtEl>
                                          <p:spTgt spid="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8" dur="500"/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1" dur="500"/>
                                        <p:tgtEl>
                                          <p:spTgt spid="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571320" y="1403280"/>
            <a:ext cx="8087400" cy="411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Rust’s </a:t>
            </a:r>
            <a:r>
              <a:rPr b="1" lang="en-US" sz="1800" spc="-1" strike="noStrike">
                <a:solidFill>
                  <a:srgbClr val="ffff00"/>
                </a:solidFill>
                <a:latin typeface="Consolas"/>
                <a:ea typeface="MS PGothic"/>
              </a:rPr>
              <a:t>match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is similar to Python’s variant; there is no </a:t>
            </a:r>
            <a:r>
              <a:rPr b="1" i="1" lang="en-US" sz="2000" spc="-1" strike="noStrike">
                <a:solidFill>
                  <a:srgbClr val="ff8000"/>
                </a:solidFill>
                <a:latin typeface="Consolas"/>
                <a:ea typeface="MS PGothic"/>
              </a:rPr>
              <a:t>switch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89800" y="638280"/>
            <a:ext cx="8558640" cy="618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Matching Against Values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0"/>
          <p:cNvSpPr/>
          <p:nvPr/>
        </p:nvSpPr>
        <p:spPr>
          <a:xfrm>
            <a:off x="1405440" y="2096280"/>
            <a:ext cx="6358320" cy="22280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thngz =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kan_haz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"numwant?! 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).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parse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::&lt;</a:t>
            </a:r>
            <a:r>
              <a:rPr b="1" lang="en-US" sz="1400" spc="-1" strike="noStrike">
                <a:solidFill>
                  <a:srgbClr val="60e0e0"/>
                </a:solidFill>
                <a:latin typeface="Consolas"/>
                <a:ea typeface="MS PGothic"/>
              </a:rPr>
              <a:t>u32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&gt;().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match</a:t>
            </a: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thngz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 =&gt;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"Zero! Zilch! NOTHING!"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1 =&gt;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"The loneliest number, to be sure."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2 | 3 =&gt;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"Is it company, or is it a crowd?"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4 =&gt;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"That’s a lot of things."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_ =&gt;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"ALL THE THINGS!!!!"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8" name="Connector: Elbow 5"/>
          <p:cNvCxnSpPr>
            <a:endCxn id="79" idx="1"/>
          </p:cNvCxnSpPr>
          <p:nvPr/>
        </p:nvCxnSpPr>
        <p:spPr>
          <a:xfrm flipH="1" rot="16200000">
            <a:off x="3265560" y="2224080"/>
            <a:ext cx="248040" cy="54864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79" name="TextBox 31"/>
          <p:cNvSpPr/>
          <p:nvPr/>
        </p:nvSpPr>
        <p:spPr>
          <a:xfrm rot="2400">
            <a:off x="3663360" y="2471400"/>
            <a:ext cx="2734200" cy="30312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kan_haz(&amp;str) -&gt; String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0CFC52-81D0-44C1-A2EE-FF51F916568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5" dur="indefinite" restart="never" nodeType="tmRoot">
          <p:childTnLst>
            <p:seq>
              <p:cTn id="476" dur="indefinite" nodeType="mainSeq">
                <p:childTnLst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9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2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5" dur="500"/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0" dur="500"/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5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28293</TotalTime>
  <Application>LibreOffice/24.2.7.2$Linux_X86_64 LibreOffice_project/420$Build-2</Application>
  <AppVersion>15.0000</AppVersion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2026-05-28T12:57:37Z</dcterms:modified>
  <cp:revision>743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
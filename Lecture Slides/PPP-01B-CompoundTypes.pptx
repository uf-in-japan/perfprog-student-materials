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media/image3.png" ContentType="image/png"/>
  <Override PartName="/ppt/media/image4.svg" ContentType="image/svg"/>
  <Override PartName="/ppt/media/image5.png" ContentType="image/png"/>
  <Override PartName="/ppt/media/image6.svg" ContentType="image/sv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dt" idx="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ft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sldNum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A327F37-AD44-41ED-ADA5-BAEC3B0F979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120" cy="2568960"/>
          </a:xfrm>
          <a:prstGeom prst="rect">
            <a:avLst/>
          </a:prstGeom>
          <a:ln w="0">
            <a:noFill/>
          </a:ln>
        </p:spPr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2320" cy="308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0.5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6"/>
          </p:nvPr>
        </p:nvSpPr>
        <p:spPr>
          <a:xfrm>
            <a:off x="5180040" y="6513480"/>
            <a:ext cx="3959640" cy="3402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406488-A2CE-4E51-A026-CAB9115EC186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Tuples and lists fulfill the same function. So why bother with mutable?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Data protection – protect you from your yourself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Efficiency – space, hashing (more later!), function returns (more soon!); future potential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sldNum" idx="7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6FDB740-A601-4DF5-BA2F-5ECBF7EC3781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Tuples and lists fulfill the same function. So why bother with mutable?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Data protection – protect you from your yourself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Efficiency – space, hashing (more later!), function returns (more soon!); future potential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sldNum" idx="8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CB0E48-D2CA-4D8C-B3F5-33872754ACA2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Tuples and lists fulfill the same function. So why bother with mutable?</a:t>
            </a:r>
            <a:br>
              <a:rPr sz="2000"/>
            </a:br>
            <a:br>
              <a:rPr sz="2000"/>
            </a:b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1) Data protection – protect you from your yourself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2) Efficiency – space, hashing (more later!), function returns (more soon!); future potential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5.5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9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9396B76-6199-4029-94D8-B9A80D555D8F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10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79835E-57D4-4EB9-AE10-75BEAD898B02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sldNum" idx="11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176C15-5C76-49B1-9434-ECFDE1AF055B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sldNum" idx="12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5D10D9-7C0A-4621-B966-5D19C39E9847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2286000" y="514440"/>
            <a:ext cx="4569840" cy="256968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914400" y="3257640"/>
            <a:ext cx="7313040" cy="30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12.5 min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 defTabSz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13"/>
          </p:nvPr>
        </p:nvSpPr>
        <p:spPr>
          <a:xfrm>
            <a:off x="5180040" y="6513480"/>
            <a:ext cx="3960360" cy="34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A9345B-FE80-435D-AA13-70A4B058DE7A}" type="slidenum">
              <a:rPr b="0" lang="en-US" sz="1200" spc="-1" strike="noStrike">
                <a:solidFill>
                  <a:srgbClr val="000000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0089DF2-EDEA-4FE2-B8A5-80606C90A84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6_Custom Layou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onten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253BD3-5E97-430B-B45B-0232468ABFC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7520" cy="5132520"/>
          </a:xfrm>
          <a:prstGeom prst="rect">
            <a:avLst/>
          </a:prstGeom>
          <a:ln w="0">
            <a:noFill/>
          </a:ln>
        </p:spPr>
      </p:pic>
      <p:sp>
        <p:nvSpPr>
          <p:cNvPr id="1" name="Rectangle 2"/>
          <p:cNvSpPr/>
          <p:nvPr/>
        </p:nvSpPr>
        <p:spPr>
          <a:xfrm>
            <a:off x="0" y="0"/>
            <a:ext cx="9137520" cy="513720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2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34640" cy="513540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7520" cy="5132520"/>
          </a:xfrm>
          <a:prstGeom prst="rect">
            <a:avLst/>
          </a:prstGeom>
          <a:ln w="0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7049160" y="4767120"/>
            <a:ext cx="2050920" cy="26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452755-B75A-48F3-96AB-AD060450E345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41120" cy="5136120"/>
          </a:xfrm>
          <a:prstGeom prst="rect">
            <a:avLst/>
          </a:prstGeom>
          <a:ln w="0">
            <a:noFill/>
          </a:ln>
        </p:spPr>
      </p:pic>
      <p:sp>
        <p:nvSpPr>
          <p:cNvPr id="9" name="Rectangle 2"/>
          <p:cNvSpPr/>
          <p:nvPr/>
        </p:nvSpPr>
        <p:spPr>
          <a:xfrm>
            <a:off x="0" y="0"/>
            <a:ext cx="9141120" cy="5140800"/>
          </a:xfrm>
          <a:prstGeom prst="rect">
            <a:avLst/>
          </a:prstGeom>
          <a:solidFill>
            <a:schemeClr val="accent1"/>
          </a:solidFill>
          <a:ln w="12600">
            <a:noFill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pic>
        <p:nvPicPr>
          <p:cNvPr id="10" name="Picture 1" descr=""/>
          <p:cNvPicPr/>
          <p:nvPr/>
        </p:nvPicPr>
        <p:blipFill>
          <a:blip r:embed="rId3"/>
          <a:stretch/>
        </p:blipFill>
        <p:spPr>
          <a:xfrm>
            <a:off x="0" y="720"/>
            <a:ext cx="9138240" cy="51390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3" descr=""/>
          <p:cNvPicPr/>
          <p:nvPr/>
        </p:nvPicPr>
        <p:blipFill>
          <a:blip r:embed="rId2"/>
          <a:srcRect l="0" t="-4" r="0" b="84"/>
          <a:stretch/>
        </p:blipFill>
        <p:spPr>
          <a:xfrm>
            <a:off x="0" y="0"/>
            <a:ext cx="9139320" cy="5134320"/>
          </a:xfrm>
          <a:prstGeom prst="rect">
            <a:avLst/>
          </a:prstGeom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sldNum" idx="2"/>
          </p:nvPr>
        </p:nvSpPr>
        <p:spPr>
          <a:xfrm>
            <a:off x="7049160" y="4767120"/>
            <a:ext cx="2052720" cy="27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27464F-8088-4616-BCC6-C5CC20103391}" type="slidenum">
              <a:rPr b="0" lang="en-US" sz="1200" spc="-1" strike="noStrike">
                <a:solidFill>
                  <a:schemeClr val="lt1">
                    <a:tint val="75000"/>
                  </a:schemeClr>
                </a:solidFill>
                <a:latin typeface="Rockwell"/>
                <a:ea typeface="MS PGothic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sv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71200" y="1603080"/>
            <a:ext cx="8269920" cy="805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4800" spc="-1" strike="noStrike">
                <a:solidFill>
                  <a:schemeClr val="lt1"/>
                </a:solidFill>
                <a:latin typeface="Arial"/>
                <a:ea typeface="MS PGothic"/>
              </a:rPr>
              <a:t>Compound Types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871200" y="2310120"/>
            <a:ext cx="8106480" cy="654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lt1"/>
                </a:solidFill>
                <a:latin typeface="Arial"/>
              </a:rPr>
              <a:t>Iterables, Strings, Collections, and Custom Structures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" name="Graphic 1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285360" y="2410920"/>
            <a:ext cx="3009960" cy="1804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/>
          </p:nvPr>
        </p:nvSpPr>
        <p:spPr>
          <a:xfrm>
            <a:off x="289800" y="1335240"/>
            <a:ext cx="8561880" cy="49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 Rust </a:t>
            </a:r>
            <a:r>
              <a:rPr b="1" i="1" lang="en-US" sz="2000" spc="-1" strike="noStrike">
                <a:solidFill>
                  <a:srgbClr val="ffbf00"/>
                </a:solidFill>
                <a:latin typeface="Cambria"/>
                <a:ea typeface="MS PGothic"/>
              </a:rPr>
              <a:t>array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has a fixed length and contains a single type: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289800" y="632160"/>
            <a:ext cx="8494200" cy="590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Arrays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Box 1"/>
          <p:cNvSpPr/>
          <p:nvPr/>
        </p:nvSpPr>
        <p:spPr>
          <a:xfrm>
            <a:off x="2457000" y="1865880"/>
            <a:ext cx="5506920" cy="19184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wat = [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"wooly"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"bully"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];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who = [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from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"wooly"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),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from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"bully"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)];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numbers = [3, 1, 3, 3, 7];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matty = wat[1];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hatty = who[0];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numero = numbers[4];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numero = numbers[numero];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for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entry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in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numbers {  </a:t>
            </a: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entry}; 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Content Placeholder 1"/>
          <p:cNvSpPr/>
          <p:nvPr/>
        </p:nvSpPr>
        <p:spPr>
          <a:xfrm>
            <a:off x="216360" y="3905280"/>
            <a:ext cx="8561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...guesses about what happens?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2" name=""/>
          <p:cNvGrpSpPr/>
          <p:nvPr/>
        </p:nvGrpSpPr>
        <p:grpSpPr>
          <a:xfrm>
            <a:off x="2524680" y="2854800"/>
            <a:ext cx="1707120" cy="121680"/>
            <a:chOff x="2524680" y="2854800"/>
            <a:chExt cx="1707120" cy="121680"/>
          </a:xfrm>
        </p:grpSpPr>
        <p:sp>
          <p:nvSpPr>
            <p:cNvPr id="33" name=""/>
            <p:cNvSpPr/>
            <p:nvPr/>
          </p:nvSpPr>
          <p:spPr>
            <a:xfrm flipH="1">
              <a:off x="2524680" y="2854800"/>
              <a:ext cx="170712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2524680" y="2854800"/>
              <a:ext cx="170712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grpSp>
        <p:nvGrpSpPr>
          <p:cNvPr id="35" name=""/>
          <p:cNvGrpSpPr/>
          <p:nvPr/>
        </p:nvGrpSpPr>
        <p:grpSpPr>
          <a:xfrm>
            <a:off x="2534040" y="3231000"/>
            <a:ext cx="2613960" cy="121680"/>
            <a:chOff x="2534040" y="3231000"/>
            <a:chExt cx="2613960" cy="121680"/>
          </a:xfrm>
        </p:grpSpPr>
        <p:sp>
          <p:nvSpPr>
            <p:cNvPr id="36" name=""/>
            <p:cNvSpPr/>
            <p:nvPr/>
          </p:nvSpPr>
          <p:spPr>
            <a:xfrm flipH="1">
              <a:off x="2534040" y="3231000"/>
              <a:ext cx="261396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2534040" y="3231000"/>
              <a:ext cx="261396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cxnSp>
        <p:nvCxnSpPr>
          <p:cNvPr id="38" name=""/>
          <p:cNvCxnSpPr/>
          <p:nvPr/>
        </p:nvCxnSpPr>
        <p:spPr>
          <a:xfrm flipV="1">
            <a:off x="5224320" y="2862000"/>
            <a:ext cx="1589760" cy="446400"/>
          </a:xfrm>
          <a:prstGeom prst="bentConnector3">
            <a:avLst>
              <a:gd name="adj1" fmla="val 100022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39" name="TextBox 2"/>
          <p:cNvSpPr/>
          <p:nvPr/>
        </p:nvSpPr>
        <p:spPr>
          <a:xfrm rot="2400">
            <a:off x="6590520" y="2697480"/>
            <a:ext cx="130968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runtime error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0" name=""/>
          <p:cNvCxnSpPr/>
          <p:nvPr/>
        </p:nvCxnSpPr>
        <p:spPr>
          <a:xfrm flipV="1">
            <a:off x="4270680" y="2545560"/>
            <a:ext cx="1620000" cy="381600"/>
          </a:xfrm>
          <a:prstGeom prst="bentConnector3">
            <a:avLst>
              <a:gd name="adj1" fmla="val 100022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1" name="TextBox 5"/>
          <p:cNvSpPr/>
          <p:nvPr/>
        </p:nvSpPr>
        <p:spPr>
          <a:xfrm rot="2400">
            <a:off x="5423760" y="2343240"/>
            <a:ext cx="197136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Can’t move from array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TextBox 9"/>
          <p:cNvSpPr/>
          <p:nvPr/>
        </p:nvSpPr>
        <p:spPr>
          <a:xfrm rot="2400">
            <a:off x="1037160" y="2281680"/>
            <a:ext cx="146088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Copy trait; OK!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3" name=""/>
          <p:cNvCxnSpPr>
            <a:endCxn id="42" idx="2"/>
          </p:cNvCxnSpPr>
          <p:nvPr/>
        </p:nvCxnSpPr>
        <p:spPr>
          <a:xfrm flipV="1" rot="16200000">
            <a:off x="2049480" y="2257200"/>
            <a:ext cx="198720" cy="76176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cxnSp>
        <p:nvCxnSpPr>
          <p:cNvPr id="44" name=""/>
          <p:cNvCxnSpPr>
            <a:endCxn id="42" idx="2"/>
          </p:cNvCxnSpPr>
          <p:nvPr/>
        </p:nvCxnSpPr>
        <p:spPr>
          <a:xfrm flipV="1" rot="16200000">
            <a:off x="1863000" y="2443680"/>
            <a:ext cx="568800" cy="758880"/>
          </a:xfrm>
          <a:prstGeom prst="bentConnector3">
            <a:avLst>
              <a:gd name="adj1" fmla="val 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5" name=""/>
          <p:cNvSpPr/>
          <p:nvPr/>
        </p:nvSpPr>
        <p:spPr>
          <a:xfrm>
            <a:off x="2256840" y="3667320"/>
            <a:ext cx="250920" cy="36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46800" bIns="-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6" name="TextBox 7"/>
          <p:cNvSpPr/>
          <p:nvPr/>
        </p:nvSpPr>
        <p:spPr>
          <a:xfrm rot="2400">
            <a:off x="1023480" y="3535560"/>
            <a:ext cx="130356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for-each loop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47" name=""/>
          <p:cNvCxnSpPr/>
          <p:nvPr/>
        </p:nvCxnSpPr>
        <p:spPr>
          <a:xfrm flipV="1">
            <a:off x="7714440" y="4737240"/>
            <a:ext cx="1589760" cy="446400"/>
          </a:xfrm>
          <a:prstGeom prst="bentConnector3">
            <a:avLst>
              <a:gd name="adj1" fmla="val 100022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48" name="TextBox 8"/>
          <p:cNvSpPr/>
          <p:nvPr/>
        </p:nvSpPr>
        <p:spPr>
          <a:xfrm rot="2400">
            <a:off x="9080640" y="4572720"/>
            <a:ext cx="130968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runtime error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1B8D8A-32AB-46E8-8589-16259A78C98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" dur="500"/>
                                        <p:tgtEl>
                                          <p:spTgt spid="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" dur="500"/>
                                        <p:tgtEl>
                                          <p:spTgt spid="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1" dur="500"/>
                                        <p:tgtEl>
                                          <p:spTgt spid="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/>
          </p:nvPr>
        </p:nvSpPr>
        <p:spPr>
          <a:xfrm>
            <a:off x="289800" y="1119240"/>
            <a:ext cx="8561880" cy="49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 </a:t>
            </a:r>
            <a:r>
              <a:rPr b="1" i="1" lang="en-US" sz="2000" spc="-1" strike="noStrike">
                <a:solidFill>
                  <a:srgbClr val="ffbf00"/>
                </a:solidFill>
                <a:latin typeface="Cambria"/>
                <a:ea typeface="MS PGothic"/>
              </a:rPr>
              <a:t>tuple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has a fixed length – but any combination of types: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357480" y="491040"/>
            <a:ext cx="8494200" cy="590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Tuples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Box 10"/>
          <p:cNvSpPr/>
          <p:nvPr/>
        </p:nvSpPr>
        <p:spPr>
          <a:xfrm>
            <a:off x="2529000" y="1577880"/>
            <a:ext cx="5506920" cy="173556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number_one = 8675;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number_two = 309;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name =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from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"Jenny"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combo = (number_one, number_two);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rolodex = (number_one, number_two, name, 6.2);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"Number: {}-{}"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rolodex.0, rolodex.1);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"{}-{}"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number_one, number_two);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"Name: {}"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name);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52" name=""/>
          <p:cNvGrpSpPr/>
          <p:nvPr/>
        </p:nvGrpSpPr>
        <p:grpSpPr>
          <a:xfrm>
            <a:off x="2568600" y="3147840"/>
            <a:ext cx="2553480" cy="121680"/>
            <a:chOff x="2568600" y="3147840"/>
            <a:chExt cx="2553480" cy="121680"/>
          </a:xfrm>
        </p:grpSpPr>
        <p:sp>
          <p:nvSpPr>
            <p:cNvPr id="53" name=""/>
            <p:cNvSpPr/>
            <p:nvPr/>
          </p:nvSpPr>
          <p:spPr>
            <a:xfrm flipH="1">
              <a:off x="2568600" y="3147840"/>
              <a:ext cx="255348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2568600" y="3147840"/>
              <a:ext cx="255348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cxnSp>
        <p:nvCxnSpPr>
          <p:cNvPr id="55" name=""/>
          <p:cNvCxnSpPr/>
          <p:nvPr/>
        </p:nvCxnSpPr>
        <p:spPr>
          <a:xfrm flipH="1" rot="16200000">
            <a:off x="7031520" y="2833560"/>
            <a:ext cx="90000" cy="77760"/>
          </a:xfrm>
          <a:prstGeom prst="bentConnector3">
            <a:avLst>
              <a:gd name="adj1" fmla="val 1204"/>
            </a:avLst>
          </a:prstGeom>
          <a:ln w="12600">
            <a:solidFill>
              <a:srgbClr val="ffff00"/>
            </a:solidFill>
            <a:round/>
          </a:ln>
        </p:spPr>
      </p:cxnSp>
      <p:cxnSp>
        <p:nvCxnSpPr>
          <p:cNvPr id="56" name=""/>
          <p:cNvCxnSpPr/>
          <p:nvPr/>
        </p:nvCxnSpPr>
        <p:spPr>
          <a:xfrm flipV="1">
            <a:off x="6484320" y="2829240"/>
            <a:ext cx="1108800" cy="176760"/>
          </a:xfrm>
          <a:prstGeom prst="bentConnector3">
            <a:avLst>
              <a:gd name="adj1" fmla="val 56901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57" name=""/>
          <p:cNvSpPr/>
          <p:nvPr/>
        </p:nvSpPr>
        <p:spPr>
          <a:xfrm>
            <a:off x="5204160" y="3191040"/>
            <a:ext cx="1576080" cy="432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46800" bIns="-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8" name="TextBox 12"/>
          <p:cNvSpPr/>
          <p:nvPr/>
        </p:nvSpPr>
        <p:spPr>
          <a:xfrm rot="2400">
            <a:off x="6647040" y="3085920"/>
            <a:ext cx="145368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Invalid (moved)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" name="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842400" y="1659240"/>
            <a:ext cx="1611360" cy="1611360"/>
          </a:xfrm>
          <a:prstGeom prst="rect">
            <a:avLst/>
          </a:prstGeom>
          <a:ln w="0">
            <a:noFill/>
          </a:ln>
        </p:spPr>
      </p:pic>
      <p:sp>
        <p:nvSpPr>
          <p:cNvPr id="60" name="Content Placeholder 3"/>
          <p:cNvSpPr/>
          <p:nvPr/>
        </p:nvSpPr>
        <p:spPr>
          <a:xfrm>
            <a:off x="307800" y="3507840"/>
            <a:ext cx="85618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Tuples can also be </a:t>
            </a:r>
            <a:r>
              <a:rPr b="1" lang="en-US" sz="2000" spc="-1" strike="noStrike">
                <a:solidFill>
                  <a:srgbClr val="00ff00"/>
                </a:solidFill>
                <a:latin typeface="Cambria"/>
                <a:ea typeface="MS PGothic"/>
              </a:rPr>
              <a:t>deconstructed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into their constituents: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13"/>
          <p:cNvSpPr/>
          <p:nvPr/>
        </p:nvSpPr>
        <p:spPr>
          <a:xfrm rot="2400">
            <a:off x="7218720" y="2746080"/>
            <a:ext cx="94680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OK/copied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5023440" y="4093920"/>
            <a:ext cx="1576080" cy="432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46800" bIns="-46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3" name="TextBox 15"/>
          <p:cNvSpPr/>
          <p:nvPr/>
        </p:nvSpPr>
        <p:spPr>
          <a:xfrm rot="2400">
            <a:off x="5456520" y="3940920"/>
            <a:ext cx="144792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Move operation!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64" name=""/>
          <p:cNvCxnSpPr/>
          <p:nvPr/>
        </p:nvCxnSpPr>
        <p:spPr>
          <a:xfrm flipV="1">
            <a:off x="5779440" y="2083320"/>
            <a:ext cx="1427040" cy="528120"/>
          </a:xfrm>
          <a:prstGeom prst="bentConnector3">
            <a:avLst>
              <a:gd name="adj1" fmla="val 99066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65" name=""/>
          <p:cNvSpPr/>
          <p:nvPr/>
        </p:nvSpPr>
        <p:spPr>
          <a:xfrm>
            <a:off x="5785560" y="2610720"/>
            <a:ext cx="360" cy="10980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6" name=""/>
          <p:cNvSpPr/>
          <p:nvPr/>
        </p:nvSpPr>
        <p:spPr>
          <a:xfrm>
            <a:off x="6788160" y="2610720"/>
            <a:ext cx="360" cy="10980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7" name="TextBox 16"/>
          <p:cNvSpPr/>
          <p:nvPr/>
        </p:nvSpPr>
        <p:spPr>
          <a:xfrm>
            <a:off x="1778040" y="3940560"/>
            <a:ext cx="3299400" cy="2725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(n1, n2, name, tau) = rolodex;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Content Placeholder 4"/>
          <p:cNvSpPr/>
          <p:nvPr/>
        </p:nvSpPr>
        <p:spPr>
          <a:xfrm>
            <a:off x="168120" y="4335480"/>
            <a:ext cx="885996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Other objects can be deconstructed, too. (Coming soon!)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Content Placeholder 2"/>
          <p:cNvSpPr/>
          <p:nvPr/>
        </p:nvSpPr>
        <p:spPr>
          <a:xfrm>
            <a:off x="6334200" y="1577880"/>
            <a:ext cx="1821240" cy="528840"/>
          </a:xfrm>
          <a:prstGeom prst="rect">
            <a:avLst/>
          </a:prstGeom>
          <a:solidFill>
            <a:srgbClr val="000036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Cambria"/>
                <a:ea typeface="MS PGothic"/>
              </a:rPr>
              <a:t>Elements access by</a:t>
            </a:r>
            <a:br>
              <a:rPr sz="1400"/>
            </a:br>
            <a:r>
              <a:rPr b="1" i="1" lang="en-US" sz="1400" spc="-1" strike="noStrike">
                <a:solidFill>
                  <a:srgbClr val="ffbf00"/>
                </a:solidFill>
                <a:latin typeface="Cambria"/>
                <a:ea typeface="MS PGothic"/>
              </a:rPr>
              <a:t>literal reference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5707080" y="1743840"/>
            <a:ext cx="360" cy="43488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1" name=""/>
          <p:cNvSpPr/>
          <p:nvPr/>
        </p:nvSpPr>
        <p:spPr>
          <a:xfrm flipH="1">
            <a:off x="6165360" y="1795680"/>
            <a:ext cx="5040" cy="56412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72" name="TextBox 11"/>
          <p:cNvSpPr/>
          <p:nvPr/>
        </p:nvSpPr>
        <p:spPr>
          <a:xfrm rot="2400">
            <a:off x="5583240" y="1612080"/>
            <a:ext cx="67212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tuple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: Rounded Corners 4"/>
          <p:cNvSpPr/>
          <p:nvPr/>
        </p:nvSpPr>
        <p:spPr>
          <a:xfrm>
            <a:off x="3714840" y="2177640"/>
            <a:ext cx="2198880" cy="19476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sp>
        <p:nvSpPr>
          <p:cNvPr id="74" name="Rectangle: Rounded Corners 1"/>
          <p:cNvSpPr/>
          <p:nvPr/>
        </p:nvSpPr>
        <p:spPr>
          <a:xfrm>
            <a:off x="3905280" y="2372760"/>
            <a:ext cx="3200040" cy="194760"/>
          </a:xfrm>
          <a:prstGeom prst="roundRect">
            <a:avLst>
              <a:gd name="adj" fmla="val 16667"/>
            </a:avLst>
          </a:prstGeom>
          <a:noFill/>
          <a:ln w="12600">
            <a:solidFill>
              <a:srgbClr val="ffff00"/>
            </a:solidFill>
            <a:round/>
            <a:tailEnd len="med" type="triangle" w="med"/>
          </a:ln>
          <a:effectLst>
            <a:outerShdw blurRad="63360" dir="5400000" dist="25560" rotWithShape="0">
              <a:srgbClr val="808080">
                <a:alpha val="7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Rockwell"/>
              <a:ea typeface="MS PGothi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C417BD4-46D8-4C55-8EBD-91F3A720EC6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0" dur="indefinite" restart="never" nodeType="tmRoot">
          <p:childTnLst>
            <p:seq>
              <p:cTn id="81" dur="indefinite" nodeType="mainSeq">
                <p:childTnLst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4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7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1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8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nodeType="clickEffect" fill="hold" presetClass="entr" presetID="19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63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width*sin(2.5*pi*$)" tm="0">
                                          <p:val>
                                            <p:strVal val="0"/>
                                          </p:val>
                                        </p:tav>
                                        <p:tav fmla="width*sin(2.5*pi*$)"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64" dur="2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/>
          </p:nvPr>
        </p:nvSpPr>
        <p:spPr>
          <a:xfrm>
            <a:off x="289800" y="1299240"/>
            <a:ext cx="8561880" cy="492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 </a:t>
            </a:r>
            <a:r>
              <a:rPr b="0" lang="en-US" sz="2000" spc="-1" strike="noStrike">
                <a:solidFill>
                  <a:srgbClr val="ffbf00"/>
                </a:solidFill>
                <a:latin typeface="Consolas"/>
                <a:ea typeface="MS PGothic"/>
              </a:rPr>
              <a:t>slice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in Rust is a memory-contiguous subset of a collection: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703440" y="563040"/>
            <a:ext cx="7729920" cy="5904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Slices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7" name=""/>
          <p:cNvGrpSpPr/>
          <p:nvPr/>
        </p:nvGrpSpPr>
        <p:grpSpPr>
          <a:xfrm>
            <a:off x="2581560" y="3246120"/>
            <a:ext cx="2553480" cy="121680"/>
            <a:chOff x="2581560" y="3246120"/>
            <a:chExt cx="2553480" cy="121680"/>
          </a:xfrm>
        </p:grpSpPr>
        <p:sp>
          <p:nvSpPr>
            <p:cNvPr id="78" name=""/>
            <p:cNvSpPr/>
            <p:nvPr/>
          </p:nvSpPr>
          <p:spPr>
            <a:xfrm flipH="1">
              <a:off x="2581560" y="3246120"/>
              <a:ext cx="255348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  <p:sp>
          <p:nvSpPr>
            <p:cNvPr id="79" name=""/>
            <p:cNvSpPr/>
            <p:nvPr/>
          </p:nvSpPr>
          <p:spPr>
            <a:xfrm>
              <a:off x="2581560" y="3246120"/>
              <a:ext cx="2553480" cy="121680"/>
            </a:xfrm>
            <a:prstGeom prst="line">
              <a:avLst/>
            </a:prstGeom>
            <a:ln w="29160">
              <a:solidFill>
                <a:srgbClr val="c5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104400" rIns="104400" tIns="59400" bIns="594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  <a:ea typeface="DejaVu Sans"/>
              </a:endParaRPr>
            </a:p>
          </p:txBody>
        </p:sp>
      </p:grpSp>
      <p:sp>
        <p:nvSpPr>
          <p:cNvPr id="80" name=""/>
          <p:cNvSpPr/>
          <p:nvPr/>
        </p:nvSpPr>
        <p:spPr>
          <a:xfrm>
            <a:off x="5204160" y="3299040"/>
            <a:ext cx="1576080" cy="432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46800" bIns="-468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1" name=""/>
          <p:cNvSpPr/>
          <p:nvPr/>
        </p:nvSpPr>
        <p:spPr>
          <a:xfrm>
            <a:off x="5783760" y="2718720"/>
            <a:ext cx="360" cy="10980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2" name=""/>
          <p:cNvSpPr/>
          <p:nvPr/>
        </p:nvSpPr>
        <p:spPr>
          <a:xfrm>
            <a:off x="6788160" y="2718720"/>
            <a:ext cx="360" cy="109800"/>
          </a:xfrm>
          <a:prstGeom prst="line">
            <a:avLst/>
          </a:prstGeom>
          <a:ln w="12600">
            <a:solidFill>
              <a:srgbClr val="fff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83" name="Content Placeholder 5"/>
          <p:cNvSpPr/>
          <p:nvPr/>
        </p:nvSpPr>
        <p:spPr>
          <a:xfrm>
            <a:off x="131400" y="4392720"/>
            <a:ext cx="893268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Slices behave like C/C++ arrays but are </a:t>
            </a:r>
            <a:r>
              <a:rPr b="1" i="1" lang="en-US" sz="1800" spc="-1" strike="noStrike">
                <a:solidFill>
                  <a:srgbClr val="ffbf00"/>
                </a:solidFill>
                <a:latin typeface="Cambria"/>
                <a:ea typeface="MS PGothic"/>
              </a:rPr>
              <a:t>always</a:t>
            </a:r>
            <a:r>
              <a:rPr b="0" lang="en-US" sz="1800" spc="-1" strike="noStrike">
                <a:solidFill>
                  <a:schemeClr val="lt1"/>
                </a:solidFill>
                <a:latin typeface="Cambria"/>
                <a:ea typeface="MS PGothic"/>
              </a:rPr>
              <a:t> borrowed – never owned.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1710720" y="1785600"/>
            <a:ext cx="5506920" cy="246708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 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name: [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u8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 10] = </a:t>
            </a:r>
            <a:r>
              <a:rPr b="1" lang="en-US" sz="1200" spc="-1" strike="noStrike">
                <a:solidFill>
                  <a:srgbClr val="ff0000"/>
                </a:solidFill>
                <a:latin typeface="Consolas"/>
                <a:ea typeface="MS PGothic"/>
              </a:rPr>
              <a:t>*</a:t>
            </a:r>
            <a:r>
              <a:rPr b="0" lang="en-US" sz="1200" spc="-1" strike="noStrike">
                <a:solidFill>
                  <a:srgbClr val="ff972f"/>
                </a:solidFill>
                <a:latin typeface="Consolas"/>
                <a:ea typeface="MS PGothic"/>
              </a:rPr>
              <a:t>b"Jimmy Dean"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; </a:t>
            </a:r>
            <a:r>
              <a:rPr b="0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// ASCII bytes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if name.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len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 &gt;= 5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first = &amp;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name[1..5];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first.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copy_from_slice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b"ames"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 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first =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from_utf8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(&amp;name[..5]).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unwrap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let last = 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String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from_utf8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(&amp;name[6..]).</a:t>
            </a:r>
            <a:r>
              <a:rPr b="1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unwrap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"Hello, Dr. {}."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last);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00ff00"/>
                </a:solidFill>
                <a:latin typeface="Consolas"/>
                <a:ea typeface="MS PGothic"/>
              </a:rPr>
              <a:t>"Please, call me {}."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first);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5" name=""/>
          <p:cNvCxnSpPr/>
          <p:nvPr/>
        </p:nvCxnSpPr>
        <p:spPr>
          <a:xfrm rot="10800000">
            <a:off x="4116240" y="1976400"/>
            <a:ext cx="1166040" cy="181800"/>
          </a:xfrm>
          <a:prstGeom prst="bentConnector3">
            <a:avLst>
              <a:gd name="adj1" fmla="val 100000"/>
            </a:avLst>
          </a:prstGeom>
          <a:ln w="12600">
            <a:solidFill>
              <a:srgbClr val="ffff00"/>
            </a:solidFill>
            <a:round/>
          </a:ln>
        </p:spPr>
      </p:cxnSp>
      <p:sp>
        <p:nvSpPr>
          <p:cNvPr id="86" name="TextBox 18"/>
          <p:cNvSpPr/>
          <p:nvPr/>
        </p:nvSpPr>
        <p:spPr>
          <a:xfrm rot="2400">
            <a:off x="4496400" y="2096280"/>
            <a:ext cx="2644200" cy="257400"/>
          </a:xfrm>
          <a:prstGeom prst="rect">
            <a:avLst/>
          </a:prstGeom>
          <a:solidFill>
            <a:srgbClr val="1a3552"/>
          </a:solidFill>
          <a:ln w="0">
            <a:solidFill>
              <a:srgbClr val="ffffff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ffff"/>
                </a:solidFill>
                <a:latin typeface="Consolas"/>
                <a:ea typeface="MS PGothic"/>
              </a:rPr>
              <a:t>copy - not literal reference!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E6E9CE6-ED26-467A-842C-B1DB14258486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9" dur="indefinite" restart="never" nodeType="tmRoot">
          <p:childTnLst>
            <p:seq>
              <p:cTn id="200" dur="indefinite" nodeType="mainSeq">
                <p:childTnLst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0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3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6" dur="500"/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1" dur="500"/>
                                        <p:tgtEl>
                                          <p:spTgt spid="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6" dur="500"/>
                                        <p:tgtEl>
                                          <p:spTgt spid="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692280" y="1183320"/>
            <a:ext cx="7732080" cy="4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Compound types in Rust are typically of type </a:t>
            </a:r>
            <a:r>
              <a:rPr b="1" lang="en-US" sz="2000" spc="-1" strike="noStrike">
                <a:solidFill>
                  <a:srgbClr val="ffbf00"/>
                </a:solidFill>
                <a:latin typeface="Consolas"/>
                <a:ea typeface="MS PGothic"/>
              </a:rPr>
              <a:t>struct</a:t>
            </a:r>
            <a:r>
              <a:rPr b="1" lang="en-US" sz="2000" spc="-1" strike="noStrike">
                <a:solidFill>
                  <a:schemeClr val="lt1"/>
                </a:solidFill>
                <a:latin typeface="Consolas"/>
                <a:ea typeface="MS PGothic"/>
              </a:rPr>
              <a:t>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289800" y="532440"/>
            <a:ext cx="8561880" cy="83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Structures - Declaration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9"/>
          <p:cNvSpPr/>
          <p:nvPr/>
        </p:nvSpPr>
        <p:spPr>
          <a:xfrm>
            <a:off x="1199880" y="1654560"/>
            <a:ext cx="6680520" cy="266832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struct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Pakuri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name: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level: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u64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main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the_name =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::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from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"PsyGoose"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let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creature =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Pakuri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{ name: the_name, level: 10 };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println!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</a:t>
            </a:r>
            <a:r>
              <a:rPr b="0" lang="en-US" sz="1300" spc="-1" strike="noStrike">
                <a:solidFill>
                  <a:srgbClr val="00ff00"/>
                </a:solidFill>
                <a:latin typeface="Consolas"/>
                <a:ea typeface="MS PGothic"/>
              </a:rPr>
              <a:t>"Name: {}; Level: {}"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creature.name, creature.level);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1201320" y="4380120"/>
            <a:ext cx="6680880" cy="28800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Name: PsyGoose; Level: 10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Content Placeholder 6"/>
          <p:cNvSpPr/>
          <p:nvPr/>
        </p:nvSpPr>
        <p:spPr>
          <a:xfrm>
            <a:off x="3073680" y="1929600"/>
            <a:ext cx="4684680" cy="1018440"/>
          </a:xfrm>
          <a:prstGeom prst="rect">
            <a:avLst/>
          </a:prstGeom>
          <a:solidFill>
            <a:srgbClr val="000036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Rust </a:t>
            </a:r>
            <a:r>
              <a:rPr b="0" lang="en-US" sz="2000" spc="-1" strike="noStrike" u="sng">
                <a:solidFill>
                  <a:srgbClr val="ffff00"/>
                </a:solidFill>
                <a:uFillTx/>
                <a:latin typeface="Cambria"/>
                <a:ea typeface="MS PGothic"/>
              </a:rPr>
              <a:t>doesn’t</a:t>
            </a:r>
            <a:r>
              <a:rPr b="0" lang="en-US" sz="2000" spc="-1" strike="noStrike">
                <a:solidFill>
                  <a:srgbClr val="ffffff"/>
                </a:solidFill>
                <a:latin typeface="Cambria"/>
                <a:ea typeface="MS PGothic"/>
              </a:rPr>
              <a:t> have </a:t>
            </a:r>
            <a:r>
              <a:rPr b="0" lang="en-US" sz="2000" spc="-1" strike="noStrike" u="sng">
                <a:solidFill>
                  <a:srgbClr val="ffff00"/>
                </a:solidFill>
                <a:uFillTx/>
                <a:latin typeface="Cambria"/>
                <a:ea typeface="MS PGothic"/>
              </a:rPr>
              <a:t>traditional classes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; However, structs do have methods, and </a:t>
            </a:r>
            <a:r>
              <a:rPr b="1" i="1" lang="en-US" sz="2000" spc="-1" strike="noStrike">
                <a:solidFill>
                  <a:srgbClr val="ffbf00"/>
                </a:solidFill>
                <a:latin typeface="Cambria"/>
                <a:ea typeface="MS PGothic"/>
              </a:rPr>
              <a:t>traits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define behavior.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065BDD0-83A6-427A-919C-7676300354B2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2" dur="indefinite" restart="never" nodeType="tmRoot">
          <p:childTnLst>
            <p:seq>
              <p:cTn id="243" dur="indefinite" nodeType="mainSeq">
                <p:childTnLst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3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6" dur="500"/>
                                        <p:tgtEl>
                                          <p:spTgt spid="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9" dur="500"/>
                                        <p:tgtEl>
                                          <p:spTgt spid="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4" dur="500"/>
                                        <p:tgtEl>
                                          <p:spTgt spid="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7" dur="500"/>
                                        <p:tgtEl>
                                          <p:spTgt spid="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2" dur="500"/>
                                        <p:tgtEl>
                                          <p:spTgt spid="8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5" dur="500"/>
                                        <p:tgtEl>
                                          <p:spTgt spid="8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6" fill="hold">
                      <p:stCondLst>
                        <p:cond delay="indefinite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0" dur="500"/>
                                        <p:tgtEl>
                                          <p:spTgt spid="8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>
                      <p:stCondLst>
                        <p:cond delay="indefinite"/>
                      </p:stCondLst>
                      <p:childTnLst>
                        <p:par>
                          <p:cTn id="282" fill="hold">
                            <p:stCondLst>
                              <p:cond delay="0"/>
                            </p:stCondLst>
                            <p:childTnLst>
                              <p:par>
                                <p:cTn id="28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5" dur="500"/>
                                        <p:tgtEl>
                                          <p:spTgt spid="8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>
                      <p:stCondLst>
                        <p:cond delay="indefinite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3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4" fill="hold">
                      <p:stCondLst>
                        <p:cond delay="indefinite"/>
                      </p:stCondLst>
                      <p:childTnLst>
                        <p:par>
                          <p:cTn id="295" fill="hold">
                            <p:stCondLst>
                              <p:cond delay="0"/>
                            </p:stCondLst>
                            <p:childTnLst>
                              <p:par>
                                <p:cTn id="2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692280" y="1327320"/>
            <a:ext cx="7732080" cy="4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chemeClr val="lt1"/>
                </a:solidFill>
                <a:latin typeface="Cambria"/>
                <a:ea typeface="MS PGothic"/>
              </a:rPr>
              <a:t>We can implement  methods for structures as well: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title"/>
          </p:nvPr>
        </p:nvSpPr>
        <p:spPr>
          <a:xfrm>
            <a:off x="289800" y="604440"/>
            <a:ext cx="8561880" cy="83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Structures – Implementation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28"/>
          <p:cNvSpPr/>
          <p:nvPr/>
        </p:nvSpPr>
        <p:spPr>
          <a:xfrm>
            <a:off x="711000" y="1798560"/>
            <a:ext cx="7711560" cy="26690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impl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Pakuri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new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(_name: </a:t>
            </a:r>
            <a:r>
              <a:rPr b="0" lang="en-US" sz="130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_level: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u64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-&gt; </a:t>
            </a:r>
            <a:r>
              <a:rPr b="0" i="1" lang="en-US" sz="1300" spc="-1" strike="noStrike">
                <a:solidFill>
                  <a:srgbClr val="e0c2cd"/>
                </a:solidFill>
                <a:latin typeface="Consolas"/>
                <a:ea typeface="MS PGothic"/>
              </a:rPr>
              <a:t>Self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  </a:t>
            </a:r>
            <a:r>
              <a:rPr b="0" i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{ name: _name, level: _level 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level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1" lang="en-US" sz="130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-&gt; </a:t>
            </a:r>
            <a:r>
              <a:rPr b="1" lang="en-US" sz="1300" spc="-1" strike="noStrike">
                <a:solidFill>
                  <a:srgbClr val="60e0e0"/>
                </a:solidFill>
                <a:latin typeface="Consolas"/>
                <a:ea typeface="MS PGothic"/>
              </a:rPr>
              <a:t>u64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.level 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onsolas"/>
                <a:ea typeface="Noto Sans CJK SC"/>
              </a:rPr>
              <a:t>  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set_level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_level: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u64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{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.level = _level; 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name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-&gt; 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 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 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.name 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ffffff"/>
                </a:solidFill>
                <a:latin typeface="Consolas"/>
                <a:ea typeface="Noto Sans CJK SC"/>
              </a:rPr>
              <a:t>  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pub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3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set_name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(&amp;</a:t>
            </a:r>
            <a:r>
              <a:rPr b="0" lang="en-US" sz="1300" spc="-1" strike="noStrike">
                <a:solidFill>
                  <a:srgbClr val="ffbf00"/>
                </a:solidFill>
                <a:latin typeface="Consolas"/>
                <a:ea typeface="MS PGothic"/>
              </a:rPr>
              <a:t>mut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, _name: &amp;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str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) { </a:t>
            </a:r>
            <a:r>
              <a:rPr b="1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.name = _name.</a:t>
            </a:r>
            <a:r>
              <a:rPr b="1" lang="en-US" sz="1300" spc="-1" strike="noStrike">
                <a:solidFill>
                  <a:srgbClr val="729fcf"/>
                </a:solidFill>
                <a:latin typeface="Consolas"/>
                <a:ea typeface="MS PGothic"/>
              </a:rPr>
              <a:t>to_string</a:t>
            </a:r>
            <a:r>
              <a:rPr b="0" lang="en-US" sz="13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(); 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E15354-A6BC-4873-B14B-BDCE844790A1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9" dur="indefinite" restart="never" nodeType="tmRoot">
          <p:childTnLst>
            <p:seq>
              <p:cTn id="300" dur="indefinite" nodeType="mainSeq">
                <p:childTnLst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5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6" fill="hold">
                      <p:stCondLst>
                        <p:cond delay="indefinite"/>
                      </p:stCondLst>
                      <p:childTnLst>
                        <p:par>
                          <p:cTn id="307" fill="hold">
                            <p:stCondLst>
                              <p:cond delay="0"/>
                            </p:stCondLst>
                            <p:childTnLst>
                              <p:par>
                                <p:cTn id="3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0" dur="500"/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500"/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1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6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692280" y="1039320"/>
            <a:ext cx="7732080" cy="4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Compound types in Rust are typically of type </a:t>
            </a:r>
            <a:r>
              <a:rPr b="1" lang="en-US" sz="2000" spc="-1" strike="noStrike">
                <a:solidFill>
                  <a:srgbClr val="ffbf00"/>
                </a:solidFill>
                <a:latin typeface="Consolas"/>
                <a:ea typeface="MS PGothic"/>
              </a:rPr>
              <a:t>struct</a:t>
            </a:r>
            <a:r>
              <a:rPr b="1" lang="en-US" sz="2000" spc="-1" strike="noStrike">
                <a:solidFill>
                  <a:schemeClr val="lt1"/>
                </a:solidFill>
                <a:latin typeface="Consolas"/>
                <a:ea typeface="MS PGothic"/>
              </a:rPr>
              <a:t>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title"/>
          </p:nvPr>
        </p:nvSpPr>
        <p:spPr>
          <a:xfrm>
            <a:off x="289800" y="460440"/>
            <a:ext cx="8561880" cy="83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Traits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1055880" y="1474560"/>
            <a:ext cx="7050960" cy="29462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trait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ff00ff"/>
                </a:solidFill>
                <a:latin typeface="Consolas"/>
                <a:ea typeface="MS PGothic"/>
              </a:rPr>
              <a:t>Creature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{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name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(&amp;</a:t>
            </a:r>
            <a:r>
              <a:rPr b="1" lang="en-US" sz="125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) -&gt; &amp;</a:t>
            </a:r>
            <a:r>
              <a:rPr b="1" lang="en-US" sz="1250" spc="-1" strike="noStrike">
                <a:solidFill>
                  <a:srgbClr val="60e0e0"/>
                </a:solidFill>
                <a:latin typeface="Consolas"/>
                <a:ea typeface="MS PGothic"/>
              </a:rPr>
              <a:t>str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;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attack_power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(&amp;</a:t>
            </a:r>
            <a:r>
              <a:rPr b="1" lang="en-US" sz="125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) -&gt; </a:t>
            </a:r>
            <a:r>
              <a:rPr b="1" lang="en-US" sz="1250" spc="-1" strike="noStrike">
                <a:solidFill>
                  <a:srgbClr val="60e0e0"/>
                </a:solidFill>
                <a:latin typeface="Consolas"/>
                <a:ea typeface="MS PGothic"/>
              </a:rPr>
              <a:t>u32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;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desc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(&amp;</a:t>
            </a:r>
            <a:r>
              <a:rPr b="1" lang="en-US" sz="125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) -&gt; </a:t>
            </a:r>
            <a:r>
              <a:rPr b="0" lang="en-US" sz="1250" spc="-1" strike="noStrike">
                <a:solidFill>
                  <a:srgbClr val="ff00ff"/>
                </a:solidFill>
                <a:latin typeface="Consolas"/>
                <a:ea typeface="MS PGothic"/>
              </a:rPr>
              <a:t>String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   </a:t>
            </a:r>
            <a:r>
              <a:rPr b="0" lang="en-US" sz="1250" spc="-1" strike="noStrike">
                <a:solidFill>
                  <a:schemeClr val="accent5">
                    <a:lumMod val="60000"/>
                    <a:lumOff val="40000"/>
                  </a:schemeClr>
                </a:solidFill>
                <a:latin typeface="Consolas"/>
                <a:ea typeface="MS PGothic"/>
              </a:rPr>
              <a:t>format!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</a:t>
            </a:r>
            <a:r>
              <a:rPr b="0" lang="en-US" sz="1250" spc="-1" strike="noStrike">
                <a:solidFill>
                  <a:srgbClr val="00ff00"/>
                </a:solidFill>
                <a:latin typeface="Consolas"/>
                <a:ea typeface="MS PGothic"/>
              </a:rPr>
              <a:t>"{} has attack power {}."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, </a:t>
            </a:r>
            <a:r>
              <a:rPr b="1" lang="en-US" sz="125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.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name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(), </a:t>
            </a:r>
            <a:r>
              <a:rPr b="1" lang="en-US" sz="125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.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attack_power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())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impl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ff00ff"/>
                </a:solidFill>
                <a:latin typeface="Consolas"/>
                <a:ea typeface="MS PGothic"/>
              </a:rPr>
              <a:t>Creature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ff972f"/>
                </a:solidFill>
                <a:latin typeface="Consolas"/>
                <a:ea typeface="MS PGothic"/>
              </a:rPr>
              <a:t>for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ff00ff"/>
                </a:solidFill>
                <a:latin typeface="Consolas"/>
                <a:ea typeface="MS PGothic"/>
              </a:rPr>
              <a:t>Pakuri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name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(&amp;</a:t>
            </a:r>
            <a:r>
              <a:rPr b="1" lang="en-US" sz="125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) -&gt; &amp;</a:t>
            </a:r>
            <a:r>
              <a:rPr b="1" lang="en-US" sz="1250" spc="-1" strike="noStrike">
                <a:solidFill>
                  <a:srgbClr val="60e0e0"/>
                </a:solidFill>
                <a:latin typeface="Consolas"/>
                <a:ea typeface="MS PGothic"/>
              </a:rPr>
              <a:t>str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.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name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() }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 </a:t>
            </a:r>
            <a:r>
              <a:rPr b="0" lang="en-US" sz="125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rgbClr val="729fcf"/>
                </a:solidFill>
                <a:latin typeface="Consolas"/>
                <a:ea typeface="MS PGothic"/>
              </a:rPr>
              <a:t>attack_power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(&amp;</a:t>
            </a:r>
            <a:r>
              <a:rPr b="1" lang="en-US" sz="125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) -&gt; </a:t>
            </a:r>
            <a:r>
              <a:rPr b="1" lang="en-US" sz="1250" spc="-1" strike="noStrike">
                <a:solidFill>
                  <a:srgbClr val="60e0e0"/>
                </a:solidFill>
                <a:latin typeface="Consolas"/>
                <a:ea typeface="MS PGothic"/>
              </a:rPr>
              <a:t>u32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r>
              <a:rPr b="0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1" lang="en-US" sz="125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self</a:t>
            </a: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.level * 2 }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811FE6-7528-48D3-B186-3F6DF157EB5B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7" dur="indefinite" restart="never" nodeType="tmRoot">
          <p:childTnLst>
            <p:seq>
              <p:cTn id="328" dur="indefinite" nodeType="mainSeq">
                <p:childTnLst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3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4" fill="hold">
                      <p:stCondLst>
                        <p:cond delay="indefinite"/>
                      </p:stCondLst>
                      <p:childTnLst>
                        <p:par>
                          <p:cTn id="335" fill="hold">
                            <p:stCondLst>
                              <p:cond delay="0"/>
                            </p:stCondLst>
                            <p:childTnLst>
                              <p:par>
                                <p:cTn id="3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8" dur="500"/>
                                        <p:tgtEl>
                                          <p:spTgt spid="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1" dur="500"/>
                                        <p:tgtEl>
                                          <p:spTgt spid="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4" dur="500"/>
                                        <p:tgtEl>
                                          <p:spTgt spid="9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9" dur="500"/>
                                        <p:tgtEl>
                                          <p:spTgt spid="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0" fill="hold">
                      <p:stCondLst>
                        <p:cond delay="indefinite"/>
                      </p:stCondLst>
                      <p:childTnLst>
                        <p:par>
                          <p:cTn id="351" fill="hold">
                            <p:stCondLst>
                              <p:cond delay="0"/>
                            </p:stCondLst>
                            <p:childTnLst>
                              <p:par>
                                <p:cTn id="3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4" dur="500"/>
                                        <p:tgtEl>
                                          <p:spTgt spid="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9" dur="500"/>
                                        <p:tgtEl>
                                          <p:spTgt spid="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2" dur="500"/>
                                        <p:tgtEl>
                                          <p:spTgt spid="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5" dur="500"/>
                                        <p:tgtEl>
                                          <p:spTgt spid="9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6" fill="hold">
                      <p:stCondLst>
                        <p:cond delay="indefinite"/>
                      </p:stCondLst>
                      <p:childTnLst>
                        <p:par>
                          <p:cTn id="367" fill="hold">
                            <p:stCondLst>
                              <p:cond delay="0"/>
                            </p:stCondLst>
                            <p:childTnLst>
                              <p:par>
                                <p:cTn id="36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0" dur="500"/>
                                        <p:tgtEl>
                                          <p:spTgt spid="9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1" fill="hold">
                      <p:stCondLst>
                        <p:cond delay="indefinite"/>
                      </p:stCondLst>
                      <p:childTnLst>
                        <p:par>
                          <p:cTn id="372" fill="hold">
                            <p:stCondLst>
                              <p:cond delay="0"/>
                            </p:stCondLst>
                            <p:childTnLst>
                              <p:par>
                                <p:cTn id="37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5" dur="500"/>
                                        <p:tgtEl>
                                          <p:spTgt spid="9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8" dur="500"/>
                                        <p:tgtEl>
                                          <p:spTgt spid="9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9" fill="hold">
                      <p:stCondLst>
                        <p:cond delay="indefinite"/>
                      </p:stCondLst>
                      <p:childTnLst>
                        <p:par>
                          <p:cTn id="380" fill="hold">
                            <p:stCondLst>
                              <p:cond delay="0"/>
                            </p:stCondLst>
                            <p:childTnLst>
                              <p:par>
                                <p:cTn id="38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3" dur="500"/>
                                        <p:tgtEl>
                                          <p:spTgt spid="9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692280" y="3523320"/>
            <a:ext cx="7732080" cy="425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2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And a </a:t>
            </a:r>
            <a:r>
              <a:rPr b="1" i="1" lang="en-US" sz="2000" spc="-1" strike="noStrike">
                <a:solidFill>
                  <a:srgbClr val="ffbf00"/>
                </a:solidFill>
                <a:latin typeface="Cambria"/>
                <a:ea typeface="MS PGothic"/>
              </a:rPr>
              <a:t>supertrait</a:t>
            </a: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 is defined as a superset of another: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title"/>
          </p:nvPr>
        </p:nvSpPr>
        <p:spPr>
          <a:xfrm>
            <a:off x="289800" y="460440"/>
            <a:ext cx="8561880" cy="834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chemeClr val="lt1"/>
                </a:solidFill>
                <a:latin typeface="Arial"/>
                <a:ea typeface="MS PGothic"/>
              </a:rPr>
              <a:t>Standard Traits &amp; SuperTraits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4"/>
          <p:cNvSpPr/>
          <p:nvPr/>
        </p:nvSpPr>
        <p:spPr>
          <a:xfrm>
            <a:off x="1559880" y="3922560"/>
            <a:ext cx="5951520" cy="82116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trait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Human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: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 Creature </a:t>
            </a:r>
            <a:r>
              <a:rPr b="0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// Human is a *superset* of Creature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language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(&amp;</a:t>
            </a:r>
            <a:r>
              <a:rPr b="1" lang="en-US" sz="120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) -&gt; &amp;</a:t>
            </a:r>
            <a:r>
              <a:rPr b="1" lang="en-US" sz="1200" spc="-1" strike="noStrike">
                <a:solidFill>
                  <a:srgbClr val="60e0e0"/>
                </a:solidFill>
                <a:latin typeface="Consolas"/>
                <a:ea typeface="MS PGothic"/>
              </a:rPr>
              <a:t>str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r>
              <a:rPr b="0" lang="en-US" sz="1200" spc="-1" strike="noStrike">
                <a:solidFill>
                  <a:schemeClr val="lt1">
                    <a:lumMod val="85000"/>
                  </a:schemeClr>
                </a:solidFill>
                <a:latin typeface="Consolas"/>
                <a:ea typeface="MS PGothic"/>
              </a:rPr>
              <a:t> // Instances fulfill Creature *and* Human contract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Content Placeholder 7"/>
          <p:cNvSpPr/>
          <p:nvPr/>
        </p:nvSpPr>
        <p:spPr>
          <a:xfrm>
            <a:off x="168120" y="1131480"/>
            <a:ext cx="8859960" cy="49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spcBef>
                <a:spcPts val="2001"/>
              </a:spcBef>
              <a:tabLst>
                <a:tab algn="l" pos="0"/>
              </a:tabLst>
            </a:pPr>
            <a:r>
              <a:rPr b="0" lang="en-US" sz="2000" spc="-1" strike="noStrike">
                <a:solidFill>
                  <a:schemeClr val="lt1"/>
                </a:solidFill>
                <a:latin typeface="Cambria"/>
                <a:ea typeface="MS PGothic"/>
              </a:rPr>
              <a:t>Standard traits can be implements to enable language features: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6"/>
          <p:cNvSpPr/>
          <p:nvPr/>
        </p:nvSpPr>
        <p:spPr>
          <a:xfrm>
            <a:off x="1548000" y="1553040"/>
            <a:ext cx="5963400" cy="1918440"/>
          </a:xfrm>
          <a:prstGeom prst="rect">
            <a:avLst/>
          </a:prstGeom>
          <a:solidFill>
            <a:srgbClr val="000000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use 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std::cmp::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Ordering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d1ff"/>
                </a:solidFill>
                <a:latin typeface="Consolas"/>
                <a:ea typeface="MS PGothic"/>
              </a:rPr>
              <a:t>#[derive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(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PartialEq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)</a:t>
            </a:r>
            <a:r>
              <a:rPr b="0" lang="en-US" sz="1200" spc="-1" strike="noStrike">
                <a:solidFill>
                  <a:srgbClr val="ffd1ff"/>
                </a:solidFill>
                <a:latin typeface="Consolas"/>
                <a:ea typeface="MS PGothic"/>
              </a:rPr>
              <a:t>]</a:t>
            </a:r>
            <a:r>
              <a:rPr b="0" lang="en-US" sz="1200" spc="-1" strike="noStrike">
                <a:solidFill>
                  <a:srgbClr val="ff4000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// Automatically determine equal instances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struct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Pakuri 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{ ... }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// Definition goes here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impl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PartialOrd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ffbf00"/>
                </a:solidFill>
                <a:latin typeface="Consolas"/>
                <a:ea typeface="MS PGothic"/>
              </a:rPr>
              <a:t>for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Pakuri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{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ffff00"/>
                </a:solidFill>
                <a:latin typeface="Consolas"/>
                <a:ea typeface="MS PGothic"/>
              </a:rPr>
              <a:t>fn</a:t>
            </a:r>
            <a:r>
              <a:rPr b="0" lang="en-US" sz="1200" spc="-1" strike="noStrike">
                <a:solidFill>
                  <a:srgbClr val="ffffff"/>
                </a:solidFill>
                <a:latin typeface="Consolas"/>
                <a:ea typeface="MS PGothic"/>
              </a:rPr>
              <a:t> 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partial_cmp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(&amp;</a:t>
            </a:r>
            <a:r>
              <a:rPr b="1" lang="en-US" sz="120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, other: &amp;</a:t>
            </a:r>
            <a:r>
              <a:rPr b="0" i="1" lang="en-US" sz="1200" spc="-1" strike="noStrike">
                <a:solidFill>
                  <a:srgbClr val="e0c2cd"/>
                </a:solidFill>
                <a:latin typeface="Consolas"/>
                <a:ea typeface="MS PGothic"/>
              </a:rPr>
              <a:t>Self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) -&gt; 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Option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&lt;</a:t>
            </a:r>
            <a:r>
              <a:rPr b="0" lang="en-US" sz="1200" spc="-1" strike="noStrike">
                <a:solidFill>
                  <a:srgbClr val="ff00ff"/>
                </a:solidFill>
                <a:latin typeface="Consolas"/>
                <a:ea typeface="MS PGothic"/>
              </a:rPr>
              <a:t>Ordering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&gt;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  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{ </a:t>
            </a:r>
            <a:r>
              <a:rPr b="1" lang="en-US" sz="1200" spc="-1" strike="noStrike">
                <a:solidFill>
                  <a:srgbClr val="ffd1ff"/>
                </a:solidFill>
                <a:latin typeface="Consolas"/>
                <a:ea typeface="MS PGothic"/>
              </a:rPr>
              <a:t>self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.level.</a:t>
            </a:r>
            <a:r>
              <a:rPr b="1" lang="en-US" sz="1200" spc="-1" strike="noStrike">
                <a:solidFill>
                  <a:srgbClr val="729fcf"/>
                </a:solidFill>
                <a:latin typeface="Consolas"/>
                <a:ea typeface="MS PGothic"/>
              </a:rPr>
              <a:t>partial_cmp</a:t>
            </a: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(other.level) 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d9d9d9"/>
                </a:solidFill>
                <a:latin typeface="Consolas"/>
                <a:ea typeface="MS PGothic"/>
              </a:rPr>
              <a:t>}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A29E5E-9C1C-4256-8854-EF876DA6DAD9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84" dur="indefinite" restart="never" nodeType="tmRoot">
          <p:childTnLst>
            <p:seq>
              <p:cTn id="385" dur="indefinite" nodeType="mainSeq">
                <p:childTnLst>
                  <p:par>
                    <p:cTn id="386" fill="hold">
                      <p:stCondLst>
                        <p:cond delay="indefinite"/>
                      </p:stCondLst>
                      <p:childTnLst>
                        <p:par>
                          <p:cTn id="387" fill="hold">
                            <p:stCondLst>
                              <p:cond delay="0"/>
                            </p:stCondLst>
                            <p:childTnLst>
                              <p:par>
                                <p:cTn id="38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0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1" fill="hold">
                      <p:stCondLst>
                        <p:cond delay="indefinite"/>
                      </p:stCondLst>
                      <p:childTnLst>
                        <p:par>
                          <p:cTn id="392" fill="hold">
                            <p:stCondLst>
                              <p:cond delay="0"/>
                            </p:stCondLst>
                            <p:childTnLst>
                              <p:par>
                                <p:cTn id="39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6" fill="hold">
                      <p:stCondLst>
                        <p:cond delay="indefinite"/>
                      </p:stCondLst>
                      <p:childTnLst>
                        <p:par>
                          <p:cTn id="397" fill="hold">
                            <p:stCondLst>
                              <p:cond delay="0"/>
                            </p:stCondLst>
                            <p:childTnLst>
                              <p:par>
                                <p:cTn id="39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0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3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4" fill="hold">
                      <p:stCondLst>
                        <p:cond delay="indefinite"/>
                      </p:stCondLst>
                      <p:childTnLst>
                        <p:par>
                          <p:cTn id="405" fill="hold">
                            <p:stCondLst>
                              <p:cond delay="0"/>
                            </p:stCondLst>
                            <p:childTnLst>
                              <p:par>
                                <p:cTn id="4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8" dur="500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1" dur="500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4" dur="500"/>
                                        <p:tgtEl>
                                          <p:spTgt spid="10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9" dur="500"/>
                                        <p:tgtEl>
                                          <p:spTgt spid="1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4" dur="500"/>
                                        <p:tgtEl>
                                          <p:spTgt spid="1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9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9" dur="500"/>
                                        <p:tgtEl>
                                          <p:spTgt spid="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2" dur="500"/>
                                        <p:tgtEl>
                                          <p:spTgt spid="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5" dur="500"/>
                                        <p:tgtEl>
                                          <p:spTgt spid="10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6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8" dur="500"/>
                                        <p:tgtEl>
                                          <p:spTgt spid="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PNE Theme Slide Deck">
  <a:themeElements>
    <a:clrScheme name="Custom 7">
      <a:dk1>
        <a:srgbClr val="000000"/>
      </a:dk1>
      <a:lt1>
        <a:srgbClr val="ffffff"/>
      </a:lt1>
      <a:dk2>
        <a:srgbClr val="000c3e"/>
      </a:dk2>
      <a:lt2>
        <a:srgbClr val="6c9ac3"/>
      </a:lt2>
      <a:accent1>
        <a:srgbClr val="00529b"/>
      </a:accent1>
      <a:accent2>
        <a:srgbClr val="00529b"/>
      </a:accent2>
      <a:accent3>
        <a:srgbClr val="e17f35"/>
      </a:accent3>
      <a:accent4>
        <a:srgbClr val="ff462c"/>
      </a:accent4>
      <a:accent5>
        <a:srgbClr val="ff462c"/>
      </a:accent5>
      <a:accent6>
        <a:srgbClr val="6c9ac3"/>
      </a:accent6>
      <a:hlink>
        <a:srgbClr val="ff462c"/>
      </a:hlink>
      <a:folHlink>
        <a:srgbClr val="ff7f35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28339</TotalTime>
  <Application>LibreOffice/24.2.7.2$Linux_X86_64 LibreOffice_project/420$Build-2</Application>
  <AppVersion>15.0000</AppVersion>
  <Company>UF College of Engineering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2013-09-18T13:46:37Z</dcterms:created>
  <dc:creator>Cocherell,Teresa D</dc:creator>
  <dc:description/>
  <dc:language>en-US</dc:language>
  <cp:lastModifiedBy/>
  <cp:lastPrinted>2014-01-31T19:29:42Z</cp:lastPrinted>
  <dcterms:modified xsi:type="dcterms:W3CDTF">2026-05-31T20:21:02Z</dcterms:modified>
  <cp:revision>756</cp:revision>
  <dc:subject/>
  <dc:title>College Performance Data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
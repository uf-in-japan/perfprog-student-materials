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6E64642-7491-48C6-9365-B960659CB3A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A7CE52-6B5F-4D90-A043-EB48BF1C61EA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D3A71B-2E3F-4D14-A1E4-10611982291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3BF1A-2542-4BA0-9AD4-26DBF0B72E4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B5DBA3-F4D1-4FF4-B195-F276D40B2A8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13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DEC3B3-F7BB-48F9-A635-38523EE3972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815B79-7DD2-4AF6-9E24-5B71E17EF26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A9CFF4-494A-4DEF-9501-227AF25C217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2730DB-210C-4A44-B7ED-8933F55EFDC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040" cy="5140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3"/>
          <a:stretch/>
        </p:blipFill>
        <p:spPr>
          <a:xfrm>
            <a:off x="0" y="720"/>
            <a:ext cx="9140040" cy="5140800"/>
          </a:xfrm>
          <a:prstGeom prst="rect">
            <a:avLst/>
          </a:prstGeom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786600" y="1042560"/>
            <a:ext cx="2169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mbria"/>
                <a:ea typeface="MS PGothic"/>
              </a:rPr>
              <a:t>DEPARTMENT OR UNIT NAME. DELETE FROM MASTER SLIDE IF N/A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63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BE6E4E-EDAC-4D79-84E5-7C58D996445F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63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EDC27A-BB7F-4D96-9BA3-F2D9CC023904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63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51CD97-80F9-4ED7-AF4F-7CC87C686EB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920" cy="5137920"/>
          </a:xfrm>
          <a:prstGeom prst="rect">
            <a:avLst/>
          </a:prstGeom>
          <a:ln w="0">
            <a:noFill/>
          </a:ln>
        </p:spPr>
      </p:pic>
      <p:sp>
        <p:nvSpPr>
          <p:cNvPr id="20" name="Rectangle 2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1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040" cy="514080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4" descr=""/>
          <p:cNvPicPr/>
          <p:nvPr/>
        </p:nvPicPr>
        <p:blipFill>
          <a:blip r:embed="rId4"/>
          <a:stretch/>
        </p:blipFill>
        <p:spPr>
          <a:xfrm>
            <a:off x="-2880" y="1440"/>
            <a:ext cx="9140040" cy="51408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71720" cy="80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lt1"/>
                </a:solidFill>
                <a:latin typeface="Arial"/>
                <a:ea typeface="MS PGothic"/>
              </a:rPr>
              <a:t>Bindings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71200" y="2366280"/>
            <a:ext cx="7037640" cy="65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Using C-API Libraries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528840" y="970920"/>
            <a:ext cx="8084880" cy="42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The C API standard rules them all (and in the darkness binds them).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289800" y="415800"/>
            <a:ext cx="8562960" cy="613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Intro: Libraries for Binding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75600" y="1418040"/>
            <a:ext cx="4088520" cy="32792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&lt;cstdint&gt;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&lt;cstring&gt;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&lt;string&gt;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cipher(std::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res(msg);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unsigned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 = 0; i &lt; msg.size(); i++)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res[i] = ((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msg[i] + key) % 256;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ff00ff"/>
                </a:solidFill>
                <a:latin typeface="Consolas"/>
                <a:ea typeface="MS PGothic"/>
              </a:rPr>
              <a:t>return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res;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 </a:t>
            </a:r>
            <a:r>
              <a:rPr b="1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 This doesn’t work with the C API.* :(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cipher_wrap(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*c_msg,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len)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*buf = new char[len + 1];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buf[len] = '\0’;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message(c_msg,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result = cipher(message, key);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memcpy(buf, result.c_str(),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return buf;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 </a:t>
            </a:r>
            <a:r>
              <a:rPr b="1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 This requires memory allocation. :(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13"/>
          <p:cNvSpPr/>
          <p:nvPr/>
        </p:nvSpPr>
        <p:spPr>
          <a:xfrm>
            <a:off x="4265280" y="1418040"/>
            <a:ext cx="4825080" cy="32950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void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c_cipher(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*c_msg,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buf,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len)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buf[len] = '\0’;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message(c_msg,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string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result = cipher(message, key);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memcpy(buf, result.c_str(),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return buf;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 </a:t>
            </a:r>
            <a:r>
              <a:rPr b="1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 This does a lot of unnecessary allocation. :(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void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cipher_pure(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*c_msg,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buf,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len)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unsigned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 = 0; i &lt; len; i++)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buf[i] = ((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c_msg[i] + key) % 256;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r>
              <a:rPr b="1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 // Forth time's the charm? :)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 get_hypotenuse(double x, double 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fr-FR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return sqrt(x * x + y * y);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 </a:t>
            </a:r>
            <a:r>
              <a:rPr b="1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 Let's add in a numeric function for fun.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F39534-13E0-4019-8306-F709754FB03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3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3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3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3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528840" y="1212480"/>
            <a:ext cx="8084880" cy="420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Symbols must be visible and built correctly – its compiler dependent!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89800" y="563040"/>
            <a:ext cx="8562960" cy="613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Building as a Library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289800" y="1740600"/>
            <a:ext cx="4718520" cy="13107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cmake_minimum_required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(VERSION 3.16)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set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(CMAKE_CXX_STANDARD 17)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set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(CMAKE_CXX_STANDARD_REQUIRED 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project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("snakey")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set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(SOURCE_FILES snakey.cpp)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add_library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000" spc="-1" strike="noStrike">
                <a:solidFill>
                  <a:srgbClr val="00b0f0"/>
                </a:solidFill>
                <a:latin typeface="Consolas"/>
                <a:ea typeface="MS PGothic"/>
              </a:rPr>
              <a:t>${PROJECT_NAME}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SHARED </a:t>
            </a:r>
            <a:r>
              <a:rPr b="0" lang="en-US" sz="1000" spc="-1" strike="noStrike">
                <a:solidFill>
                  <a:srgbClr val="00b0f0"/>
                </a:solidFill>
                <a:latin typeface="Consolas"/>
                <a:ea typeface="MS PGothic"/>
              </a:rPr>
              <a:t>${SOURCE_FILES}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6"/>
          <p:cNvSpPr/>
          <p:nvPr/>
        </p:nvSpPr>
        <p:spPr>
          <a:xfrm>
            <a:off x="0" y="3155760"/>
            <a:ext cx="5008320" cy="16160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#pragma once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&lt;cstdint&gt;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extern "C"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c_cipher(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*c_msg,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buf,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cipher_pure(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*msg,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char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 buf,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uint8_t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key,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int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len);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extern "C" </a:t>
            </a:r>
            <a:r>
              <a:rPr b="0" lang="en-US" sz="1000" spc="-1" strike="noStrike">
                <a:solidFill>
                  <a:srgbClr val="00b050"/>
                </a:solidFill>
                <a:latin typeface="Consolas"/>
                <a:ea typeface="MS PGothic"/>
              </a:rPr>
              <a:t>double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get_hypotenuse(double x, double y);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7"/>
          <p:cNvSpPr/>
          <p:nvPr/>
        </p:nvSpPr>
        <p:spPr>
          <a:xfrm>
            <a:off x="5099040" y="1740600"/>
            <a:ext cx="3605400" cy="16160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cmake ./; make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CMakeCache.txt  Makefile             snakey.cpp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CMakeFiles      cmake_install.cmake  snakey.h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CMakeLists.txt  </a:t>
            </a:r>
            <a:r>
              <a:rPr b="1" lang="en-US" sz="1000" spc="-1" strike="noStrike">
                <a:solidFill>
                  <a:srgbClr val="ffff00"/>
                </a:solidFill>
                <a:latin typeface="Consolas"/>
                <a:ea typeface="MS PGothic"/>
              </a:rPr>
              <a:t>libsnakey.so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000" spc="-1" strike="noStrike">
                <a:solidFill>
                  <a:schemeClr val="lt1"/>
                </a:solidFill>
                <a:latin typeface="Consolas"/>
                <a:ea typeface="MS PGothic"/>
              </a:rPr>
              <a:t>_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Content Placeholder 1"/>
          <p:cNvSpPr/>
          <p:nvPr/>
        </p:nvSpPr>
        <p:spPr>
          <a:xfrm>
            <a:off x="4959720" y="3533400"/>
            <a:ext cx="4010760" cy="11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Ok…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but how do I get it into Python?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7F7EBAE-656B-4B33-8E7F-90BAF637075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1" dur="indefinite" restart="never" nodeType="tmRoot">
          <p:childTnLst>
            <p:seq>
              <p:cTn id="172" dur="indefinite" nodeType="mainSeq">
                <p:childTnLst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5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500"/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/>
          </p:nvPr>
        </p:nvSpPr>
        <p:spPr>
          <a:xfrm>
            <a:off x="0" y="944280"/>
            <a:ext cx="9144000" cy="45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The </a:t>
            </a:r>
            <a:r>
              <a:rPr b="0" lang="en-US" sz="2000" spc="-1" strike="noStrike">
                <a:solidFill>
                  <a:srgbClr val="ffc000"/>
                </a:solidFill>
                <a:latin typeface="Cambria"/>
                <a:ea typeface="MS PGothic"/>
              </a:rPr>
              <a:t>ctypes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module is tailored to facilitate dynamically loading C libraries.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289800" y="414360"/>
            <a:ext cx="8562960" cy="65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Binding an Existing Library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77400" y="1374480"/>
            <a:ext cx="4646880" cy="28400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from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ctypes 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import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*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from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timeit 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import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timeit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def </a:t>
            </a:r>
            <a:r>
              <a:rPr b="0" lang="en-US" sz="9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caesar_cipher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(mesg, key):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return 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.join([chr(char + key % 256) for char in mesg])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def </a:t>
            </a:r>
            <a:r>
              <a:rPr b="0" lang="en-US" sz="9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load_snakey_lib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 = cdll.LoadLibrary(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"./libsnakey.so"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lib.c_cipher.restype = None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lib.cipher_pure.restype = None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lib.get_hypotenuse.restype = c_double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lib.c_cipher.argtypes = [c_char_p, c_char_p, c_uint8, c_int]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lib.cipher_pure.argtypes = [c_char_p, c_char_p, c_uint8, c_int]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lib.get_hypotenuse.argtypes = [c_double, c_double]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return lib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msg = b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"Greetings from C-Land!!!"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buf = create_string_buffer(len(msg) + 1)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key = 24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4725360" y="1374480"/>
            <a:ext cx="4357800" cy="18774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 = load_snakey_lib()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lib.c_cipher(msg, buf, key, len(msg) + 1)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"Coded:   [%s]."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% buf.value.decode(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"cp437"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lib.c_cipher(buf, buf, 256 - key, len(msg) + 1)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"Decoded: [%s]."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% buf.value.decode(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"cp437"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test_list = ((lib.c_cipher, msg, buf, key, len(msg) + 1),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(lib.cipher_pure, msg, buf, key, len(msg) + 1),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(caesar_cipher, msg, key))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for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entry 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in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test_list: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print(timeit(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lambda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entry[0](*entry[1:]), number=100000))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"Hypotenuse of (3, 4): %d."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% lib.get_hypotenuse(3, 4))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4790160" y="3529080"/>
            <a:ext cx="4293000" cy="10054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Coded:   [_è}}îüåï8~èçà8[Edyå|999].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Decoded: [Greetings from C-Land!!!]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0.05805079999845475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0.04559640004299581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0.11178659996949136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Hypotenuse of(3, 4): 5.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Content Placeholder 1"/>
          <p:cNvSpPr/>
          <p:nvPr/>
        </p:nvSpPr>
        <p:spPr>
          <a:xfrm>
            <a:off x="175320" y="4543920"/>
            <a:ext cx="87354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Be careful with more complex types; struct layout varies by platform!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01C1E8A-041F-40FD-9C9F-73CB9592E0B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2" dur="indefinite" restart="never" nodeType="tmRoot">
          <p:childTnLst>
            <p:seq>
              <p:cTn id="273" dur="indefinite" nodeType="mainSeq">
                <p:childTnLst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3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8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8" dur="500"/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8" dur="500"/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8" dur="500"/>
                                        <p:tgtEl>
                                          <p:spTgt spid="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1" dur="500"/>
                                        <p:tgtEl>
                                          <p:spTgt spid="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4" dur="500"/>
                                        <p:tgtEl>
                                          <p:spTgt spid="4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4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9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4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0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5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5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0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0" y="998280"/>
            <a:ext cx="9143640" cy="435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Python provides tools to make it easier to handle C/C++ structured types.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289800" y="408600"/>
            <a:ext cx="8562960" cy="617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Structured Binary Data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84960" y="1514880"/>
            <a:ext cx="4969080" cy="28400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&lt;string&gt;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&lt;iostream&gt;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&lt;cstdint&gt;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#include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&lt;cstring&gt;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modifyPakuri(</a:t>
            </a:r>
            <a:r>
              <a:rPr b="0" lang="en-US" sz="900" spc="-1" strike="noStrike">
                <a:solidFill>
                  <a:srgbClr val="00cc00"/>
                </a:solidFill>
                <a:latin typeface="Consolas"/>
                <a:ea typeface="MS PGothic"/>
              </a:rPr>
              <a:t>uint8_t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*data, </a:t>
            </a:r>
            <a:r>
              <a:rPr b="0" lang="en-US" sz="900" spc="-1" strike="noStrike">
                <a:solidFill>
                  <a:srgbClr val="00cc00"/>
                </a:solidFill>
                <a:latin typeface="Consolas"/>
                <a:ea typeface="MS PGothic"/>
              </a:rPr>
              <a:t>uint8_t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size)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level = data[0];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len = data[1];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</a:t>
            </a:r>
            <a:r>
              <a:rPr b="0" lang="en-US" sz="900" spc="-1" strike="noStrike">
                <a:solidFill>
                  <a:srgbClr val="00cc00"/>
                </a:solidFill>
                <a:latin typeface="Consolas"/>
                <a:ea typeface="MS PGothic"/>
              </a:rPr>
              <a:t>string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name((char*) data+2, len &lt; size - 2 ? len : size - 2);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std::cout &lt;&lt;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"Pakuri Information\n-------------------\n"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std::cout &lt;&lt;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"Name: 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&lt;&lt; name &lt;&lt;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"\n"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std::cout &lt;&lt;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"Level: 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&lt;&lt; level &lt;&lt;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"\n"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 = name + </a:t>
            </a:r>
            <a:r>
              <a:rPr b="0" lang="en-US" sz="900" spc="-1" strike="noStrike">
                <a:solidFill>
                  <a:srgbClr val="ffff00"/>
                </a:solidFill>
                <a:latin typeface="Consolas"/>
                <a:ea typeface="MS PGothic"/>
              </a:rPr>
              <a:t>"-MODIFIED!"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data[0] += 42;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data[1] = name.size() &gt; size - 2 ? size : name.size();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memcpy((char*)data+2, name.c_str(), data[1]);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5126040" y="1514880"/>
            <a:ext cx="3845160" cy="16023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ctypes </a:t>
            </a: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*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struct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 = cdll.LoadLibrary(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"./libpakuri.so"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lib.modifyPakuri.restype = None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lib.modifyPakuri.argtypes = [c_char_p, c_uint8]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pakuri_bytes = struct.pack(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"bb50s"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15, 6, b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"Chuchu"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lib.modifyPakuri(pakuri_bytes, len(pakuri_bytes))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lvl, len, name = struct.unpack(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"bb50s"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pakuri_bytes)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</a:t>
            </a:r>
            <a:r>
              <a:rPr b="0" lang="en-US" sz="900" spc="-1" strike="noStrike">
                <a:solidFill>
                  <a:srgbClr val="00ff00"/>
                </a:solidFill>
                <a:latin typeface="Consolas"/>
                <a:ea typeface="MS PGothic"/>
              </a:rPr>
              <a:t>"\nName: %s; Level: %d"</a:t>
            </a:r>
            <a:r>
              <a:rPr b="0" lang="en-US" sz="9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% (name.decode(), lvl))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5126040" y="3515400"/>
            <a:ext cx="3845160" cy="11581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 Information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------------------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Name: Chuchu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Level: 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Name: Chuchu-MODIFIED!; Level: 57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CFD441-39CD-40C4-8BD3-625F76D9EC1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6" dur="indefinite" restart="never" nodeType="tmRoot">
          <p:childTnLst>
            <p:seq>
              <p:cTn id="437" dur="indefinite" nodeType="mainSeq">
                <p:childTnLst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9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500"/>
                                        <p:tgtEl>
                                          <p:spTgt spid="4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0" dur="500"/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5" dur="500"/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0" dur="500"/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500"/>
                                        <p:tgtEl>
                                          <p:spTgt spid="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0" dur="500"/>
                                        <p:tgtEl>
                                          <p:spTgt spid="4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5" dur="500"/>
                                        <p:tgtEl>
                                          <p:spTgt spid="4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0" dur="500"/>
                                        <p:tgtEl>
                                          <p:spTgt spid="4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5" dur="500"/>
                                        <p:tgtEl>
                                          <p:spTgt spid="4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4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4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3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500"/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500"/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4" dur="500"/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5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8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8" dur="500"/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46722</TotalTime>
  <Application>LibreOffice/24.2.7.2$Linux_X86_64 LibreOffice_project/420$Build-2</Application>
  <AppVersion>15.0000</AppVersion>
  <Words>1358</Words>
  <Paragraphs>169</Paragraphs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2026-06-21T20:40:17Z</dcterms:modified>
  <cp:revision>918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
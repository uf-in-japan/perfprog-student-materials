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600" spc="-1" strike="noStrike">
                <a:solidFill>
                  <a:schemeClr val="dk1"/>
                </a:solidFill>
                <a:latin typeface="Rockwell"/>
              </a:rPr>
              <a:t>Click to move the slide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D6FAA0D-B7AA-49DF-89A3-3A71B80A7C9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640" cy="2571480"/>
          </a:xfrm>
          <a:prstGeom prst="rect">
            <a:avLst/>
          </a:prstGeom>
          <a:ln w="0">
            <a:noFill/>
          </a:ln>
        </p:spPr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84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D409F4-7E64-40E6-BFC5-45656B7CF35B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640" cy="2571480"/>
          </a:xfrm>
          <a:prstGeom prst="rect">
            <a:avLst/>
          </a:prstGeom>
          <a:ln w="0">
            <a:noFill/>
          </a:ln>
        </p:spPr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84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126D7A-1779-47F0-96B6-4059E61BCE9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640" cy="2571480"/>
          </a:xfrm>
          <a:prstGeom prst="rect">
            <a:avLst/>
          </a:prstGeom>
          <a:ln w="0">
            <a:noFill/>
          </a:ln>
        </p:spPr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84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2228B1-1DD2-4A19-A8F6-6B07AF5D5D55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640" cy="2571480"/>
          </a:xfrm>
          <a:prstGeom prst="rect">
            <a:avLst/>
          </a:prstGeom>
          <a:ln w="0">
            <a:noFill/>
          </a:ln>
        </p:spPr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84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F5B126F-A757-4F5F-9716-D23876B18674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640" cy="257148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84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705BB5-4FD5-42A9-A74B-D0A53CAE1F6D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71640" cy="257148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4840" cy="308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2C68F10-F5B1-45CC-A9C6-1144F9DC3E08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268C737-A72D-4A96-8723-94E402E3DA79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B8F9B4-A3F4-4A3F-A863-C41BE19014D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6F321B-D286-4CBB-B4B6-F345BACC4D2D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760" cy="5141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71200" y="1676160"/>
            <a:ext cx="8272440" cy="1333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</a:pP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Presentation Title</a:t>
            </a:r>
            <a:br>
              <a:rPr sz="4800"/>
            </a:b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With Two Lines</a:t>
            </a:r>
            <a:endParaRPr b="0" lang="en-US" sz="4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871200" y="3095640"/>
            <a:ext cx="8681040" cy="580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Presentation Subtitle</a:t>
            </a:r>
            <a:endParaRPr b="0" lang="en-US" sz="2400" spc="-1" strike="noStrike">
              <a:solidFill>
                <a:schemeClr val="lt1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  <p:sp>
        <p:nvSpPr>
          <p:cNvPr id="6" name="Rectangle 5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7" name="Picture 3" descr=""/>
          <p:cNvPicPr/>
          <p:nvPr/>
        </p:nvPicPr>
        <p:blipFill>
          <a:blip r:embed="rId3"/>
          <a:stretch/>
        </p:blipFill>
        <p:spPr>
          <a:xfrm>
            <a:off x="0" y="720"/>
            <a:ext cx="9140760" cy="5141520"/>
          </a:xfrm>
          <a:prstGeom prst="rect">
            <a:avLst/>
          </a:prstGeom>
          <a:ln w="0">
            <a:noFill/>
          </a:ln>
        </p:spPr>
      </p:pic>
      <p:sp>
        <p:nvSpPr>
          <p:cNvPr id="8" name="TextBox 4"/>
          <p:cNvSpPr/>
          <p:nvPr/>
        </p:nvSpPr>
        <p:spPr>
          <a:xfrm>
            <a:off x="786600" y="1042560"/>
            <a:ext cx="21700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mbria"/>
                <a:ea typeface="MS PGothic"/>
              </a:rPr>
              <a:t>DEPARTMENT OR UNIT NAME. DELETE FROM MASTER SLIDE IF N/A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71200" y="2140560"/>
            <a:ext cx="8272440" cy="1333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</a:pP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Pre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sen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tati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on 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Titl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br>
              <a:rPr sz="4800"/>
            </a:b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Wit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h 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Tw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o 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Lin</a:t>
            </a: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es</a:t>
            </a:r>
            <a:endParaRPr b="0" lang="en-US" sz="48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71200" y="3560040"/>
            <a:ext cx="8681040" cy="580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Presentation Subtitle</a:t>
            </a:r>
            <a:endParaRPr b="0" lang="en-US" sz="2400" spc="-1" strike="noStrike">
              <a:solidFill>
                <a:schemeClr val="lt1"/>
              </a:solidFill>
              <a:latin typeface="Cambri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89800" y="893880"/>
            <a:ext cx="857412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Clic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k to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edit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Mas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ter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title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styl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body"/>
          </p:nvPr>
        </p:nvSpPr>
        <p:spPr>
          <a:xfrm>
            <a:off x="692280" y="1475280"/>
            <a:ext cx="7733880" cy="3255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Click to edit Master text styles</a:t>
            </a:r>
            <a:endParaRPr b="0" lang="en-US" sz="2000" spc="-1" strike="noStrike">
              <a:solidFill>
                <a:schemeClr val="l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Second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Third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3" marL="9144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Fourth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4" marL="11430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Fifth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6368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k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o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d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M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a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r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i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y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1D33A04-0088-4744-90BA-D0A317994DDD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body"/>
          </p:nvPr>
        </p:nvSpPr>
        <p:spPr>
          <a:xfrm>
            <a:off x="692280" y="1869480"/>
            <a:ext cx="7727760" cy="2810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Click to edit Master text styles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Second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Third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3" marL="9144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Fourth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4" marL="11430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Fifth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93760" y="1227240"/>
            <a:ext cx="8556120" cy="580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3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5972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Clic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k to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edit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Ma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ster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title 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styl</a:t>
            </a: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e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9C93A9-2FBB-4C71-A252-68A473E78386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body"/>
          </p:nvPr>
        </p:nvSpPr>
        <p:spPr>
          <a:xfrm>
            <a:off x="693720" y="2310840"/>
            <a:ext cx="3657240" cy="2268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Click to edit Master text styles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Second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Third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3" marL="9144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Fourth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4" marL="11430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Fifth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761360" y="2310840"/>
            <a:ext cx="3657240" cy="2268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rmAutofit/>
          </a:bodyPr>
          <a:p>
            <a:pPr marL="228600" indent="-228600">
              <a:lnSpc>
                <a:spcPct val="100000"/>
              </a:lnSpc>
              <a:spcBef>
                <a:spcPts val="20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Click to edit Master text styles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1" marL="4572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Second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2" marL="6858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Third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3" marL="914400" indent="-228600">
              <a:lnSpc>
                <a:spcPct val="100000"/>
              </a:lnSpc>
              <a:spcBef>
                <a:spcPts val="601"/>
              </a:spcBef>
              <a:buClr>
                <a:srgbClr val="e17f35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Fourth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  <a:p>
            <a:pPr lvl="4" marL="1143000" indent="-228600">
              <a:lnSpc>
                <a:spcPct val="100000"/>
              </a:lnSpc>
              <a:spcBef>
                <a:spcPts val="601"/>
              </a:spcBef>
              <a:buClr>
                <a:srgbClr val="edb286"/>
              </a:buClr>
              <a:buSzPct val="75000"/>
              <a:buFont typeface="Wingdings" charset="2"/>
              <a:buChar char=""/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Fifth level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93720" y="2028240"/>
            <a:ext cx="3657240" cy="24156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numCol="1" spcCol="0" lIns="91440" rIns="9144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MS PGothic"/>
              </a:rPr>
              <a:t>Click to edit Master text styles</a:t>
            </a:r>
            <a:endParaRPr b="0" lang="en-US" sz="16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761360" y="2028240"/>
            <a:ext cx="3657240" cy="24156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numCol="1" spcCol="0" lIns="91440" rIns="9144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lt1"/>
                </a:solidFill>
                <a:latin typeface="Arial"/>
                <a:ea typeface="MS PGothic"/>
              </a:rPr>
              <a:t>Click to edit Master text styles</a:t>
            </a:r>
            <a:endParaRPr b="0" lang="en-US" sz="16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293760" y="1227240"/>
            <a:ext cx="8556120" cy="580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3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title"/>
          </p:nvPr>
        </p:nvSpPr>
        <p:spPr>
          <a:xfrm>
            <a:off x="289800" y="620640"/>
            <a:ext cx="8559720" cy="836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30" name="PlaceHolder 7"/>
          <p:cNvSpPr>
            <a:spLocks noGrp="1"/>
          </p:cNvSpPr>
          <p:nvPr>
            <p:ph type="sldNum" idx="3"/>
          </p:nvPr>
        </p:nvSpPr>
        <p:spPr>
          <a:xfrm>
            <a:off x="7049160" y="4767120"/>
            <a:ext cx="2057040" cy="27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68BBC5-48A0-407D-8E6D-6D11F3F1008D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3640" cy="5138640"/>
          </a:xfrm>
          <a:prstGeom prst="rect">
            <a:avLst/>
          </a:prstGeom>
          <a:ln w="0">
            <a:noFill/>
          </a:ln>
        </p:spPr>
      </p:pic>
      <p:sp>
        <p:nvSpPr>
          <p:cNvPr id="32" name="Rectangl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innerShdw blurRad="50800" dir="13500000" dist="25400">
              <a:srgbClr val="ffffff">
                <a:alpha val="75000"/>
              </a:srgbClr>
            </a:innerShdw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33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40760" cy="5141520"/>
          </a:xfrm>
          <a:prstGeom prst="rect">
            <a:avLst/>
          </a:prstGeom>
          <a:ln w="0">
            <a:noFill/>
          </a:ln>
        </p:spPr>
      </p:pic>
      <p:pic>
        <p:nvPicPr>
          <p:cNvPr id="34" name="Picture 4" descr=""/>
          <p:cNvPicPr/>
          <p:nvPr/>
        </p:nvPicPr>
        <p:blipFill>
          <a:blip r:embed="rId4"/>
          <a:stretch/>
        </p:blipFill>
        <p:spPr>
          <a:xfrm>
            <a:off x="-2880" y="1440"/>
            <a:ext cx="9140760" cy="514152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71200" y="1603080"/>
            <a:ext cx="8272440" cy="807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</a:pPr>
            <a:r>
              <a:rPr b="0" lang="en-US" sz="4400" spc="-1" strike="noStrike">
                <a:solidFill>
                  <a:schemeClr val="lt1"/>
                </a:solidFill>
                <a:latin typeface="Arial"/>
                <a:ea typeface="MS PGothic"/>
              </a:rPr>
              <a:t>Program Distribution</a:t>
            </a:r>
            <a:endParaRPr b="0" lang="en-US" sz="44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871200" y="2366280"/>
            <a:ext cx="7038360" cy="656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Packaging for PIP</a:t>
            </a:r>
            <a:endParaRPr b="0" lang="en-US" sz="2400" spc="-1" strike="noStrike">
              <a:solidFill>
                <a:schemeClr val="lt1"/>
              </a:solidFill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/>
          </p:nvPr>
        </p:nvSpPr>
        <p:spPr>
          <a:xfrm>
            <a:off x="145440" y="1182240"/>
            <a:ext cx="8853120" cy="440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The PIP program is the preferred way to install / remove external packages.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289800" y="518040"/>
            <a:ext cx="8563680" cy="680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PIP: Preferred Installer Program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45" name="Content Placeholder 1"/>
          <p:cNvSpPr/>
          <p:nvPr/>
        </p:nvSpPr>
        <p:spPr>
          <a:xfrm>
            <a:off x="227880" y="3814560"/>
            <a:ext cx="8687520" cy="10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PIP automatically identifies dependencies and downloads / installs them.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Recently, PIP officially stands for “PIP Installs Packages”.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191880" y="1813680"/>
            <a:ext cx="8783280" cy="16002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1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pip install pancakes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Collecting pancakes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Downloading https://mofactory.org/packages/12/34/567890abcdef/pancakes-8.13.21.tar.gz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Requirement already satisfied: bacon in /usr/local/lib/python3.8/dist-packages (from breakfast) (1.0)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Installing collected packages: pancakes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Running setup.py install for pancakes ... Done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Successfully installed pancakes-8.13.21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1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1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9938E0B-DB65-4081-A2CC-6615CBF7C1E8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" dur="500"/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/>
          </p:nvPr>
        </p:nvSpPr>
        <p:spPr>
          <a:xfrm>
            <a:off x="692280" y="1258920"/>
            <a:ext cx="7733880" cy="48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Python packages are defined in part by directory structure.</a:t>
            </a:r>
            <a:endParaRPr b="0" lang="en-US" sz="20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title"/>
          </p:nvPr>
        </p:nvSpPr>
        <p:spPr>
          <a:xfrm>
            <a:off x="289800" y="572760"/>
            <a:ext cx="8563680" cy="632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Layout for a Package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grpSp>
        <p:nvGrpSpPr>
          <p:cNvPr id="49" name="Group 50"/>
          <p:cNvGrpSpPr/>
          <p:nvPr/>
        </p:nvGrpSpPr>
        <p:grpSpPr>
          <a:xfrm>
            <a:off x="1555560" y="1857960"/>
            <a:ext cx="2976120" cy="2491560"/>
            <a:chOff x="1555560" y="1857960"/>
            <a:chExt cx="2976120" cy="2491560"/>
          </a:xfrm>
        </p:grpSpPr>
        <p:sp>
          <p:nvSpPr>
            <p:cNvPr id="50" name="Rectangle 6"/>
            <p:cNvSpPr/>
            <p:nvPr/>
          </p:nvSpPr>
          <p:spPr>
            <a:xfrm>
              <a:off x="1555560" y="1857960"/>
              <a:ext cx="2976120" cy="249156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400" spc="-1" strike="noStrike">
                <a:solidFill>
                  <a:schemeClr val="lt1"/>
                </a:solidFill>
                <a:latin typeface="Consolas"/>
                <a:ea typeface="MS PGothic"/>
              </a:endParaRPr>
            </a:p>
          </p:txBody>
        </p:sp>
        <p:sp>
          <p:nvSpPr>
            <p:cNvPr id="51" name="TextBox 7"/>
            <p:cNvSpPr/>
            <p:nvPr/>
          </p:nvSpPr>
          <p:spPr>
            <a:xfrm>
              <a:off x="1630800" y="1919520"/>
              <a:ext cx="967680" cy="30384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project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cxnSp>
          <p:nvCxnSpPr>
            <p:cNvPr id="52" name="Connector: Elbow 9"/>
            <p:cNvCxnSpPr>
              <a:stCxn id="51" idx="2"/>
              <a:endCxn id="53" idx="1"/>
            </p:cNvCxnSpPr>
            <p:nvPr/>
          </p:nvCxnSpPr>
          <p:spPr>
            <a:xfrm flipH="1" rot="16200000">
              <a:off x="1891440" y="2446200"/>
              <a:ext cx="644040" cy="19800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sp>
          <p:nvSpPr>
            <p:cNvPr id="53" name="TextBox 10"/>
            <p:cNvSpPr/>
            <p:nvPr/>
          </p:nvSpPr>
          <p:spPr>
            <a:xfrm>
              <a:off x="2312280" y="2715480"/>
              <a:ext cx="1096200" cy="3031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pakupaku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cxnSp>
          <p:nvCxnSpPr>
            <p:cNvPr id="54" name="Connector: Elbow 11"/>
            <p:cNvCxnSpPr>
              <a:stCxn id="51" idx="2"/>
              <a:endCxn id="55" idx="1"/>
            </p:cNvCxnSpPr>
            <p:nvPr/>
          </p:nvCxnSpPr>
          <p:spPr>
            <a:xfrm flipH="1" rot="16200000">
              <a:off x="1293480" y="3044160"/>
              <a:ext cx="1839960" cy="19800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cxnSp>
          <p:nvCxnSpPr>
            <p:cNvPr id="56" name="Connector: Elbow 12"/>
            <p:cNvCxnSpPr>
              <a:stCxn id="53" idx="2"/>
              <a:endCxn id="57" idx="1"/>
            </p:cNvCxnSpPr>
            <p:nvPr/>
          </p:nvCxnSpPr>
          <p:spPr>
            <a:xfrm flipH="1" rot="16200000">
              <a:off x="2826360" y="3052440"/>
              <a:ext cx="248040" cy="18036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sp>
          <p:nvSpPr>
            <p:cNvPr id="57" name="TextBox 13"/>
            <p:cNvSpPr/>
            <p:nvPr/>
          </p:nvSpPr>
          <p:spPr>
            <a:xfrm>
              <a:off x="3040200" y="3114360"/>
              <a:ext cx="1405800" cy="30384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__init__.py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sp>
          <p:nvSpPr>
            <p:cNvPr id="58" name="TextBox 14"/>
            <p:cNvSpPr/>
            <p:nvPr/>
          </p:nvSpPr>
          <p:spPr>
            <a:xfrm>
              <a:off x="3040200" y="3515760"/>
              <a:ext cx="1247760" cy="30384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baddie.py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sp>
          <p:nvSpPr>
            <p:cNvPr id="59" name="TextBox 15"/>
            <p:cNvSpPr/>
            <p:nvPr/>
          </p:nvSpPr>
          <p:spPr>
            <a:xfrm>
              <a:off x="2312280" y="2319840"/>
              <a:ext cx="1096200" cy="30384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setup.py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cxnSp>
          <p:nvCxnSpPr>
            <p:cNvPr id="60" name="Connector: Elbow 16"/>
            <p:cNvCxnSpPr>
              <a:stCxn id="51" idx="2"/>
              <a:endCxn id="59" idx="1"/>
            </p:cNvCxnSpPr>
            <p:nvPr/>
          </p:nvCxnSpPr>
          <p:spPr>
            <a:xfrm flipH="1" rot="16200000">
              <a:off x="2089080" y="2248560"/>
              <a:ext cx="248760" cy="19800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cxnSp>
          <p:nvCxnSpPr>
            <p:cNvPr id="61" name="Connector: Elbow 17"/>
            <p:cNvCxnSpPr>
              <a:stCxn id="53" idx="2"/>
              <a:endCxn id="58" idx="1"/>
            </p:cNvCxnSpPr>
            <p:nvPr/>
          </p:nvCxnSpPr>
          <p:spPr>
            <a:xfrm flipH="1" rot="16200000">
              <a:off x="2625840" y="3252960"/>
              <a:ext cx="649440" cy="18036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sp>
          <p:nvSpPr>
            <p:cNvPr id="55" name="TextBox 30"/>
            <p:cNvSpPr/>
            <p:nvPr/>
          </p:nvSpPr>
          <p:spPr>
            <a:xfrm>
              <a:off x="2312280" y="3911040"/>
              <a:ext cx="641880" cy="30384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docs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</p:grpSp>
      <p:grpSp>
        <p:nvGrpSpPr>
          <p:cNvPr id="62" name="Group 51"/>
          <p:cNvGrpSpPr/>
          <p:nvPr/>
        </p:nvGrpSpPr>
        <p:grpSpPr>
          <a:xfrm>
            <a:off x="4802040" y="1854360"/>
            <a:ext cx="2839320" cy="2500920"/>
            <a:chOff x="4802040" y="1854360"/>
            <a:chExt cx="2839320" cy="2500920"/>
          </a:xfrm>
        </p:grpSpPr>
        <p:sp>
          <p:nvSpPr>
            <p:cNvPr id="63" name="Rectangle 52"/>
            <p:cNvSpPr/>
            <p:nvPr/>
          </p:nvSpPr>
          <p:spPr>
            <a:xfrm>
              <a:off x="4802040" y="1854360"/>
              <a:ext cx="2839320" cy="2500920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ffffff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b="0" lang="en-US" sz="1800" spc="-1" strike="noStrike">
                <a:solidFill>
                  <a:schemeClr val="lt1"/>
                </a:solidFill>
                <a:latin typeface="Rockwell"/>
                <a:ea typeface="MS PGothic"/>
              </a:endParaRPr>
            </a:p>
          </p:txBody>
        </p:sp>
        <p:sp>
          <p:nvSpPr>
            <p:cNvPr id="64" name="TextBox 53"/>
            <p:cNvSpPr/>
            <p:nvPr/>
          </p:nvSpPr>
          <p:spPr>
            <a:xfrm>
              <a:off x="4877280" y="1915560"/>
              <a:ext cx="967680" cy="3031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cont...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cxnSp>
          <p:nvCxnSpPr>
            <p:cNvPr id="65" name="Connector: Elbow 54"/>
            <p:cNvCxnSpPr>
              <a:stCxn id="64" idx="2"/>
              <a:endCxn id="66" idx="1"/>
            </p:cNvCxnSpPr>
            <p:nvPr/>
          </p:nvCxnSpPr>
          <p:spPr>
            <a:xfrm flipH="1" rot="16200000">
              <a:off x="5137920" y="2441880"/>
              <a:ext cx="645120" cy="19836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sp>
          <p:nvSpPr>
            <p:cNvPr id="66" name="TextBox 55"/>
            <p:cNvSpPr/>
            <p:nvPr/>
          </p:nvSpPr>
          <p:spPr>
            <a:xfrm>
              <a:off x="5559120" y="2711880"/>
              <a:ext cx="986760" cy="3031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LICENSE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cxnSp>
          <p:nvCxnSpPr>
            <p:cNvPr id="67" name="Connector: Elbow 56"/>
            <p:cNvCxnSpPr>
              <a:stCxn id="64" idx="2"/>
              <a:endCxn id="68" idx="1"/>
            </p:cNvCxnSpPr>
            <p:nvPr/>
          </p:nvCxnSpPr>
          <p:spPr>
            <a:xfrm flipH="1" rot="16200000">
              <a:off x="4539960" y="3039840"/>
              <a:ext cx="1840680" cy="19836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sp>
          <p:nvSpPr>
            <p:cNvPr id="69" name="TextBox 58"/>
            <p:cNvSpPr/>
            <p:nvPr/>
          </p:nvSpPr>
          <p:spPr>
            <a:xfrm>
              <a:off x="5568120" y="3110400"/>
              <a:ext cx="866880" cy="3031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README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sp>
          <p:nvSpPr>
            <p:cNvPr id="70" name="TextBox 59"/>
            <p:cNvSpPr/>
            <p:nvPr/>
          </p:nvSpPr>
          <p:spPr>
            <a:xfrm>
              <a:off x="5568120" y="3499920"/>
              <a:ext cx="1076040" cy="3031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Makefile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sp>
          <p:nvSpPr>
            <p:cNvPr id="71" name="TextBox 60"/>
            <p:cNvSpPr/>
            <p:nvPr/>
          </p:nvSpPr>
          <p:spPr>
            <a:xfrm>
              <a:off x="5559120" y="2316240"/>
              <a:ext cx="1975320" cy="3031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requirements.txt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cxnSp>
          <p:nvCxnSpPr>
            <p:cNvPr id="72" name="Connector: Elbow 61"/>
            <p:cNvCxnSpPr>
              <a:stCxn id="64" idx="2"/>
              <a:endCxn id="71" idx="1"/>
            </p:cNvCxnSpPr>
            <p:nvPr/>
          </p:nvCxnSpPr>
          <p:spPr>
            <a:xfrm flipH="1" rot="16200000">
              <a:off x="5335560" y="2244240"/>
              <a:ext cx="249480" cy="19836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cxnSp>
          <p:nvCxnSpPr>
            <p:cNvPr id="73" name="Connector: Elbow 62"/>
            <p:cNvCxnSpPr>
              <a:stCxn id="64" idx="2"/>
              <a:endCxn id="70" idx="1"/>
            </p:cNvCxnSpPr>
            <p:nvPr/>
          </p:nvCxnSpPr>
          <p:spPr>
            <a:xfrm flipH="1" rot="16200000">
              <a:off x="4748040" y="2831400"/>
              <a:ext cx="1433160" cy="207360"/>
            </a:xfrm>
            <a:prstGeom prst="bentConnector2">
              <a:avLst/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  <p:sp>
          <p:nvSpPr>
            <p:cNvPr id="68" name="TextBox 63"/>
            <p:cNvSpPr/>
            <p:nvPr/>
          </p:nvSpPr>
          <p:spPr>
            <a:xfrm>
              <a:off x="5559120" y="3907440"/>
              <a:ext cx="746280" cy="30312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b="0" lang="en-US" sz="1400" spc="-1" strike="noStrike">
                  <a:solidFill>
                    <a:schemeClr val="lt1"/>
                  </a:solidFill>
                  <a:latin typeface="Consolas"/>
                  <a:ea typeface="MS PGothic"/>
                </a:rPr>
                <a:t>tests</a:t>
              </a:r>
              <a:endParaRPr b="0" lang="en-US" sz="1400" spc="-1" strike="noStrike">
                <a:solidFill>
                  <a:srgbClr val="ffffff"/>
                </a:solidFill>
                <a:latin typeface="Consolas"/>
              </a:endParaRPr>
            </a:p>
          </p:txBody>
        </p:sp>
        <p:cxnSp>
          <p:nvCxnSpPr>
            <p:cNvPr id="74" name="Connector: Elbow 65"/>
            <p:cNvCxnSpPr>
              <a:endCxn id="69" idx="1"/>
            </p:cNvCxnSpPr>
            <p:nvPr/>
          </p:nvCxnSpPr>
          <p:spPr>
            <a:xfrm flipH="1" rot="16200000">
              <a:off x="5081040" y="2774520"/>
              <a:ext cx="776880" cy="198360"/>
            </a:xfrm>
            <a:prstGeom prst="bentConnector3">
              <a:avLst>
                <a:gd name="adj1" fmla="val 0"/>
              </a:avLst>
            </a:prstGeom>
            <a:ln>
              <a:solidFill>
                <a:srgbClr val="00ff00"/>
              </a:solidFill>
              <a:round/>
              <a:tailEnd len="med" type="triangle" w="med"/>
            </a:ln>
          </p:spPr>
        </p:cxnSp>
      </p:grp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9C002BB-9491-49A8-A453-05A8630A5790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351000" y="1010160"/>
            <a:ext cx="8522280" cy="434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The setuptools package is currently the preferred setup package for Python.</a:t>
            </a:r>
            <a:endParaRPr b="0" lang="en-US" sz="18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289800" y="456120"/>
            <a:ext cx="8563680" cy="632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Using Python Setup Tools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437040" y="1473840"/>
            <a:ext cx="4127400" cy="32958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from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setuptools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setup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setup(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name=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"pakupaku"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0" lang="en-US" sz="10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# Name of the PyPI package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version=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"0.1.2.3"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packages=[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"pakupaku"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,], </a:t>
            </a:r>
            <a:r>
              <a:rPr b="0" lang="en-US" sz="10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# Name of the modules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url=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"https://github.com/mistaajimmy/pakupaku"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license=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"GPL 3"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author=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"Jeremiah Blanchard"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author_email=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"jjb@eng.ufl.edu"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description=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"Nom nom! Time to eat!"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install_requires=[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"pancakes&gt;=8.13.21"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"eggs"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],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entry_points =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"console_scripts"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[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"play_paku = pakupaku:main"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   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"show_baddie = pakupaku.baddie:show_me"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4650840" y="4053960"/>
            <a:ext cx="4083120" cy="70092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# pyproject.toml example (preferred)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[build-system]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requires = [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"setuptools &gt;= 45.2.0"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"wheel != 0.1"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build-backend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"setuptools.build_meta"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Content Placeholder 1"/>
          <p:cNvSpPr/>
          <p:nvPr/>
        </p:nvSpPr>
        <p:spPr>
          <a:xfrm>
            <a:off x="4712400" y="1478520"/>
            <a:ext cx="36910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“</a:t>
            </a:r>
            <a:r>
              <a:rPr b="0" lang="en-US" sz="20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freeze” gives current versions: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8"/>
          <p:cNvSpPr/>
          <p:nvPr/>
        </p:nvSpPr>
        <p:spPr>
          <a:xfrm>
            <a:off x="4650840" y="1861200"/>
            <a:ext cx="3752280" cy="13107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 </a:t>
            </a:r>
            <a:r>
              <a:rPr b="0" lang="en-US" sz="1000" spc="-1" strike="noStrike">
                <a:solidFill>
                  <a:schemeClr val="lt1"/>
                </a:solidFill>
                <a:latin typeface="Consolas"/>
                <a:ea typeface="MS PGothic"/>
              </a:rPr>
              <a:t>pip freeze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eggs==0.0.2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pancakes==8.13.21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sausages==1.0.1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biscuits=2.0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gravy=12.34.56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grits=9001.0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~$ </a:t>
            </a:r>
            <a:r>
              <a:rPr b="0" lang="en-US" sz="1000" spc="-1" strike="noStrike">
                <a:solidFill>
                  <a:schemeClr val="lt1"/>
                </a:solidFill>
                <a:latin typeface="Consolas"/>
                <a:ea typeface="MS PGothic"/>
              </a:rPr>
              <a:t>_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Content Placeholder 1"/>
          <p:cNvSpPr/>
          <p:nvPr/>
        </p:nvSpPr>
        <p:spPr>
          <a:xfrm>
            <a:off x="4650840" y="3675240"/>
            <a:ext cx="37522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 u="sng">
                <a:solidFill>
                  <a:schemeClr val="lt1"/>
                </a:solidFill>
                <a:uFillTx/>
                <a:latin typeface="Cambria"/>
                <a:ea typeface="MS PGothic"/>
              </a:rPr>
              <a:t>What about setuptools itself?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8E9B02A-D4AE-4832-B0F6-A97FECB28A81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" dur="indefinite" restart="never" nodeType="tmRoot">
          <p:childTnLst>
            <p:seq>
              <p:cTn id="49" dur="indefinite" nodeType="mainSeq">
                <p:childTnLst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" dur="5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" dur="500"/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" dur="500"/>
                                        <p:tgtEl>
                                          <p:spTgt spid="7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7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" dur="500"/>
                                        <p:tgtEl>
                                          <p:spTgt spid="7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7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7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7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" dur="500"/>
                                        <p:tgtEl>
                                          <p:spTgt spid="7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7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4" dur="500"/>
                                        <p:tgtEl>
                                          <p:spTgt spid="7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9" dur="500"/>
                                        <p:tgtEl>
                                          <p:spTgt spid="7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500"/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4" dur="500"/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9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4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9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4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9" dur="500"/>
                                        <p:tgtEl>
                                          <p:spTgt spid="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4" dur="500"/>
                                        <p:tgtEl>
                                          <p:spTgt spid="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9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390600" y="1010160"/>
            <a:ext cx="8362800" cy="434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We can also add more complex system setup when needed / desired.</a:t>
            </a:r>
            <a:endParaRPr b="0" lang="en-US" sz="20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289800" y="456120"/>
            <a:ext cx="8563680" cy="6325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Advanced Build Directives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225720" y="1443240"/>
            <a:ext cx="4910400" cy="23799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from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setuptools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setup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from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setuptools.command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import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install, sdist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class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SrcDistro(sdist.sdist):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def </a:t>
            </a: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run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(self):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...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sdist.sdist.run(self)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class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Installer(install.install):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def </a:t>
            </a: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run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(self):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...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install.install.run(self)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ff"/>
                </a:solidFill>
                <a:latin typeface="Consolas"/>
                <a:ea typeface="MS PGothic"/>
              </a:rPr>
              <a:t>if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__name__ ==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"__main__"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setup(cmdclass={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"install"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 Installer, </a:t>
            </a: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"sdist"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 SrcDistro)}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237960" y="4036320"/>
            <a:ext cx="4898160" cy="7002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# pyproject.toml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[build-system]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requires = [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"setuptools &gt;= 45.2.0"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"wheel != 0.1"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build-backend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"setuptools.build_meta"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5240880" y="1443240"/>
            <a:ext cx="3607200" cy="329580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dk2">
                    <a:lumMod val="25000"/>
                    <a:lumOff val="75000"/>
                  </a:schemeClr>
                </a:solidFill>
                <a:latin typeface="Consolas"/>
                <a:ea typeface="MS PGothic"/>
              </a:rPr>
              <a:t># setup.cfg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[metadata]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pakupaku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version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0.1.2.3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url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https://github.com/mistaajimmy/pakupaku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description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Nom nom! Time to eat!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long_description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file:README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[options]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packages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find: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python_requires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&gt;=3.8, &lt;4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install_requires =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pancakes &gt;= 8.13.21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eggs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[options.package_data]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resource_name_here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path/to/files.*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00ff00"/>
                </a:solidFill>
                <a:latin typeface="Consolas"/>
                <a:ea typeface="MS PGothic"/>
              </a:rPr>
              <a:t>[entry_points]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console_scripts =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lang="en-US" sz="10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show_baddie = </a:t>
            </a:r>
            <a:r>
              <a:rPr b="0" lang="en-US" sz="1000" spc="-1" strike="noStrike">
                <a:solidFill>
                  <a:srgbClr val="ff99ff"/>
                </a:solidFill>
                <a:latin typeface="Consolas"/>
                <a:ea typeface="MS PGothic"/>
              </a:rPr>
              <a:t>pakupaku.baddie:show_me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3983D41-CFEF-463E-82C3-69ACDDD3018B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0" dur="indefinite" restart="never" nodeType="tmRoot">
          <p:childTnLst>
            <p:seq>
              <p:cTn id="221" dur="indefinite" nodeType="mainSeq">
                <p:childTnLst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1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6" dur="500"/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1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6" dur="500"/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1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6" dur="500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1" dur="500"/>
                                        <p:tgtEl>
                                          <p:spTgt spid="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6" dur="500"/>
                                        <p:tgtEl>
                                          <p:spTgt spid="8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1" dur="500"/>
                                        <p:tgtEl>
                                          <p:spTgt spid="8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6" dur="500"/>
                                        <p:tgtEl>
                                          <p:spTgt spid="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6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1" dur="500"/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1" dur="500"/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6" dur="500"/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1" dur="500"/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6" dur="500"/>
                                        <p:tgtEl>
                                          <p:spTgt spid="8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1" dur="500"/>
                                        <p:tgtEl>
                                          <p:spTgt spid="8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6" dur="500"/>
                                        <p:tgtEl>
                                          <p:spTgt spid="8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1" dur="500"/>
                                        <p:tgtEl>
                                          <p:spTgt spid="8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2" fill="hold">
                      <p:stCondLst>
                        <p:cond delay="indefinite"/>
                      </p:stCondLst>
                      <p:childTnLst>
                        <p:par>
                          <p:cTn id="363" fill="hold">
                            <p:stCondLst>
                              <p:cond delay="0"/>
                            </p:stCondLst>
                            <p:childTnLst>
                              <p:par>
                                <p:cTn id="3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6" dur="500"/>
                                        <p:tgtEl>
                                          <p:spTgt spid="8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1" dur="500"/>
                                        <p:tgtEl>
                                          <p:spTgt spid="8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8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1" dur="500"/>
                                        <p:tgtEl>
                                          <p:spTgt spid="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6" dur="500"/>
                                        <p:tgtEl>
                                          <p:spTgt spid="8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1" dur="500"/>
                                        <p:tgtEl>
                                          <p:spTgt spid="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6" dur="500"/>
                                        <p:tgtEl>
                                          <p:spTgt spid="8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1" dur="500"/>
                                        <p:tgtEl>
                                          <p:spTgt spid="8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500"/>
                                        <p:tgtEl>
                                          <p:spTgt spid="8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145440" y="1182240"/>
            <a:ext cx="8853120" cy="4402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Once we’ve prepared the setup, we can build the project.</a:t>
            </a:r>
            <a:endParaRPr b="0" lang="en-US" sz="2000" spc="-1" strike="noStrike">
              <a:solidFill>
                <a:schemeClr val="lt1"/>
              </a:solidFill>
              <a:latin typeface="Cambri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289800" y="518040"/>
            <a:ext cx="8563680" cy="6807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Building the Package</a:t>
            </a:r>
            <a:endParaRPr b="0" lang="en-US" sz="3600" spc="-1" strike="noStrike">
              <a:solidFill>
                <a:schemeClr val="dk1"/>
              </a:solidFill>
              <a:latin typeface="Rockwell"/>
            </a:endParaRPr>
          </a:p>
        </p:txBody>
      </p:sp>
      <p:sp>
        <p:nvSpPr>
          <p:cNvPr id="89" name="Content Placeholder 1"/>
          <p:cNvSpPr/>
          <p:nvPr/>
        </p:nvSpPr>
        <p:spPr>
          <a:xfrm>
            <a:off x="227880" y="3199680"/>
            <a:ext cx="8687520" cy="101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“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twine” can be used to upload to PyPI.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(Install via pip!)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227880" y="1813680"/>
            <a:ext cx="8687520" cy="821160"/>
          </a:xfrm>
          <a:prstGeom prst="rect">
            <a:avLst/>
          </a:prstGeom>
          <a:solidFill>
            <a:schemeClr val="tx1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2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python setup.py sdist bdist_wheel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...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finn@BMO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</a:t>
            </a:r>
            <a:r>
              <a:rPr b="1" lang="en-US" sz="1200" spc="-1" strike="noStrike">
                <a:solidFill>
                  <a:schemeClr val="dk2">
                    <a:lumMod val="50000"/>
                    <a:lumOff val="50000"/>
                  </a:schemeClr>
                </a:solidFill>
                <a:latin typeface="Consolas"/>
                <a:ea typeface="MS PGothic"/>
              </a:rPr>
              <a:t>~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$ twine upload dist/*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0D3AF9-8C59-421F-A08B-1BE4DA672AA3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7" dur="indefinite" restart="never" nodeType="tmRoot">
          <p:childTnLst>
            <p:seq>
              <p:cTn id="408" dur="indefinite" nodeType="mainSeq">
                <p:childTnLst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4" fill="hold">
                      <p:stCondLst>
                        <p:cond delay="indefinite"/>
                      </p:stCondLst>
                      <p:childTnLst>
                        <p:par>
                          <p:cTn id="415" fill="hold">
                            <p:stCondLst>
                              <p:cond delay="0"/>
                            </p:stCondLst>
                            <p:childTnLst>
                              <p:par>
                                <p:cTn id="4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8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3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4" fill="hold">
                      <p:stCondLst>
                        <p:cond delay="indefinite"/>
                      </p:stCondLst>
                      <p:childTnLst>
                        <p:par>
                          <p:cTn id="425" fill="hold">
                            <p:stCondLst>
                              <p:cond delay="0"/>
                            </p:stCondLst>
                            <p:childTnLst>
                              <p:par>
                                <p:cTn id="4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8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Advantage">
      <a:majorFont>
        <a:latin typeface="Rockwell" pitchFamily="0" charset="1"/>
        <a:ea typeface=""/>
        <a:cs typeface=""/>
      </a:majorFont>
      <a:minorFont>
        <a:latin typeface="Rockwel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100000"/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6000000" scaled="1"/>
          <a:tileRect l="0" t="0" r="0" b="0"/>
        </a:gradFill>
        <a:gradFill>
          <a:gsLst>
            <a:gs pos="0">
              <a:schemeClr val="phClr">
                <a:shade val="40000"/>
                <a:lumMod val="100000"/>
              </a:schemeClr>
            </a:gs>
            <a:gs pos="100000">
              <a:schemeClr val="phClr">
                <a:tint val="70000"/>
                <a:shade val="100000"/>
                <a:lumMod val="100000"/>
              </a:schemeClr>
            </a:gs>
          </a:gsLst>
          <a:lin ang="5400000" scaled="1"/>
          <a:tileRect l="0" t="0" r="0" b="0"/>
        </a:gradFill>
      </a:fillStyleLst>
      <a:lnStyleLst>
        <a:ln w="12700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46775</TotalTime>
  <Application>LibreOffice/24.2.7.2$Linux_X86_64 LibreOffice_project/420$Build-2</Application>
  <AppVersion>15.0000</AppVersion>
  <Words>673</Words>
  <Paragraphs>128</Paragraphs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2026-06-21T20:48:29Z</dcterms:modified>
  <cp:revision>911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On-screen Show (16:9)</vt:lpwstr>
  </property>
  <property fmtid="{D5CDD505-2E9C-101B-9397-08002B2CF9AE}" pid="4" name="Slides">
    <vt:i4>6</vt:i4>
  </property>
</Properties>
</file>
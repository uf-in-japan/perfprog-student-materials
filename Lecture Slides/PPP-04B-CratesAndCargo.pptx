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B5A2881-9602-4F15-9E9F-5F85721EEE2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5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A2F55D-DD15-4B9F-81E4-0A9FA50250A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6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B3562E-AEFC-433B-A72D-86E97134211C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2A0389-3C63-47B5-A0C0-716BAF69885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A689BB-23DD-4386-9043-CE0A106690C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A03365A-3F12-40BD-9462-5D7B0ACB93D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dist="25560" dir="5400000" blurRad="633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52FB43-E390-4040-9161-327298EC9BCD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72080" cy="807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lt1"/>
                </a:solidFill>
                <a:latin typeface="Arial"/>
                <a:ea typeface="MS PGothic"/>
              </a:rPr>
              <a:t>Cargo: Packing Delivery &amp; Receipt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71200" y="2366280"/>
            <a:ext cx="7038000" cy="65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Finding, Using, Building, and Shipping Crates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145440" y="1254240"/>
            <a:ext cx="8852760" cy="43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 packages are indexed &amp; organized as </a:t>
            </a:r>
            <a:r>
              <a:rPr b="1" lang="en-US" sz="2000" spc="-1" strike="noStrike">
                <a:solidFill>
                  <a:srgbClr val="00ff00"/>
                </a:solidFill>
                <a:latin typeface="Cambria"/>
                <a:ea typeface="MS PGothic"/>
              </a:rPr>
              <a:t>crates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delivered via </a:t>
            </a:r>
            <a:r>
              <a:rPr b="1" lang="en-US" sz="2000" spc="-1" strike="noStrike">
                <a:solidFill>
                  <a:srgbClr val="ffbf00"/>
                </a:solidFill>
                <a:latin typeface="Consolas"/>
                <a:ea typeface="MS PGothic"/>
              </a:rPr>
              <a:t>cargo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289800" y="554040"/>
            <a:ext cx="8563320" cy="680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Rust &amp; Cargo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Content Placeholder 1"/>
          <p:cNvSpPr/>
          <p:nvPr/>
        </p:nvSpPr>
        <p:spPr>
          <a:xfrm>
            <a:off x="227880" y="4095720"/>
            <a:ext cx="8687160" cy="10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Cargo can search for crates and install executable crates directly –</a:t>
            </a:r>
            <a:br>
              <a:rPr sz="2000"/>
            </a:b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but libraries must be installed by adding them to specific projects.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"/>
          <p:cNvSpPr/>
          <p:nvPr/>
        </p:nvSpPr>
        <p:spPr>
          <a:xfrm>
            <a:off x="145440" y="1766160"/>
            <a:ext cx="4946760" cy="222732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install pancakes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Updating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crates.io index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Downloaded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pancakes v8.13.21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Downloaded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1 crate (217.1KiB) in 0.13s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Installing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pancakes v8.13.21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Updating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crates.io index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Locking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2 packages to latest compatible versions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Adding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eggs v0.6.1 (available: v0.7.0)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Downloaded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batter v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2.8.2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Compiling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batter v2.8.2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Finished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`release` profile [optimized] target(s) in 9.06s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Installing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/home/jjb/.cargo/bin/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flapjs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Installed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package `pancakes v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8.13.21` (executable `flapjs`)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3" name="TextBox 6"/>
          <p:cNvSpPr/>
          <p:nvPr/>
        </p:nvSpPr>
        <p:spPr>
          <a:xfrm>
            <a:off x="2505600" y="1909080"/>
            <a:ext cx="6506280" cy="161676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search bacon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Updating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registry `https://github.com/rust-lang/crates.io-index`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Fetch [==========&gt;                                          ]  20.13%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bacon = 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1.1.2"                   # Goes well with butter, pancakes, and syrup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... and 0 crates more (use --limit N to see more)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install bacon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error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there is nothing to install in `bacon v1.1.2`, because it has no binaries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`cargo install` is only for installing programs, and can't be used with libraries.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To use a library crate, add it as a dependency to a Cargo project with `cargo add`.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4" name="TextBox 1"/>
          <p:cNvSpPr/>
          <p:nvPr/>
        </p:nvSpPr>
        <p:spPr>
          <a:xfrm>
            <a:off x="3036960" y="2256120"/>
            <a:ext cx="5503680" cy="197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7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Fetch [=====================================================] 100.00%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FCB4FD7-CA03-41DD-93C9-062B8D5F0CF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620280" y="1258920"/>
            <a:ext cx="7880040" cy="486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Crates follow a common structure for readability and function.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89800" y="572760"/>
            <a:ext cx="8563320" cy="632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Layout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for a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Create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6"/>
          <p:cNvSpPr/>
          <p:nvPr/>
        </p:nvSpPr>
        <p:spPr>
          <a:xfrm>
            <a:off x="439560" y="1749960"/>
            <a:ext cx="2975760" cy="3056040"/>
          </a:xfrm>
          <a:prstGeom prst="rect">
            <a:avLst/>
          </a:prstGeom>
          <a:solidFill>
            <a:srgbClr val="002060"/>
          </a:solidFill>
          <a:ln w="25560">
            <a:solidFill>
              <a:schemeClr val="l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cxnSp>
        <p:nvCxnSpPr>
          <p:cNvPr id="28" name="Connector: Elbow 9"/>
          <p:cNvCxnSpPr>
            <a:endCxn id="29" idx="1"/>
          </p:cNvCxnSpPr>
          <p:nvPr/>
        </p:nvCxnSpPr>
        <p:spPr>
          <a:xfrm flipH="1" flipV="1" rot="10800000">
            <a:off x="998280" y="2115000"/>
            <a:ext cx="198360" cy="919440"/>
          </a:xfrm>
          <a:prstGeom prst="bentConnector3">
            <a:avLst>
              <a:gd name="adj1" fmla="val -2545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29" name="TextBox 10"/>
          <p:cNvSpPr/>
          <p:nvPr/>
        </p:nvSpPr>
        <p:spPr>
          <a:xfrm>
            <a:off x="1196280" y="2882520"/>
            <a:ext cx="53244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src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30" name="Connector: Elbow 11"/>
          <p:cNvCxnSpPr>
            <a:endCxn id="31" idx="1"/>
          </p:cNvCxnSpPr>
          <p:nvPr/>
        </p:nvCxnSpPr>
        <p:spPr>
          <a:xfrm flipH="1" flipV="1" rot="10800000">
            <a:off x="998280" y="2115000"/>
            <a:ext cx="198360" cy="2460960"/>
          </a:xfrm>
          <a:prstGeom prst="bentConnector3">
            <a:avLst>
              <a:gd name="adj1" fmla="val -2545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cxnSp>
        <p:nvCxnSpPr>
          <p:cNvPr id="32" name="Connector: Elbow 12"/>
          <p:cNvCxnSpPr>
            <a:stCxn id="29" idx="2"/>
            <a:endCxn id="33" idx="1"/>
          </p:cNvCxnSpPr>
          <p:nvPr/>
        </p:nvCxnSpPr>
        <p:spPr>
          <a:xfrm flipH="1" rot="16200000">
            <a:off x="1468800" y="3179520"/>
            <a:ext cx="196920" cy="210240"/>
          </a:xfrm>
          <a:prstGeom prst="bentConnector2">
            <a:avLst/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33" name="TextBox 13"/>
          <p:cNvSpPr/>
          <p:nvPr/>
        </p:nvSpPr>
        <p:spPr>
          <a:xfrm>
            <a:off x="1672200" y="3231000"/>
            <a:ext cx="97992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main.rs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4" name="TextBox 14"/>
          <p:cNvSpPr/>
          <p:nvPr/>
        </p:nvSpPr>
        <p:spPr>
          <a:xfrm>
            <a:off x="1672200" y="3587760"/>
            <a:ext cx="115956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my_mod.rs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5" name="TextBox 15"/>
          <p:cNvSpPr/>
          <p:nvPr/>
        </p:nvSpPr>
        <p:spPr>
          <a:xfrm>
            <a:off x="1196280" y="2167920"/>
            <a:ext cx="128160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Cargo.toml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36" name="Connector: Elbow 16"/>
          <p:cNvCxnSpPr>
            <a:endCxn id="35" idx="1"/>
          </p:cNvCxnSpPr>
          <p:nvPr/>
        </p:nvCxnSpPr>
        <p:spPr>
          <a:xfrm flipH="1" flipV="1" rot="10800000">
            <a:off x="998280" y="2115360"/>
            <a:ext cx="198360" cy="204840"/>
          </a:xfrm>
          <a:prstGeom prst="bentConnector3">
            <a:avLst>
              <a:gd name="adj1" fmla="val -2545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cxnSp>
        <p:nvCxnSpPr>
          <p:cNvPr id="37" name="Connector: Elbow 17"/>
          <p:cNvCxnSpPr>
            <a:stCxn id="29" idx="2"/>
            <a:endCxn id="34" idx="1"/>
          </p:cNvCxnSpPr>
          <p:nvPr/>
        </p:nvCxnSpPr>
        <p:spPr>
          <a:xfrm flipH="1" rot="16200000">
            <a:off x="1290600" y="3357720"/>
            <a:ext cx="553680" cy="210240"/>
          </a:xfrm>
          <a:prstGeom prst="bentConnector2">
            <a:avLst/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31" name="TextBox 30"/>
          <p:cNvSpPr/>
          <p:nvPr/>
        </p:nvSpPr>
        <p:spPr>
          <a:xfrm>
            <a:off x="1196280" y="4424040"/>
            <a:ext cx="64152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docs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8" name="TextBox 3"/>
          <p:cNvSpPr/>
          <p:nvPr/>
        </p:nvSpPr>
        <p:spPr>
          <a:xfrm>
            <a:off x="1196280" y="2523240"/>
            <a:ext cx="128160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README.md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39" name="Connector: Elbow 1"/>
          <p:cNvCxnSpPr>
            <a:endCxn id="38" idx="1"/>
          </p:cNvCxnSpPr>
          <p:nvPr/>
        </p:nvCxnSpPr>
        <p:spPr>
          <a:xfrm flipH="1" flipV="1" rot="10800000">
            <a:off x="998280" y="2115000"/>
            <a:ext cx="198360" cy="560160"/>
          </a:xfrm>
          <a:prstGeom prst="bentConnector3">
            <a:avLst>
              <a:gd name="adj1" fmla="val -2545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cxnSp>
        <p:nvCxnSpPr>
          <p:cNvPr id="40" name="Connector: Elbow 2"/>
          <p:cNvCxnSpPr>
            <a:endCxn id="41" idx="1"/>
          </p:cNvCxnSpPr>
          <p:nvPr/>
        </p:nvCxnSpPr>
        <p:spPr>
          <a:xfrm flipH="1" rot="16200000">
            <a:off x="1303920" y="3729600"/>
            <a:ext cx="522360" cy="211680"/>
          </a:xfrm>
          <a:prstGeom prst="bentConnector3">
            <a:avLst>
              <a:gd name="adj1" fmla="val 0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41" name="TextBox 5"/>
          <p:cNvSpPr/>
          <p:nvPr/>
        </p:nvSpPr>
        <p:spPr>
          <a:xfrm>
            <a:off x="1670760" y="3944520"/>
            <a:ext cx="94932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my_mod/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cxnSp>
        <p:nvCxnSpPr>
          <p:cNvPr id="42" name="Connector: Elbow 3"/>
          <p:cNvCxnSpPr>
            <a:endCxn id="43" idx="1"/>
          </p:cNvCxnSpPr>
          <p:nvPr/>
        </p:nvCxnSpPr>
        <p:spPr>
          <a:xfrm flipH="1" rot="16200000">
            <a:off x="1949400" y="4232520"/>
            <a:ext cx="169920" cy="269640"/>
          </a:xfrm>
          <a:prstGeom prst="bentConnector3">
            <a:avLst>
              <a:gd name="adj1" fmla="val 0"/>
            </a:avLst>
          </a:prstGeom>
          <a:ln w="12600">
            <a:solidFill>
              <a:srgbClr val="00ff00"/>
            </a:solidFill>
            <a:round/>
            <a:tailEnd len="med" type="triangle" w="med"/>
          </a:ln>
        </p:spPr>
      </p:cxnSp>
      <p:sp>
        <p:nvSpPr>
          <p:cNvPr id="43" name="TextBox 11"/>
          <p:cNvSpPr/>
          <p:nvPr/>
        </p:nvSpPr>
        <p:spPr>
          <a:xfrm>
            <a:off x="2168640" y="4300200"/>
            <a:ext cx="116892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stuffs.rs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4" name="TextBox 12"/>
          <p:cNvSpPr/>
          <p:nvPr/>
        </p:nvSpPr>
        <p:spPr>
          <a:xfrm>
            <a:off x="3546000" y="2048760"/>
            <a:ext cx="2385720" cy="118764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DejaVu Sans"/>
              </a:rPr>
              <a:t>[package]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name = "pickle_pancakes"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version = "0.1.0"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edition = "2024"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DejaVu Sans"/>
              </a:rPr>
              <a:t>[dependencies]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5" name="TextBox 16"/>
          <p:cNvSpPr/>
          <p:nvPr/>
        </p:nvSpPr>
        <p:spPr>
          <a:xfrm>
            <a:off x="6037920" y="2048760"/>
            <a:ext cx="2671560" cy="63900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Consolas"/>
                <a:ea typeface="DejaVu Sans"/>
              </a:rPr>
              <a:t>pub fn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DejaVu Sans"/>
              </a:rPr>
              <a:t>say_hi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() 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println!("Hi there!");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6" name="TextBox 17"/>
          <p:cNvSpPr/>
          <p:nvPr/>
        </p:nvSpPr>
        <p:spPr>
          <a:xfrm>
            <a:off x="3545280" y="1744920"/>
            <a:ext cx="238644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Cargo.toml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7" name="TextBox 18"/>
          <p:cNvSpPr/>
          <p:nvPr/>
        </p:nvSpPr>
        <p:spPr>
          <a:xfrm>
            <a:off x="3547080" y="3879720"/>
            <a:ext cx="2382840" cy="27324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Consolas"/>
                <a:ea typeface="DejaVu Sans"/>
              </a:rPr>
              <a:t>pub mod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stuffs;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8" name="TextBox 19"/>
          <p:cNvSpPr/>
          <p:nvPr/>
        </p:nvSpPr>
        <p:spPr>
          <a:xfrm>
            <a:off x="3546000" y="3575880"/>
            <a:ext cx="238248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my_mod.rs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9" name="TextBox 20"/>
          <p:cNvSpPr/>
          <p:nvPr/>
        </p:nvSpPr>
        <p:spPr>
          <a:xfrm>
            <a:off x="6037920" y="1744920"/>
            <a:ext cx="267156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stuffs.rs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0" name="TextBox 21"/>
          <p:cNvSpPr/>
          <p:nvPr/>
        </p:nvSpPr>
        <p:spPr>
          <a:xfrm>
            <a:off x="6037920" y="3151080"/>
            <a:ext cx="2671560" cy="100476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Consolas"/>
                <a:ea typeface="DejaVu Sans"/>
              </a:rPr>
              <a:t>mod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my_mod;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bf00"/>
                </a:solidFill>
                <a:latin typeface="Consolas"/>
                <a:ea typeface="DejaVu Sans"/>
              </a:rPr>
              <a:t>fn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DejaVu Sans"/>
              </a:rPr>
              <a:t>main()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{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 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my_mod::stuffs::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DejaVu Sans"/>
              </a:rPr>
              <a:t>say_hi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1" name="TextBox 22"/>
          <p:cNvSpPr/>
          <p:nvPr/>
        </p:nvSpPr>
        <p:spPr>
          <a:xfrm>
            <a:off x="6037920" y="2847240"/>
            <a:ext cx="267192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main.rs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2" name="TextBox 23"/>
          <p:cNvSpPr/>
          <p:nvPr/>
        </p:nvSpPr>
        <p:spPr>
          <a:xfrm>
            <a:off x="516960" y="1807200"/>
            <a:ext cx="1800000" cy="3038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  <a:ea typeface="MS PGothic"/>
              </a:rPr>
              <a:t>pickle_pancakes</a:t>
            </a:r>
            <a:endParaRPr b="0" lang="en-US" sz="14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BD8202A-5134-4F58-AB89-488A64BC0B04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1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2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5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0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/>
          </p:nvPr>
        </p:nvSpPr>
        <p:spPr>
          <a:xfrm>
            <a:off x="390600" y="1118160"/>
            <a:ext cx="8362440" cy="434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Cargo is the primary toolbox for Rust projects.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289800" y="492120"/>
            <a:ext cx="8563320" cy="632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Creating &amp; Building Projects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394920" y="2024280"/>
            <a:ext cx="4524480" cy="70092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new pickle_pancakes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Creating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binary (application) `hello_cargo` package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note: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see more `Cargo.toml` keys and their definitions at https://doc.rust-lang.org/cargo/reference/manifest.html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4983840" y="2024280"/>
            <a:ext cx="3727080" cy="146340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cd pickle_pancakes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/pickle_pancakes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add bacon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Updating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crates.io index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Adding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bacon v1.1.2 to dependencies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Features: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+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butter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</a:t>
            </a:r>
            <a:r>
              <a:rPr b="0" lang="en-US" sz="1000" spc="-1" strike="noStrike">
                <a:solidFill>
                  <a:srgbClr val="ff4000"/>
                </a:solidFill>
                <a:latin typeface="Consolas"/>
                <a:ea typeface="MS PGothic"/>
              </a:rPr>
              <a:t>-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preserve_health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Updating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crates.io index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Locking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1 packages to latest Rust 1.96.0...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7" name="TextBox 7"/>
          <p:cNvSpPr/>
          <p:nvPr/>
        </p:nvSpPr>
        <p:spPr>
          <a:xfrm>
            <a:off x="6669720" y="3551760"/>
            <a:ext cx="2041200" cy="115884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[package]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 = "pickle_pancakes"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version = "0.1.0"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edition = "2024"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[dependencies]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Bacon = "1.1.2"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8" name="TextBox 24"/>
          <p:cNvSpPr/>
          <p:nvPr/>
        </p:nvSpPr>
        <p:spPr>
          <a:xfrm>
            <a:off x="406080" y="3474360"/>
            <a:ext cx="5521320" cy="1311480"/>
          </a:xfrm>
          <a:prstGeom prst="rect">
            <a:avLst/>
          </a:prstGeom>
          <a:solidFill>
            <a:srgbClr val="000000"/>
          </a:solidFill>
          <a:ln w="0">
            <a:solidFill>
              <a:schemeClr val="l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build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Compiling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bacon v1.1.2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Compiling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pickle_pancakes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v0.1.0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(/home/finn//pickle_pancackes)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Finished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`dev` profile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[unoptimized + debuginfo]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target(s) in 0.1s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0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cargo run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Finished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`dev` profile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[unoptimized + debuginfo]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target(s) in 0.1s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Running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`target/debug/pickle_pancakes`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Hi there!</a:t>
            </a:r>
            <a:endParaRPr b="0" lang="en-US" sz="1000" spc="-1" strike="noStrike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59" name="Content Placeholder 2"/>
          <p:cNvSpPr/>
          <p:nvPr/>
        </p:nvSpPr>
        <p:spPr>
          <a:xfrm>
            <a:off x="4756320" y="1656360"/>
            <a:ext cx="42411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…</a:t>
            </a: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and add dependency crates...</a:t>
            </a:r>
            <a:endParaRPr b="0" lang="en-US" sz="18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0" name="Content Placeholder 3"/>
          <p:cNvSpPr/>
          <p:nvPr/>
        </p:nvSpPr>
        <p:spPr>
          <a:xfrm>
            <a:off x="394920" y="1656360"/>
            <a:ext cx="451692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It’s can create project boilerplate...</a:t>
            </a:r>
            <a:endParaRPr b="0" lang="en-US" sz="18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1" name="Content Placeholder 4"/>
          <p:cNvSpPr/>
          <p:nvPr/>
        </p:nvSpPr>
        <p:spPr>
          <a:xfrm>
            <a:off x="406080" y="3111480"/>
            <a:ext cx="337932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… </a:t>
            </a: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and build and test:</a:t>
            </a:r>
            <a:endParaRPr b="0" lang="en-US" sz="18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2" name=""/>
          <p:cNvSpPr/>
          <p:nvPr/>
        </p:nvSpPr>
        <p:spPr>
          <a:xfrm>
            <a:off x="7590240" y="3448080"/>
            <a:ext cx="187920" cy="175320"/>
          </a:xfrm>
          <a:prstGeom prst="downArrow">
            <a:avLst>
              <a:gd name="adj1" fmla="val 46053"/>
              <a:gd name="adj2" fmla="val 49608"/>
            </a:avLst>
          </a:prstGeom>
          <a:solidFill>
            <a:srgbClr val="e8a202"/>
          </a:solidFill>
          <a:ln w="0">
            <a:solidFill>
              <a:srgbClr val="ffff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7A5E2D3-D5AF-4F83-939B-8D05ED47A4D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1" dur="indefinite" restart="never" nodeType="tmRoot">
          <p:childTnLst>
            <p:seq>
              <p:cTn id="282" dur="indefinite" nodeType="mainSeq">
                <p:childTnLst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0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3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8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3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6" dur="500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9" dur="500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4" dur="500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46859</TotalTime>
  <Application>LibreOffice/24.2.7.2$Linux_X86_64 LibreOffice_project/420$Build-2</Application>
  <AppVersion>15.0000</AppVersion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2026-06-22T00:00:47Z</dcterms:modified>
  <cp:revision>930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